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12192000"/>
  <p:embeddedFontLst>
    <p:embeddedFont>
      <p:font typeface="Roboto Slab"/>
      <p:regular r:id="rId11"/>
      <p:bold r:id="rId12"/>
    </p:embeddedFont>
    <p:embeddedFont>
      <p:font typeface="Montserrat SemiBold"/>
      <p:regular r:id="rId13"/>
      <p:bold r:id="rId14"/>
      <p:italic r:id="rId15"/>
      <p:boldItalic r:id="rId16"/>
    </p:embeddedFont>
    <p:embeddedFont>
      <p:font typeface="Montserrat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11" Type="http://schemas.openxmlformats.org/officeDocument/2006/relationships/font" Target="fonts/RobotoSlab-regular.fntdata"/><Relationship Id="rId10" Type="http://schemas.openxmlformats.org/officeDocument/2006/relationships/slide" Target="slides/slide6.xml"/><Relationship Id="rId13" Type="http://schemas.openxmlformats.org/officeDocument/2006/relationships/font" Target="fonts/MontserratSemiBold-regular.fntdata"/><Relationship Id="rId12" Type="http://schemas.openxmlformats.org/officeDocument/2006/relationships/font" Target="fonts/RobotoSlab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SemiBold-italic.fntdata"/><Relationship Id="rId14" Type="http://schemas.openxmlformats.org/officeDocument/2006/relationships/font" Target="fonts/MontserratSemiBold-bold.fntdata"/><Relationship Id="rId17" Type="http://schemas.openxmlformats.org/officeDocument/2006/relationships/font" Target="fonts/Montserrat-regular.fntdata"/><Relationship Id="rId16" Type="http://schemas.openxmlformats.org/officeDocument/2006/relationships/font" Target="fonts/MontserratSemiBold-boldItalic.fntdata"/><Relationship Id="rId5" Type="http://schemas.openxmlformats.org/officeDocument/2006/relationships/slide" Target="slides/slide1.xml"/><Relationship Id="rId19" Type="http://schemas.openxmlformats.org/officeDocument/2006/relationships/font" Target="fonts/Montserrat-italic.fntdata"/><Relationship Id="rId6" Type="http://schemas.openxmlformats.org/officeDocument/2006/relationships/slide" Target="slides/slide2.xml"/><Relationship Id="rId18" Type="http://schemas.openxmlformats.org/officeDocument/2006/relationships/font" Target="fonts/Montserrat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w6d4outro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w6d4outro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w6d4outro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4.png"/><Relationship Id="rId7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572000" y="0"/>
            <a:ext cx="2609100" cy="6858000"/>
          </a:xfrm>
          <a:prstGeom prst="rect">
            <a:avLst/>
          </a:prstGeom>
          <a:solidFill>
            <a:srgbClr val="FFD700">
              <a:alpha val="3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/>
        </p:nvSpPr>
        <p:spPr>
          <a:xfrm>
            <a:off x="4730495" y="260604"/>
            <a:ext cx="2450700" cy="6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Week 6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4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" name="Google Shape;18;p3" title="07_wX_4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1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257174" y="56959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257174" y="246697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257174" y="46196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257174" y="13906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257174" y="354330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257174" y="3143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361950" y="57536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361950" y="252472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361950" y="46773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361950" y="14483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5: Agent Frameworks</a:t>
            </a:r>
            <a:endParaRPr i="0" sz="975" u="none" cap="none" strike="noStrike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361950" y="360104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361950" y="3720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4767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47675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47674" y="2781300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47675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</a:t>
            </a:r>
            <a:br>
              <a:rPr lang="en-US" sz="1125"/>
            </a:br>
            <a:r>
              <a:rPr lang="en-US" sz="1125"/>
              <a:t>Core</a:t>
            </a:r>
            <a:endParaRPr i="0" sz="1125" u="none" cap="none" strike="noStrike"/>
          </a:p>
        </p:txBody>
      </p:sp>
      <p:sp>
        <p:nvSpPr>
          <p:cNvPr id="40" name="Google Shape;40;p4"/>
          <p:cNvSpPr/>
          <p:nvPr/>
        </p:nvSpPr>
        <p:spPr>
          <a:xfrm>
            <a:off x="447674" y="4933950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447675" y="50077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47674" y="1704975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447675" y="17788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Google ADK</a:t>
            </a:r>
            <a:br>
              <a:rPr lang="en-US" sz="1125"/>
            </a:br>
            <a:r>
              <a:rPr lang="en-US" sz="1125"/>
              <a:t>and A2A</a:t>
            </a:r>
            <a:endParaRPr i="0" sz="1125" u="none" cap="none" strike="noStrike"/>
          </a:p>
        </p:txBody>
      </p:sp>
      <p:sp>
        <p:nvSpPr>
          <p:cNvPr id="44" name="Google Shape;44;p4"/>
          <p:cNvSpPr/>
          <p:nvPr/>
        </p:nvSpPr>
        <p:spPr>
          <a:xfrm>
            <a:off x="447674" y="3857625"/>
            <a:ext cx="1002979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44767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447674" y="628650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44767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562101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15621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562101" y="2781300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15621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LangGraph</a:t>
            </a:r>
            <a:endParaRPr i="0" sz="1125" u="none" cap="none" strike="noStrike"/>
          </a:p>
        </p:txBody>
      </p:sp>
      <p:sp>
        <p:nvSpPr>
          <p:cNvPr id="52" name="Google Shape;52;p4"/>
          <p:cNvSpPr/>
          <p:nvPr/>
        </p:nvSpPr>
        <p:spPr>
          <a:xfrm>
            <a:off x="1562101" y="493395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15621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1562101" y="1704975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1562100" y="17788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Strands and</a:t>
            </a:r>
            <a:br>
              <a:rPr lang="en-US" sz="1125"/>
            </a:br>
            <a:r>
              <a:rPr lang="en-US" sz="1125"/>
              <a:t>Pydantic AI</a:t>
            </a:r>
            <a:endParaRPr i="0" sz="1125" u="none" cap="none" strike="noStrike"/>
          </a:p>
        </p:txBody>
      </p:sp>
      <p:sp>
        <p:nvSpPr>
          <p:cNvPr id="56" name="Google Shape;56;p4"/>
          <p:cNvSpPr/>
          <p:nvPr/>
        </p:nvSpPr>
        <p:spPr>
          <a:xfrm>
            <a:off x="1562101" y="3857625"/>
            <a:ext cx="1002976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1562100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1562101" y="628650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15621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FFFFFF"/>
                </a:solidFill>
              </a:rPr>
              <a:t>Building</a:t>
            </a:r>
            <a:br>
              <a:rPr lang="en-US" sz="1125">
                <a:solidFill>
                  <a:srgbClr val="FFFFFF"/>
                </a:solidFill>
              </a:rPr>
            </a:br>
            <a:r>
              <a:rPr lang="en-US" sz="1125">
                <a:solidFill>
                  <a:srgbClr val="FFFFFF"/>
                </a:solidFill>
              </a:rPr>
              <a:t>MCP Server</a:t>
            </a:r>
            <a:endParaRPr i="0" sz="1125" u="none" cap="none" strike="noStrike">
              <a:solidFill>
                <a:srgbClr val="FFFFFF"/>
              </a:solidFill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267652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2676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2676524" y="2781300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2676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</a:t>
            </a:r>
            <a:br>
              <a:rPr lang="en-US" sz="1125"/>
            </a:br>
            <a:r>
              <a:rPr lang="en-US" sz="1125"/>
              <a:t>create_agent</a:t>
            </a:r>
            <a:endParaRPr i="0" sz="1125" u="none" cap="none" strike="noStrike"/>
          </a:p>
        </p:txBody>
      </p:sp>
      <p:sp>
        <p:nvSpPr>
          <p:cNvPr id="64" name="Google Shape;64;p4"/>
          <p:cNvSpPr/>
          <p:nvPr/>
        </p:nvSpPr>
        <p:spPr>
          <a:xfrm>
            <a:off x="2676524" y="4933950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2676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2676524" y="1704975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2676525" y="18550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MAF and</a:t>
            </a:r>
            <a:br>
              <a:rPr lang="en-US" sz="1125"/>
            </a:br>
            <a:r>
              <a:rPr lang="en-US" sz="1125"/>
              <a:t>Agno</a:t>
            </a:r>
            <a:endParaRPr i="0" sz="1125" u="none" cap="none" strike="noStrike"/>
          </a:p>
        </p:txBody>
      </p:sp>
      <p:sp>
        <p:nvSpPr>
          <p:cNvPr id="68" name="Google Shape;68;p4"/>
          <p:cNvSpPr/>
          <p:nvPr/>
        </p:nvSpPr>
        <p:spPr>
          <a:xfrm>
            <a:off x="2676524" y="3857625"/>
            <a:ext cx="1002979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2676525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2676524" y="628650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267652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FFFFFF"/>
                </a:solidFill>
              </a:rPr>
              <a:t>Context</a:t>
            </a:r>
            <a:br>
              <a:rPr lang="en-US" sz="1125">
                <a:solidFill>
                  <a:srgbClr val="FFFFFF"/>
                </a:solidFill>
              </a:rPr>
            </a:br>
            <a:r>
              <a:rPr lang="en-US" sz="1125">
                <a:solidFill>
                  <a:srgbClr val="FFFFFF"/>
                </a:solidFill>
              </a:rPr>
              <a:t>Engineering</a:t>
            </a:r>
            <a:br>
              <a:rPr lang="en-US" sz="1125">
                <a:solidFill>
                  <a:srgbClr val="FFFFFF"/>
                </a:solidFill>
              </a:rPr>
            </a:br>
            <a:r>
              <a:rPr lang="en-US" sz="1125">
                <a:solidFill>
                  <a:srgbClr val="FFFFFF"/>
                </a:solidFill>
              </a:rPr>
              <a:t>with MCP</a:t>
            </a:r>
            <a:endParaRPr i="0" sz="1125" u="none" cap="none" strike="noStrike">
              <a:solidFill>
                <a:srgbClr val="FFFFFF"/>
              </a:solidFill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381952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3819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3819524" y="2781300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3819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Deep Agents</a:t>
            </a:r>
            <a:endParaRPr i="0" sz="1125" u="none" cap="none" strike="noStrike"/>
          </a:p>
        </p:txBody>
      </p:sp>
      <p:sp>
        <p:nvSpPr>
          <p:cNvPr id="76" name="Google Shape;76;p4"/>
          <p:cNvSpPr/>
          <p:nvPr/>
        </p:nvSpPr>
        <p:spPr>
          <a:xfrm>
            <a:off x="3819524" y="4933950"/>
            <a:ext cx="1002979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3819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3819524" y="1704975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3819525" y="18550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Mastra</a:t>
            </a:r>
            <a:endParaRPr i="0" sz="1125" u="none" cap="none" strike="noStrike"/>
          </a:p>
        </p:txBody>
      </p:sp>
      <p:sp>
        <p:nvSpPr>
          <p:cNvPr id="80" name="Google Shape;80;p4"/>
          <p:cNvSpPr/>
          <p:nvPr/>
        </p:nvSpPr>
        <p:spPr>
          <a:xfrm>
            <a:off x="3819524" y="3857625"/>
            <a:ext cx="1002979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381952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3819524" y="628650"/>
            <a:ext cx="1002979" cy="610230"/>
          </a:xfrm>
          <a:prstGeom prst="rect">
            <a:avLst/>
          </a:prstGeom>
          <a:solidFill>
            <a:srgbClr val="FFD700">
              <a:alpha val="34902"/>
            </a:srgbClr>
          </a:solidFill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3819525" y="7786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4953000" y="6010275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49530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4953000" y="278130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49530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Project 6:</a:t>
            </a:r>
            <a:br>
              <a:rPr lang="en-US" sz="1125"/>
            </a:br>
            <a:r>
              <a:rPr lang="en-US" sz="1125"/>
              <a:t>Sidekick</a:t>
            </a:r>
            <a:endParaRPr i="0" sz="1125" u="none" cap="none" strike="noStrike"/>
          </a:p>
        </p:txBody>
      </p:sp>
      <p:sp>
        <p:nvSpPr>
          <p:cNvPr id="88" name="Google Shape;88;p4"/>
          <p:cNvSpPr/>
          <p:nvPr/>
        </p:nvSpPr>
        <p:spPr>
          <a:xfrm>
            <a:off x="4953000" y="493395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4953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4953000" y="1704975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4953000" y="17788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Project 7:</a:t>
            </a:r>
            <a:br>
              <a:rPr lang="en-US" sz="1125"/>
            </a:br>
            <a:r>
              <a:rPr lang="en-US" sz="1125"/>
              <a:t>Agent Loop</a:t>
            </a:r>
            <a:endParaRPr i="0" sz="1125" u="none" cap="none" strike="noStrike"/>
          </a:p>
        </p:txBody>
      </p:sp>
      <p:sp>
        <p:nvSpPr>
          <p:cNvPr id="92" name="Google Shape;92;p4"/>
          <p:cNvSpPr/>
          <p:nvPr/>
        </p:nvSpPr>
        <p:spPr>
          <a:xfrm>
            <a:off x="4953000" y="3857625"/>
            <a:ext cx="1002976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4953000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4953000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49530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"/>
          <p:cNvSpPr/>
          <p:nvPr/>
        </p:nvSpPr>
        <p:spPr>
          <a:xfrm>
            <a:off x="800100" y="586160"/>
            <a:ext cx="10000506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CAPSTONE PROJECT!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800100" y="1090985"/>
            <a:ext cx="10000506" cy="311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Autonomous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3" name="Google Shape;10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750" y="1743075"/>
            <a:ext cx="7106680" cy="47377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/>
          <p:nvPr/>
        </p:nvSpPr>
        <p:spPr>
          <a:xfrm>
            <a:off x="1924050" y="3113559"/>
            <a:ext cx="4878736" cy="325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6</a:t>
            </a:r>
            <a:r>
              <a:rPr b="0" i="0" lang="en-US" sz="1800" u="none" cap="none" strike="noStrike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 MCP servers with 17 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1924050" y="3980334"/>
            <a:ext cx="4575721" cy="325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Agent interactions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1924050" y="4837584"/>
            <a:ext cx="4575721" cy="325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Autonomous </a:t>
            </a:r>
            <a:r>
              <a:rPr lang="en-US" sz="1800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and</a:t>
            </a:r>
            <a:r>
              <a:rPr b="0" i="0" lang="en-US" sz="1800" u="none" cap="none" strike="noStrike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 with evaluations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1924050" y="5694834"/>
            <a:ext cx="4575721" cy="325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Do not use for trading decisions!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3" name="Google Shape;113;p6"/>
          <p:cNvGrpSpPr/>
          <p:nvPr/>
        </p:nvGrpSpPr>
        <p:grpSpPr>
          <a:xfrm>
            <a:off x="939702" y="2150507"/>
            <a:ext cx="5560069" cy="476250"/>
            <a:chOff x="939702" y="2150507"/>
            <a:chExt cx="5560069" cy="476250"/>
          </a:xfrm>
        </p:grpSpPr>
        <p:sp>
          <p:nvSpPr>
            <p:cNvPr id="114" name="Google Shape;114;p6"/>
            <p:cNvSpPr/>
            <p:nvPr/>
          </p:nvSpPr>
          <p:spPr>
            <a:xfrm>
              <a:off x="1924050" y="2256309"/>
              <a:ext cx="4575721" cy="3250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Commercial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-4a61ce5e.png" id="115" name="Google Shape;115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39702" y="2150507"/>
              <a:ext cx="523875" cy="4762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3f0c1022.png" id="116" name="Google Shape;11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5284" y="2934593"/>
            <a:ext cx="676275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7743a522.png" id="117" name="Google Shape;11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0171" y="3789461"/>
            <a:ext cx="6477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-6b28105e.png" id="118" name="Google Shape;118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0164" y="4664867"/>
            <a:ext cx="6477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-3b78f3de.png" id="119" name="Google Shape;119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4816" y="5534918"/>
            <a:ext cx="561975" cy="561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6"/>
          <p:cNvSpPr/>
          <p:nvPr/>
        </p:nvSpPr>
        <p:spPr>
          <a:xfrm>
            <a:off x="723900" y="586160"/>
            <a:ext cx="10000506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CAPSTONE PROJECT!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723900" y="1090985"/>
            <a:ext cx="10000506" cy="311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Autonomous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"/>
          <p:cNvSpPr/>
          <p:nvPr/>
        </p:nvSpPr>
        <p:spPr>
          <a:xfrm>
            <a:off x="257174" y="56959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257174" y="246697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257174" y="46196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257174" y="13906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257174" y="354330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257174" y="3143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361950" y="57536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361950" y="252472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361950" y="46773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361950" y="14483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5: Agent Frameworks</a:t>
            </a:r>
            <a:endParaRPr i="0" sz="975" u="none" cap="none" strike="noStrike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361950" y="360104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361950" y="3720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447674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447675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447674" y="2781300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447675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</a:t>
            </a:r>
            <a:br>
              <a:rPr lang="en-US" sz="1125"/>
            </a:br>
            <a:r>
              <a:rPr lang="en-US" sz="1125"/>
              <a:t>Core</a:t>
            </a:r>
            <a:endParaRPr i="0" sz="1125" u="none" cap="none" strike="noStrike"/>
          </a:p>
        </p:txBody>
      </p:sp>
      <p:sp>
        <p:nvSpPr>
          <p:cNvPr id="143" name="Google Shape;143;p7"/>
          <p:cNvSpPr/>
          <p:nvPr/>
        </p:nvSpPr>
        <p:spPr>
          <a:xfrm>
            <a:off x="447674" y="4933950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447675" y="50077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447674" y="1704975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447675" y="17788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Google ADK</a:t>
            </a:r>
            <a:br>
              <a:rPr lang="en-US" sz="1125"/>
            </a:br>
            <a:r>
              <a:rPr lang="en-US" sz="1125"/>
              <a:t>and A2A</a:t>
            </a:r>
            <a:endParaRPr i="0" sz="1125" u="none" cap="none" strike="noStrike"/>
          </a:p>
        </p:txBody>
      </p:sp>
      <p:sp>
        <p:nvSpPr>
          <p:cNvPr id="147" name="Google Shape;147;p7"/>
          <p:cNvSpPr/>
          <p:nvPr/>
        </p:nvSpPr>
        <p:spPr>
          <a:xfrm>
            <a:off x="447674" y="3857625"/>
            <a:ext cx="1002976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44767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447674" y="628650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44767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1562097" y="6010275"/>
            <a:ext cx="1002982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15621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1562097" y="2781300"/>
            <a:ext cx="1002982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15621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LangGraph</a:t>
            </a:r>
            <a:endParaRPr i="0" sz="1125" u="none" cap="none" strike="noStrike"/>
          </a:p>
        </p:txBody>
      </p:sp>
      <p:sp>
        <p:nvSpPr>
          <p:cNvPr id="155" name="Google Shape;155;p7"/>
          <p:cNvSpPr/>
          <p:nvPr/>
        </p:nvSpPr>
        <p:spPr>
          <a:xfrm>
            <a:off x="1562097" y="4933950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15621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1562097" y="1704975"/>
            <a:ext cx="1002982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1562100" y="17788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Strands and</a:t>
            </a:r>
            <a:br>
              <a:rPr lang="en-US" sz="1125"/>
            </a:br>
            <a:r>
              <a:rPr lang="en-US" sz="1125"/>
              <a:t>Pydantic AI</a:t>
            </a:r>
            <a:endParaRPr i="0" sz="1125" u="none" cap="none" strike="noStrike"/>
          </a:p>
        </p:txBody>
      </p:sp>
      <p:sp>
        <p:nvSpPr>
          <p:cNvPr id="159" name="Google Shape;159;p7"/>
          <p:cNvSpPr/>
          <p:nvPr/>
        </p:nvSpPr>
        <p:spPr>
          <a:xfrm>
            <a:off x="1562097" y="3857625"/>
            <a:ext cx="1002982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1562100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1562097" y="628650"/>
            <a:ext cx="1002982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15621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FFFFFF"/>
                </a:solidFill>
              </a:rPr>
              <a:t>Building</a:t>
            </a:r>
            <a:br>
              <a:rPr lang="en-US" sz="1125">
                <a:solidFill>
                  <a:srgbClr val="FFFFFF"/>
                </a:solidFill>
              </a:rPr>
            </a:br>
            <a:r>
              <a:rPr lang="en-US" sz="1125">
                <a:solidFill>
                  <a:srgbClr val="FFFFFF"/>
                </a:solidFill>
              </a:rPr>
              <a:t>MCP Server</a:t>
            </a:r>
            <a:endParaRPr i="0" sz="1125" u="none" cap="none" strike="noStrike">
              <a:solidFill>
                <a:srgbClr val="FFFFFF"/>
              </a:solidFill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2676528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2676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2676528" y="2781300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2676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</a:t>
            </a:r>
            <a:br>
              <a:rPr lang="en-US" sz="1125"/>
            </a:br>
            <a:r>
              <a:rPr lang="en-US" sz="1125"/>
              <a:t>create_agent</a:t>
            </a:r>
            <a:endParaRPr i="0" sz="1125" u="none" cap="none" strike="noStrike"/>
          </a:p>
        </p:txBody>
      </p:sp>
      <p:sp>
        <p:nvSpPr>
          <p:cNvPr id="167" name="Google Shape;167;p7"/>
          <p:cNvSpPr/>
          <p:nvPr/>
        </p:nvSpPr>
        <p:spPr>
          <a:xfrm>
            <a:off x="2667000" y="4933950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2667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2676528" y="1704975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2676525" y="18550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MAF and</a:t>
            </a:r>
            <a:br>
              <a:rPr lang="en-US" sz="1125"/>
            </a:br>
            <a:r>
              <a:rPr lang="en-US" sz="1125"/>
              <a:t>Agno</a:t>
            </a:r>
            <a:endParaRPr i="0" sz="1125" u="none" cap="none" strike="noStrike"/>
          </a:p>
        </p:txBody>
      </p:sp>
      <p:sp>
        <p:nvSpPr>
          <p:cNvPr id="171" name="Google Shape;171;p7"/>
          <p:cNvSpPr/>
          <p:nvPr/>
        </p:nvSpPr>
        <p:spPr>
          <a:xfrm>
            <a:off x="2676528" y="3857625"/>
            <a:ext cx="1002976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2676525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2676528" y="628650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267652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FFFFFF"/>
                </a:solidFill>
              </a:rPr>
              <a:t>Context</a:t>
            </a:r>
            <a:br>
              <a:rPr lang="en-US" sz="1125">
                <a:solidFill>
                  <a:srgbClr val="FFFFFF"/>
                </a:solidFill>
              </a:rPr>
            </a:br>
            <a:r>
              <a:rPr lang="en-US" sz="1125">
                <a:solidFill>
                  <a:srgbClr val="FFFFFF"/>
                </a:solidFill>
              </a:rPr>
              <a:t>Engineering</a:t>
            </a:r>
            <a:br>
              <a:rPr lang="en-US" sz="1125">
                <a:solidFill>
                  <a:srgbClr val="FFFFFF"/>
                </a:solidFill>
              </a:rPr>
            </a:br>
            <a:r>
              <a:rPr lang="en-US" sz="1125">
                <a:solidFill>
                  <a:srgbClr val="FFFFFF"/>
                </a:solidFill>
              </a:rPr>
              <a:t>with MCP</a:t>
            </a:r>
            <a:endParaRPr i="0" sz="1125" u="none" cap="none" strike="noStrike">
              <a:solidFill>
                <a:srgbClr val="FFFFFF"/>
              </a:solidFill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3819528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3819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3819528" y="2781300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3819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Deep Agents</a:t>
            </a:r>
            <a:endParaRPr i="0" sz="1125" u="none" cap="none" strike="noStrike"/>
          </a:p>
        </p:txBody>
      </p:sp>
      <p:sp>
        <p:nvSpPr>
          <p:cNvPr id="179" name="Google Shape;179;p7"/>
          <p:cNvSpPr/>
          <p:nvPr/>
        </p:nvSpPr>
        <p:spPr>
          <a:xfrm>
            <a:off x="3819528" y="493395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3819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3819528" y="1704975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3819525" y="18550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Mastra</a:t>
            </a:r>
            <a:endParaRPr i="0" sz="1125" u="none" cap="none" strike="noStrike"/>
          </a:p>
        </p:txBody>
      </p:sp>
      <p:sp>
        <p:nvSpPr>
          <p:cNvPr id="183" name="Google Shape;183;p7"/>
          <p:cNvSpPr/>
          <p:nvPr/>
        </p:nvSpPr>
        <p:spPr>
          <a:xfrm>
            <a:off x="3819528" y="3857625"/>
            <a:ext cx="1002976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381952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3819528" y="62865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3819525" y="7786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4953000" y="6010275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49530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4953000" y="278130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49530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Project 6:</a:t>
            </a:r>
            <a:br>
              <a:rPr lang="en-US" sz="1125"/>
            </a:br>
            <a:r>
              <a:rPr lang="en-US" sz="1125"/>
              <a:t>Sidekick</a:t>
            </a:r>
            <a:endParaRPr i="0" sz="1125" u="none" cap="none" strike="noStrike"/>
          </a:p>
        </p:txBody>
      </p:sp>
      <p:sp>
        <p:nvSpPr>
          <p:cNvPr id="191" name="Google Shape;191;p7"/>
          <p:cNvSpPr/>
          <p:nvPr/>
        </p:nvSpPr>
        <p:spPr>
          <a:xfrm>
            <a:off x="4953000" y="493395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4953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4953000" y="1704975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4953000" y="17788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Project 7:</a:t>
            </a:r>
            <a:br>
              <a:rPr lang="en-US" sz="1125"/>
            </a:br>
            <a:r>
              <a:rPr lang="en-US" sz="1125"/>
              <a:t>Agent Loop</a:t>
            </a:r>
            <a:endParaRPr i="0" sz="1125" u="none" cap="none" strike="noStrike"/>
          </a:p>
        </p:txBody>
      </p:sp>
      <p:sp>
        <p:nvSpPr>
          <p:cNvPr id="195" name="Google Shape;195;p7"/>
          <p:cNvSpPr/>
          <p:nvPr/>
        </p:nvSpPr>
        <p:spPr>
          <a:xfrm>
            <a:off x="4953000" y="3857625"/>
            <a:ext cx="1002976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4953000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4953000" y="628650"/>
            <a:ext cx="1002976" cy="610230"/>
          </a:xfrm>
          <a:prstGeom prst="rect">
            <a:avLst/>
          </a:prstGeom>
          <a:solidFill>
            <a:srgbClr val="FFD700">
              <a:alpha val="34902"/>
            </a:srgbClr>
          </a:solidFill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49530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"/>
          <p:cNvSpPr/>
          <p:nvPr/>
        </p:nvSpPr>
        <p:spPr>
          <a:xfrm>
            <a:off x="4572000" y="0"/>
            <a:ext cx="2609100" cy="6858000"/>
          </a:xfrm>
          <a:prstGeom prst="rect">
            <a:avLst/>
          </a:prstGeom>
          <a:solidFill>
            <a:srgbClr val="FFD700">
              <a:alpha val="3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 txBox="1"/>
          <p:nvPr/>
        </p:nvSpPr>
        <p:spPr>
          <a:xfrm>
            <a:off x="4730495" y="260604"/>
            <a:ext cx="2450700" cy="6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97%</a:t>
            </a:r>
            <a:endParaRPr sz="65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Complete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6" name="Google Shape;206;p8" title="08_wX_4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1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