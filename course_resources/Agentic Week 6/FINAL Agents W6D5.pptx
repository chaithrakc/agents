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Roboto Slab"/>
      <p:regular r:id="rId20"/>
      <p:bold r:id="rId21"/>
    </p:embeddedFont>
    <p:embeddedFont>
      <p:font typeface="Montserrat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MontserratSemiBold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w6d5outro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w6d5outro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w6d5outro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1" Type="http://schemas.openxmlformats.org/officeDocument/2006/relationships/image" Target="../media/image13.png"/><Relationship Id="rId10" Type="http://schemas.openxmlformats.org/officeDocument/2006/relationships/image" Target="../media/image10.png"/><Relationship Id="rId12" Type="http://schemas.openxmlformats.org/officeDocument/2006/relationships/image" Target="../media/image15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6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 title="09_wX_5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52" name="Google Shape;52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562101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56" name="Google Shape;56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64" name="Google Shape;64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676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68" name="Google Shape;68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76" name="Google Shape;76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819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80" name="Google Shape;8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953000" y="17049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8001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Finishing the Capstone 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00100" y="1090985"/>
            <a:ext cx="10000506" cy="311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Autonomous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1743075"/>
            <a:ext cx="7106680" cy="4737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2038350" y="3218334"/>
            <a:ext cx="4575721" cy="6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Pick the framework that suits your</a:t>
            </a:r>
            <a:b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style and the skills of your 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038350" y="4227984"/>
            <a:ext cx="4780513" cy="6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My go-to is OpenAI Agents SDK + MCP,</a:t>
            </a:r>
            <a:b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but some prefer batteries included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6"/>
          <p:cNvGrpSpPr/>
          <p:nvPr/>
        </p:nvGrpSpPr>
        <p:grpSpPr>
          <a:xfrm>
            <a:off x="1001909" y="2280642"/>
            <a:ext cx="5612162" cy="654323"/>
            <a:chOff x="1001909" y="2280642"/>
            <a:chExt cx="5612162" cy="654323"/>
          </a:xfrm>
        </p:grpSpPr>
        <p:sp>
          <p:nvSpPr>
            <p:cNvPr id="112" name="Google Shape;112;p6"/>
            <p:cNvSpPr/>
            <p:nvPr/>
          </p:nvSpPr>
          <p:spPr>
            <a:xfrm>
              <a:off x="2038350" y="2284884"/>
              <a:ext cx="4575721" cy="6500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It's not the most important question</a:t>
              </a:r>
              <a:br>
                <a:rPr b="0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and it doesn't really matter!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64b9a862.png" id="113" name="Google Shape;113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01909" y="2280642"/>
              <a:ext cx="628650" cy="5143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59499462.png" id="114" name="Google Shape;1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2150" y="3289103"/>
            <a:ext cx="6953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693436de.png" id="115" name="Google Shape;1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3766" y="4227909"/>
            <a:ext cx="4762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7239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Which Framework to select?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7"/>
          <p:cNvGrpSpPr/>
          <p:nvPr/>
        </p:nvGrpSpPr>
        <p:grpSpPr>
          <a:xfrm>
            <a:off x="1133602" y="1380009"/>
            <a:ext cx="5454048" cy="325041"/>
            <a:chOff x="1133602" y="1380009"/>
            <a:chExt cx="5454048" cy="325041"/>
          </a:xfrm>
        </p:grpSpPr>
        <p:sp>
          <p:nvSpPr>
            <p:cNvPr id="123" name="Google Shape;123;p7"/>
            <p:cNvSpPr/>
            <p:nvPr/>
          </p:nvSpPr>
          <p:spPr>
            <a:xfrm>
              <a:off x="1695450" y="1380009"/>
              <a:ext cx="4892200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Start with the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problem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not the solution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b594d5e.png" id="124" name="Google Shape;12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3602" y="1430369"/>
              <a:ext cx="95250" cy="2381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7"/>
          <p:cNvGrpSpPr/>
          <p:nvPr/>
        </p:nvGrpSpPr>
        <p:grpSpPr>
          <a:xfrm>
            <a:off x="1113726" y="1923992"/>
            <a:ext cx="5157445" cy="325041"/>
            <a:chOff x="1113726" y="1923992"/>
            <a:chExt cx="5157445" cy="325041"/>
          </a:xfrm>
        </p:grpSpPr>
        <p:sp>
          <p:nvSpPr>
            <p:cNvPr id="126" name="Google Shape;126;p7"/>
            <p:cNvSpPr/>
            <p:nvPr/>
          </p:nvSpPr>
          <p:spPr>
            <a:xfrm>
              <a:off x="1695450" y="1923992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Have a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metric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to evaluate success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49683b62.png" id="127" name="Google Shape;127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13726" y="1965077"/>
              <a:ext cx="171450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" name="Google Shape;128;p7"/>
          <p:cNvGrpSpPr/>
          <p:nvPr/>
        </p:nvGrpSpPr>
        <p:grpSpPr>
          <a:xfrm>
            <a:off x="1093947" y="2467975"/>
            <a:ext cx="5491027" cy="325041"/>
            <a:chOff x="1093947" y="2467975"/>
            <a:chExt cx="5491027" cy="325041"/>
          </a:xfrm>
        </p:grpSpPr>
        <p:sp>
          <p:nvSpPr>
            <p:cNvPr id="129" name="Google Shape;129;p7"/>
            <p:cNvSpPr/>
            <p:nvPr/>
          </p:nvSpPr>
          <p:spPr>
            <a:xfrm>
              <a:off x="1695450" y="2467975"/>
              <a:ext cx="4889524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Favor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workflow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over autonomy initially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187b99e.png" id="130" name="Google Shape;130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93947" y="2472111"/>
              <a:ext cx="209550" cy="314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7"/>
          <p:cNvGrpSpPr/>
          <p:nvPr/>
        </p:nvGrpSpPr>
        <p:grpSpPr>
          <a:xfrm>
            <a:off x="1105775" y="3011959"/>
            <a:ext cx="5165396" cy="325041"/>
            <a:chOff x="1105775" y="3011959"/>
            <a:chExt cx="5165396" cy="325041"/>
          </a:xfrm>
        </p:grpSpPr>
        <p:sp>
          <p:nvSpPr>
            <p:cNvPr id="132" name="Google Shape;132;p7"/>
            <p:cNvSpPr/>
            <p:nvPr/>
          </p:nvSpPr>
          <p:spPr>
            <a:xfrm>
              <a:off x="1695450" y="3011959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Work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bottom up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not top down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55a80262.png" id="133" name="Google Shape;133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05775" y="3046419"/>
              <a:ext cx="190500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7"/>
          <p:cNvGrpSpPr/>
          <p:nvPr/>
        </p:nvGrpSpPr>
        <p:grpSpPr>
          <a:xfrm>
            <a:off x="1119633" y="3555942"/>
            <a:ext cx="5151538" cy="325041"/>
            <a:chOff x="1119633" y="3555942"/>
            <a:chExt cx="5151538" cy="325041"/>
          </a:xfrm>
        </p:grpSpPr>
        <p:sp>
          <p:nvSpPr>
            <p:cNvPr id="135" name="Google Shape;135;p7"/>
            <p:cNvSpPr/>
            <p:nvPr/>
          </p:nvSpPr>
          <p:spPr>
            <a:xfrm>
              <a:off x="1695450" y="3555942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Start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simple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then add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7eca7ea2.png" id="136" name="Google Shape;136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19633" y="3585103"/>
              <a:ext cx="1619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" name="Google Shape;137;p7"/>
          <p:cNvGrpSpPr/>
          <p:nvPr/>
        </p:nvGrpSpPr>
        <p:grpSpPr>
          <a:xfrm>
            <a:off x="1109750" y="4099925"/>
            <a:ext cx="6115644" cy="325041"/>
            <a:chOff x="1109750" y="4099925"/>
            <a:chExt cx="6115644" cy="325041"/>
          </a:xfrm>
        </p:grpSpPr>
        <p:sp>
          <p:nvSpPr>
            <p:cNvPr id="138" name="Google Shape;138;p7"/>
            <p:cNvSpPr/>
            <p:nvPr/>
          </p:nvSpPr>
          <p:spPr>
            <a:xfrm>
              <a:off x="1695450" y="4099925"/>
              <a:ext cx="5529944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Start with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large frontier models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then reduce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281e1d1e.png" id="139" name="Google Shape;139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09750" y="4123786"/>
              <a:ext cx="18097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7"/>
          <p:cNvGrpSpPr/>
          <p:nvPr/>
        </p:nvGrpSpPr>
        <p:grpSpPr>
          <a:xfrm>
            <a:off x="1121676" y="4643909"/>
            <a:ext cx="5149495" cy="325041"/>
            <a:chOff x="1121676" y="4643909"/>
            <a:chExt cx="5149495" cy="325041"/>
          </a:xfrm>
        </p:grpSpPr>
        <p:sp>
          <p:nvSpPr>
            <p:cNvPr id="141" name="Google Shape;141;p7"/>
            <p:cNvSpPr/>
            <p:nvPr/>
          </p:nvSpPr>
          <p:spPr>
            <a:xfrm>
              <a:off x="1695450" y="4643909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Think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context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rather than memory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6ab3e4e2.png" id="142" name="Google Shape;142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121676" y="4662470"/>
              <a:ext cx="171450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7"/>
          <p:cNvGrpSpPr/>
          <p:nvPr/>
        </p:nvGrpSpPr>
        <p:grpSpPr>
          <a:xfrm>
            <a:off x="1078459" y="5160365"/>
            <a:ext cx="5528990" cy="352568"/>
            <a:chOff x="1078459" y="5160365"/>
            <a:chExt cx="5528990" cy="352568"/>
          </a:xfrm>
        </p:grpSpPr>
        <p:sp>
          <p:nvSpPr>
            <p:cNvPr id="144" name="Google Shape;144;p7"/>
            <p:cNvSpPr/>
            <p:nvPr/>
          </p:nvSpPr>
          <p:spPr>
            <a:xfrm>
              <a:off x="1695450" y="5187892"/>
              <a:ext cx="4911999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Most problems are solved with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prompts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2f0d47e2.png" id="145" name="Google Shape;145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078459" y="5160365"/>
              <a:ext cx="238125" cy="3238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" name="Google Shape;146;p7"/>
          <p:cNvGrpSpPr/>
          <p:nvPr/>
        </p:nvGrpSpPr>
        <p:grpSpPr>
          <a:xfrm>
            <a:off x="1083624" y="5704212"/>
            <a:ext cx="5187547" cy="352704"/>
            <a:chOff x="1083624" y="5704212"/>
            <a:chExt cx="5187547" cy="352704"/>
          </a:xfrm>
        </p:grpSpPr>
        <p:sp>
          <p:nvSpPr>
            <p:cNvPr id="147" name="Google Shape;147;p7"/>
            <p:cNvSpPr/>
            <p:nvPr/>
          </p:nvSpPr>
          <p:spPr>
            <a:xfrm>
              <a:off x="1695450" y="5731875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Look at the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traces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b40859e.png" id="148" name="Google Shape;148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083624" y="5704212"/>
              <a:ext cx="228600" cy="314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" name="Google Shape;149;p7"/>
          <p:cNvGrpSpPr/>
          <p:nvPr/>
        </p:nvGrpSpPr>
        <p:grpSpPr>
          <a:xfrm>
            <a:off x="995852" y="6242969"/>
            <a:ext cx="5275319" cy="357931"/>
            <a:chOff x="995852" y="6242969"/>
            <a:chExt cx="5275319" cy="357931"/>
          </a:xfrm>
        </p:grpSpPr>
        <p:sp>
          <p:nvSpPr>
            <p:cNvPr id="150" name="Google Shape;150;p7"/>
            <p:cNvSpPr/>
            <p:nvPr/>
          </p:nvSpPr>
          <p:spPr>
            <a:xfrm>
              <a:off x="1695450" y="6275859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Be a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scientist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; no shortcut to R&amp;D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1cd83122.png" id="151" name="Google Shape;151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95852" y="6242969"/>
              <a:ext cx="428625" cy="314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p7"/>
          <p:cNvSpPr/>
          <p:nvPr/>
        </p:nvSpPr>
        <p:spPr>
          <a:xfrm>
            <a:off x="7239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What matters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628650" y="28340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journey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257180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2676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819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953000" y="3857625"/>
            <a:ext cx="1002982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257180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257180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447680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263" name="Google Shape;263;p12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271" name="Google Shape;271;p12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2676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279" name="Google Shape;279;p12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2676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3819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287" name="Google Shape;287;p12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3819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953000" y="278130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295" name="Google Shape;295;p12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953000" y="3857625"/>
            <a:ext cx="1002982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257180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257180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257180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447680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318" name="Google Shape;318;p13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47680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322" name="Google Shape;322;p13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328" name="Google Shape;328;p13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1562097" y="1704975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332" name="Google Shape;332;p13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2676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338" name="Google Shape;338;p13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2676528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342" name="Google Shape;342;p13"/>
          <p:cNvSpPr/>
          <p:nvPr/>
        </p:nvSpPr>
        <p:spPr>
          <a:xfrm>
            <a:off x="2676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819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348" name="Google Shape;348;p13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819528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352" name="Google Shape;352;p13"/>
          <p:cNvSpPr/>
          <p:nvPr/>
        </p:nvSpPr>
        <p:spPr>
          <a:xfrm>
            <a:off x="3819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953000" y="278130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358" name="Google Shape;358;p13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4953000" y="17049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362" name="Google Shape;362;p13"/>
          <p:cNvSpPr/>
          <p:nvPr/>
        </p:nvSpPr>
        <p:spPr>
          <a:xfrm>
            <a:off x="4953000" y="3857625"/>
            <a:ext cx="1002982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257180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257180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257180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257180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447680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385" name="Google Shape;385;p14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447680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389" name="Google Shape;389;p14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447680" y="628650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397" name="Google Shape;397;p14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1562097" y="1704975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401" name="Google Shape;401;p14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2676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409" name="Google Shape;409;p14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2676528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413" name="Google Shape;413;p14"/>
          <p:cNvSpPr/>
          <p:nvPr/>
        </p:nvSpPr>
        <p:spPr>
          <a:xfrm>
            <a:off x="2676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2676528" y="6286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3819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421" name="Google Shape;421;p14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3819528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425" name="Google Shape;425;p14"/>
          <p:cNvSpPr/>
          <p:nvPr/>
        </p:nvSpPr>
        <p:spPr>
          <a:xfrm>
            <a:off x="3819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3819528" y="6286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4953000" y="278130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433" name="Google Shape;433;p14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4953000" y="17049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437" name="Google Shape;437;p14"/>
          <p:cNvSpPr/>
          <p:nvPr/>
        </p:nvSpPr>
        <p:spPr>
          <a:xfrm>
            <a:off x="4953000" y="3857625"/>
            <a:ext cx="1002982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4953000" y="6286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6" name="Google Shape;4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25"/>
            <a:ext cx="685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5"/>
          <p:cNvSpPr/>
          <p:nvPr/>
        </p:nvSpPr>
        <p:spPr>
          <a:xfrm>
            <a:off x="2724150" y="542627"/>
            <a:ext cx="1265858" cy="1234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7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YOU</a:t>
            </a:r>
            <a:br>
              <a:rPr b="1" i="1" lang="en-US" sz="28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1" lang="en-US" sz="28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MADE</a:t>
            </a:r>
            <a:br>
              <a:rPr b="1" i="1" lang="en-US" sz="28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1" lang="en-US" sz="28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IT!!!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6"/>
          <p:cNvSpPr/>
          <p:nvPr/>
        </p:nvSpPr>
        <p:spPr>
          <a:xfrm>
            <a:off x="400050" y="52901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Final requests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847725" y="1303809"/>
            <a:ext cx="6088343" cy="6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Help me build out the trading simulator:</a:t>
            </a:r>
            <a:b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More MCP Servers, more Agents, more Autonomy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847725" y="2180109"/>
            <a:ext cx="4575721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Share your success on LinkedIn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847725" y="2656359"/>
            <a:ext cx="4956721" cy="6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And connect with me!</a:t>
            </a:r>
            <a:b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https://www.linkedin.com/in/eddonner/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7" name="Google Shape;4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495675"/>
            <a:ext cx="3067050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7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7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100%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5" name="Google Shape;465;p17" title="10_wX_5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