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6858000" cx="12192000"/>
  <p:notesSz cx="6858000" cy="12192000"/>
  <p:embeddedFontLst>
    <p:embeddedFont>
      <p:font typeface="Roboto Slab"/>
      <p:regular r:id="rId19"/>
      <p:bold r:id="rId20"/>
    </p:embeddedFont>
    <p:embeddedFont>
      <p:font typeface="Montserrat SemiBold"/>
      <p:regular r:id="rId21"/>
      <p:bold r:id="rId22"/>
      <p:italic r:id="rId23"/>
      <p:boldItalic r:id="rId24"/>
    </p:embeddedFont>
    <p:embeddedFont>
      <p:font typeface="Montserrat"/>
      <p:regular r:id="rId25"/>
      <p:bold r:id="rId26"/>
      <p:italic r:id="rId27"/>
      <p:boldItalic r:id="rId28"/>
    </p:embeddedFont>
    <p:embeddedFont>
      <p:font typeface="Roboto Mono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Slab-bold.fntdata"/><Relationship Id="rId22" Type="http://schemas.openxmlformats.org/officeDocument/2006/relationships/font" Target="fonts/MontserratSemiBold-bold.fntdata"/><Relationship Id="rId21" Type="http://schemas.openxmlformats.org/officeDocument/2006/relationships/font" Target="fonts/MontserratSemiBold-regular.fntdata"/><Relationship Id="rId24" Type="http://schemas.openxmlformats.org/officeDocument/2006/relationships/font" Target="fonts/MontserratSemiBold-boldItalic.fntdata"/><Relationship Id="rId23" Type="http://schemas.openxmlformats.org/officeDocument/2006/relationships/font" Target="fonts/MontserratSemiBold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Montserrat-bold.fntdata"/><Relationship Id="rId25" Type="http://schemas.openxmlformats.org/officeDocument/2006/relationships/font" Target="fonts/Montserrat-regular.fntdata"/><Relationship Id="rId28" Type="http://schemas.openxmlformats.org/officeDocument/2006/relationships/font" Target="fonts/Montserrat-boldItalic.fntdata"/><Relationship Id="rId27" Type="http://schemas.openxmlformats.org/officeDocument/2006/relationships/font" Target="fonts/Montserrat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RobotoMono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RobotoMono-italic.fntdata"/><Relationship Id="rId30" Type="http://schemas.openxmlformats.org/officeDocument/2006/relationships/font" Target="fonts/RobotoMono-bold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32" Type="http://schemas.openxmlformats.org/officeDocument/2006/relationships/font" Target="fonts/RobotoMono-bold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font" Target="fonts/RobotoSlab-regular.fntdata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" name="Google Shape;2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ee1018be13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g3ee1018be13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g3ee1018be13_0_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ee1018be13_0_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g3ee1018be13_0_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g3ee1018be13_0_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ee1018be13_0_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g3ee1018be13_0_5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g3ee1018be13_0_5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ee1018be13_0_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g3ee1018be13_0_9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g3ee1018be13_0_9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ee1018be13_0_1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g3ee1018be13_0_1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g3ee1018be13_0_13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ee1018be13_0_1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" name="Google Shape;283;g3ee1018be13_0_17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g3ee1018be13_0_17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ee1018be13_0_2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3ee1018be13_0_2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g3ee1018be13_0_2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ee1018be13_0_2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3ee1018be13_0_2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g3ee1018be13_0_23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3" name="Google Shape;36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7" name="Google Shape;37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w6d2outro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4" name="Google Shape;454;w6d2outro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w6d2outro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4572000" y="0"/>
            <a:ext cx="2609100" cy="6858000"/>
          </a:xfrm>
          <a:prstGeom prst="rect">
            <a:avLst/>
          </a:prstGeom>
          <a:solidFill>
            <a:srgbClr val="00BFFF">
              <a:alpha val="34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 txBox="1"/>
          <p:nvPr/>
        </p:nvSpPr>
        <p:spPr>
          <a:xfrm>
            <a:off x="4730495" y="260604"/>
            <a:ext cx="2450700" cy="6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AI Engineer Agentic Track</a:t>
            </a:r>
            <a:endParaRPr b="1"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Complete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Agent &amp; MCP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Course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Week 6</a:t>
            </a:r>
            <a:endParaRPr sz="2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Day 2</a:t>
            </a:r>
            <a:endParaRPr sz="2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" name="Google Shape;18;p3" title="03_wX_2-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572001" cy="6858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257174" y="5695950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4"/>
          <p:cNvSpPr/>
          <p:nvPr/>
        </p:nvSpPr>
        <p:spPr>
          <a:xfrm>
            <a:off x="257174" y="246697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4"/>
          <p:cNvSpPr/>
          <p:nvPr/>
        </p:nvSpPr>
        <p:spPr>
          <a:xfrm>
            <a:off x="257174" y="461962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/>
          <p:nvPr/>
        </p:nvSpPr>
        <p:spPr>
          <a:xfrm>
            <a:off x="257174" y="1390650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4"/>
          <p:cNvSpPr/>
          <p:nvPr/>
        </p:nvSpPr>
        <p:spPr>
          <a:xfrm>
            <a:off x="257174" y="3543300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4"/>
          <p:cNvSpPr/>
          <p:nvPr/>
        </p:nvSpPr>
        <p:spPr>
          <a:xfrm>
            <a:off x="257174" y="31432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361950" y="575369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1: Foundations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361950" y="252472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4: LangGraph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361950" y="467737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2: OpenAI Agents SDK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361950" y="144839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5: Agent Frameworks</a:t>
            </a:r>
            <a:endParaRPr i="0" sz="975" u="none" cap="none" strike="noStrike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361950" y="360104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3: CrewAI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361950" y="37207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6: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447674" y="6010275"/>
            <a:ext cx="1002979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447675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Make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Workflow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447674" y="2781300"/>
            <a:ext cx="100297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447675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LangChain</a:t>
            </a:r>
            <a:br>
              <a:rPr lang="en-US" sz="1125"/>
            </a:br>
            <a:r>
              <a:rPr lang="en-US" sz="1125"/>
              <a:t>Core</a:t>
            </a:r>
            <a:endParaRPr i="0" sz="1125" u="none" cap="none" strike="noStrike"/>
          </a:p>
        </p:txBody>
      </p:sp>
      <p:sp>
        <p:nvSpPr>
          <p:cNvPr id="40" name="Google Shape;40;p4"/>
          <p:cNvSpPr/>
          <p:nvPr/>
        </p:nvSpPr>
        <p:spPr>
          <a:xfrm>
            <a:off x="447674" y="4933950"/>
            <a:ext cx="100297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447675" y="50077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OpenAI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SDK 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447674" y="1704975"/>
            <a:ext cx="100297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447675" y="17788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Google ADK</a:t>
            </a:r>
            <a:br>
              <a:rPr lang="en-US" sz="1125"/>
            </a:br>
            <a:r>
              <a:rPr lang="en-US" sz="1125"/>
              <a:t>and A2A</a:t>
            </a:r>
            <a:endParaRPr i="0" sz="1125" u="none" cap="none" strike="noStrike"/>
          </a:p>
        </p:txBody>
      </p:sp>
      <p:sp>
        <p:nvSpPr>
          <p:cNvPr id="44" name="Google Shape;44;p4"/>
          <p:cNvSpPr/>
          <p:nvPr/>
        </p:nvSpPr>
        <p:spPr>
          <a:xfrm>
            <a:off x="447674" y="3857625"/>
            <a:ext cx="1002979" cy="610231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447675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Crew AI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447674" y="628650"/>
            <a:ext cx="1002979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447675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1562101" y="6010275"/>
            <a:ext cx="1002976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1562100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Agents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Patterns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1562101" y="2781300"/>
            <a:ext cx="1002976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1562100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LangGraph</a:t>
            </a:r>
            <a:endParaRPr i="0" sz="1125" u="none" cap="none" strike="noStrike"/>
          </a:p>
        </p:txBody>
      </p:sp>
      <p:sp>
        <p:nvSpPr>
          <p:cNvPr id="52" name="Google Shape;52;p4"/>
          <p:cNvSpPr/>
          <p:nvPr/>
        </p:nvSpPr>
        <p:spPr>
          <a:xfrm>
            <a:off x="1562101" y="4933950"/>
            <a:ext cx="1002976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15621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2: an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1562101" y="1704975"/>
            <a:ext cx="1002976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1562100" y="17788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Strands and</a:t>
            </a:r>
            <a:br>
              <a:rPr lang="en-US" sz="1125"/>
            </a:br>
            <a:r>
              <a:rPr lang="en-US" sz="1125"/>
              <a:t>Pydantic AI</a:t>
            </a:r>
            <a:endParaRPr i="0" sz="1125" u="none" cap="none" strike="noStrike"/>
          </a:p>
        </p:txBody>
      </p:sp>
      <p:sp>
        <p:nvSpPr>
          <p:cNvPr id="56" name="Google Shape;56;p4"/>
          <p:cNvSpPr/>
          <p:nvPr/>
        </p:nvSpPr>
        <p:spPr>
          <a:xfrm>
            <a:off x="1562101" y="3857625"/>
            <a:ext cx="1002976" cy="610231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1562100" y="400766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Build a Crew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1562101" y="628650"/>
            <a:ext cx="1002976" cy="610230"/>
          </a:xfrm>
          <a:prstGeom prst="rect">
            <a:avLst/>
          </a:prstGeom>
          <a:solidFill>
            <a:srgbClr val="00BFFF">
              <a:alpha val="34902"/>
            </a:srgbClr>
          </a:solidFill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"/>
          <p:cNvSpPr/>
          <p:nvPr/>
        </p:nvSpPr>
        <p:spPr>
          <a:xfrm>
            <a:off x="1562100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>
                <a:solidFill>
                  <a:srgbClr val="FFFFFF"/>
                </a:solidFill>
              </a:rPr>
              <a:t>Building</a:t>
            </a:r>
            <a:br>
              <a:rPr lang="en-US" sz="1125">
                <a:solidFill>
                  <a:srgbClr val="FFFFFF"/>
                </a:solidFill>
              </a:rPr>
            </a:br>
            <a:r>
              <a:rPr lang="en-US" sz="1125">
                <a:solidFill>
                  <a:srgbClr val="FFFFFF"/>
                </a:solidFill>
              </a:rPr>
              <a:t>MCP Server</a:t>
            </a:r>
            <a:endParaRPr i="0" sz="1125" u="none" cap="none" strike="noStrike">
              <a:solidFill>
                <a:srgbClr val="FFFFFF"/>
              </a:solidFill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2676524" y="6010275"/>
            <a:ext cx="1002979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2676525" y="61603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Orchestrating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LLMs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2676524" y="2781300"/>
            <a:ext cx="100297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2676525" y="293133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LangChain</a:t>
            </a:r>
            <a:br>
              <a:rPr lang="en-US" sz="1125"/>
            </a:br>
            <a:r>
              <a:rPr lang="en-US" sz="1125"/>
              <a:t>create_agent</a:t>
            </a:r>
            <a:endParaRPr i="0" sz="1125" u="none" cap="none" strike="noStrike"/>
          </a:p>
        </p:txBody>
      </p:sp>
      <p:sp>
        <p:nvSpPr>
          <p:cNvPr id="64" name="Google Shape;64;p4"/>
          <p:cNvSpPr/>
          <p:nvPr/>
        </p:nvSpPr>
        <p:spPr>
          <a:xfrm>
            <a:off x="2676524" y="4933950"/>
            <a:ext cx="100297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"/>
          <p:cNvSpPr/>
          <p:nvPr/>
        </p:nvSpPr>
        <p:spPr>
          <a:xfrm>
            <a:off x="2676525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Tools vs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Guardrails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2676524" y="1704975"/>
            <a:ext cx="100297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4"/>
          <p:cNvSpPr/>
          <p:nvPr/>
        </p:nvSpPr>
        <p:spPr>
          <a:xfrm>
            <a:off x="2676525" y="18550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MAF and</a:t>
            </a:r>
            <a:br>
              <a:rPr lang="en-US" sz="1125"/>
            </a:br>
            <a:r>
              <a:rPr lang="en-US" sz="1125"/>
              <a:t>Agno</a:t>
            </a:r>
            <a:endParaRPr i="0" sz="1125" u="none" cap="none" strike="noStrike"/>
          </a:p>
        </p:txBody>
      </p:sp>
      <p:sp>
        <p:nvSpPr>
          <p:cNvPr id="68" name="Google Shape;68;p4"/>
          <p:cNvSpPr/>
          <p:nvPr/>
        </p:nvSpPr>
        <p:spPr>
          <a:xfrm>
            <a:off x="2676524" y="3857625"/>
            <a:ext cx="1002979" cy="610231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"/>
          <p:cNvSpPr/>
          <p:nvPr/>
        </p:nvSpPr>
        <p:spPr>
          <a:xfrm>
            <a:off x="2676525" y="400766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4: Stock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Picker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2676524" y="628650"/>
            <a:ext cx="1002979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"/>
          <p:cNvSpPr/>
          <p:nvPr/>
        </p:nvSpPr>
        <p:spPr>
          <a:xfrm>
            <a:off x="2676525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>
                <a:solidFill>
                  <a:srgbClr val="FFFFFF"/>
                </a:solidFill>
              </a:rPr>
              <a:t>Context</a:t>
            </a:r>
            <a:br>
              <a:rPr lang="en-US" sz="1125">
                <a:solidFill>
                  <a:srgbClr val="FFFFFF"/>
                </a:solidFill>
              </a:rPr>
            </a:br>
            <a:r>
              <a:rPr lang="en-US" sz="1125">
                <a:solidFill>
                  <a:srgbClr val="FFFFFF"/>
                </a:solidFill>
              </a:rPr>
              <a:t>Engineering</a:t>
            </a:r>
            <a:br>
              <a:rPr lang="en-US" sz="1125">
                <a:solidFill>
                  <a:srgbClr val="FFFFFF"/>
                </a:solidFill>
              </a:rPr>
            </a:br>
            <a:r>
              <a:rPr lang="en-US" sz="1125">
                <a:solidFill>
                  <a:srgbClr val="FFFFFF"/>
                </a:solidFill>
              </a:rPr>
              <a:t>with MCP</a:t>
            </a:r>
            <a:endParaRPr i="0" sz="1125" u="none" cap="none" strike="noStrike">
              <a:solidFill>
                <a:srgbClr val="FFFFFF"/>
              </a:solidFill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3819524" y="6010275"/>
            <a:ext cx="1002979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3819525" y="61603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Autonomy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3819524" y="2781300"/>
            <a:ext cx="100297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"/>
          <p:cNvSpPr/>
          <p:nvPr/>
        </p:nvSpPr>
        <p:spPr>
          <a:xfrm>
            <a:off x="3819525" y="293133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Deep Agents</a:t>
            </a:r>
            <a:endParaRPr i="0" sz="1125" u="none" cap="none" strike="noStrike"/>
          </a:p>
        </p:txBody>
      </p:sp>
      <p:sp>
        <p:nvSpPr>
          <p:cNvPr id="76" name="Google Shape;76;p4"/>
          <p:cNvSpPr/>
          <p:nvPr/>
        </p:nvSpPr>
        <p:spPr>
          <a:xfrm>
            <a:off x="3819524" y="4933950"/>
            <a:ext cx="1002979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"/>
          <p:cNvSpPr/>
          <p:nvPr/>
        </p:nvSpPr>
        <p:spPr>
          <a:xfrm>
            <a:off x="3819525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3819524" y="1704975"/>
            <a:ext cx="100297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3819525" y="18550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Mastra</a:t>
            </a:r>
            <a:endParaRPr i="0" sz="1125" u="none" cap="none" strike="noStrike"/>
          </a:p>
        </p:txBody>
      </p:sp>
      <p:sp>
        <p:nvSpPr>
          <p:cNvPr id="80" name="Google Shape;80;p4"/>
          <p:cNvSpPr/>
          <p:nvPr/>
        </p:nvSpPr>
        <p:spPr>
          <a:xfrm>
            <a:off x="3819524" y="3857625"/>
            <a:ext cx="1002979" cy="610231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3819525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3819524" y="628650"/>
            <a:ext cx="1002979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3819525" y="7786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4953000" y="6010275"/>
            <a:ext cx="1002976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4"/>
          <p:cNvSpPr/>
          <p:nvPr/>
        </p:nvSpPr>
        <p:spPr>
          <a:xfrm>
            <a:off x="4953000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1: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Your personal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career 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4953000" y="2781300"/>
            <a:ext cx="1002976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4"/>
          <p:cNvSpPr/>
          <p:nvPr/>
        </p:nvSpPr>
        <p:spPr>
          <a:xfrm>
            <a:off x="4953000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Project 6:</a:t>
            </a:r>
            <a:br>
              <a:rPr lang="en-US" sz="1125"/>
            </a:br>
            <a:r>
              <a:rPr lang="en-US" sz="1125"/>
              <a:t>Sidekick</a:t>
            </a:r>
            <a:endParaRPr i="0" sz="1125" u="none" cap="none" strike="noStrike"/>
          </a:p>
        </p:txBody>
      </p:sp>
      <p:sp>
        <p:nvSpPr>
          <p:cNvPr id="88" name="Google Shape;88;p4"/>
          <p:cNvSpPr/>
          <p:nvPr/>
        </p:nvSpPr>
        <p:spPr>
          <a:xfrm>
            <a:off x="4953000" y="4933950"/>
            <a:ext cx="1002976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4"/>
          <p:cNvSpPr/>
          <p:nvPr/>
        </p:nvSpPr>
        <p:spPr>
          <a:xfrm>
            <a:off x="49530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 app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4953000" y="1704975"/>
            <a:ext cx="1002976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4"/>
          <p:cNvSpPr/>
          <p:nvPr/>
        </p:nvSpPr>
        <p:spPr>
          <a:xfrm>
            <a:off x="4953000" y="17788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Project 7:</a:t>
            </a:r>
            <a:br>
              <a:rPr lang="en-US" sz="1125"/>
            </a:br>
            <a:r>
              <a:rPr lang="en-US" sz="1125"/>
              <a:t>Agent Loop</a:t>
            </a:r>
            <a:endParaRPr i="0" sz="1125" u="none" cap="none" strike="noStrike"/>
          </a:p>
        </p:txBody>
      </p:sp>
      <p:sp>
        <p:nvSpPr>
          <p:cNvPr id="92" name="Google Shape;92;p4"/>
          <p:cNvSpPr/>
          <p:nvPr/>
        </p:nvSpPr>
        <p:spPr>
          <a:xfrm>
            <a:off x="4953000" y="3857625"/>
            <a:ext cx="1002976" cy="610231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4"/>
          <p:cNvSpPr/>
          <p:nvPr/>
        </p:nvSpPr>
        <p:spPr>
          <a:xfrm>
            <a:off x="4953000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Engineering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Team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4953000" y="62865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4"/>
          <p:cNvSpPr/>
          <p:nvPr/>
        </p:nvSpPr>
        <p:spPr>
          <a:xfrm>
            <a:off x="4953000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 Action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"/>
          <p:cNvSpPr/>
          <p:nvPr/>
        </p:nvSpPr>
        <p:spPr>
          <a:xfrm>
            <a:off x="571500" y="227661"/>
            <a:ext cx="90648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Today we make our own!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" name="Google Shape;102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575" y="849030"/>
            <a:ext cx="5856098" cy="58560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"/>
          <p:cNvSpPr/>
          <p:nvPr/>
        </p:nvSpPr>
        <p:spPr>
          <a:xfrm>
            <a:off x="800100" y="586160"/>
            <a:ext cx="100005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MCP Core 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571500" y="1604367"/>
            <a:ext cx="45756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Three Components: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571500" y="4414242"/>
            <a:ext cx="45756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990600" y="2335188"/>
            <a:ext cx="66279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BFFF"/>
                </a:solidFill>
                <a:latin typeface="Roboto Slab"/>
                <a:ea typeface="Roboto Slab"/>
                <a:cs typeface="Roboto Slab"/>
                <a:sym typeface="Roboto Slab"/>
              </a:rPr>
              <a:t>Host</a:t>
            </a:r>
            <a:r>
              <a:rPr b="0" i="0" lang="en-US" sz="1350" u="none" cap="none" strike="noStrike">
                <a:solidFill>
                  <a:srgbClr val="00BFFF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b="0" i="0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is an LLM app like Claude or our Agent</a:t>
            </a:r>
            <a:r>
              <a:rPr lang="en-US" sz="13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ic Platform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653138" y="5067313"/>
            <a:ext cx="66279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Fetch is an </a:t>
            </a:r>
            <a:r>
              <a:rPr b="1" i="0" lang="en-US" sz="1350" u="none" cap="none" strike="noStrike">
                <a:solidFill>
                  <a:srgbClr val="FF7800"/>
                </a:solidFill>
                <a:latin typeface="Roboto Slab"/>
                <a:ea typeface="Roboto Slab"/>
                <a:cs typeface="Roboto Slab"/>
                <a:sym typeface="Roboto Slab"/>
              </a:rPr>
              <a:t>MCP Server</a:t>
            </a:r>
            <a:r>
              <a:rPr b="0" i="0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that </a:t>
            </a:r>
            <a:r>
              <a:rPr lang="en-US" sz="13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gets a webpage and returns Markdown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653138" y="5511775"/>
            <a:ext cx="70089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You can configure </a:t>
            </a:r>
            <a:r>
              <a:rPr b="1" i="0" lang="en-US" sz="1350" u="none" cap="none" strike="noStrike">
                <a:solidFill>
                  <a:srgbClr val="00BFFF"/>
                </a:solidFill>
                <a:latin typeface="Roboto Slab"/>
                <a:ea typeface="Roboto Slab"/>
                <a:cs typeface="Roboto Slab"/>
                <a:sym typeface="Roboto Slab"/>
              </a:rPr>
              <a:t>Claude Desktop</a:t>
            </a:r>
            <a:r>
              <a:rPr b="0" i="0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(the host) to run an </a:t>
            </a:r>
            <a:r>
              <a:rPr b="1" i="0" lang="en-US" sz="1350" u="none" cap="none" strike="noStrike">
                <a:solidFill>
                  <a:srgbClr val="FFD700"/>
                </a:solidFill>
                <a:latin typeface="Roboto Slab"/>
                <a:ea typeface="Roboto Slab"/>
                <a:cs typeface="Roboto Slab"/>
                <a:sym typeface="Roboto Slab"/>
              </a:rPr>
              <a:t>MCP Client</a:t>
            </a:r>
            <a:r>
              <a:rPr b="0" i="0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that then</a:t>
            </a:r>
            <a:br>
              <a:rPr b="0" i="0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0" i="0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launches the Fetch MCP Server on your computer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653138" y="6207963"/>
            <a:ext cx="66279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Agent Frameworks take care of creating the MCP Client for you - you tell it which server to attach 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990600" y="2849538"/>
            <a:ext cx="68502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D700"/>
                </a:solidFill>
                <a:latin typeface="Roboto Slab"/>
                <a:ea typeface="Roboto Slab"/>
                <a:cs typeface="Roboto Slab"/>
                <a:sym typeface="Roboto Slab"/>
              </a:rPr>
              <a:t>MCP Client</a:t>
            </a:r>
            <a:r>
              <a:rPr b="0" i="0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lives inside Host and connects 1:1 to MCP Server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990600" y="3363888"/>
            <a:ext cx="60816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7800"/>
                </a:solidFill>
                <a:latin typeface="Roboto Slab"/>
                <a:ea typeface="Roboto Slab"/>
                <a:cs typeface="Roboto Slab"/>
                <a:sym typeface="Roboto Slab"/>
              </a:rPr>
              <a:t>MCP Server</a:t>
            </a:r>
            <a:r>
              <a:rPr b="0" i="0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provides tools, context and prompts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7" name="Google Shape;117;p6"/>
          <p:cNvCxnSpPr/>
          <p:nvPr/>
        </p:nvCxnSpPr>
        <p:spPr>
          <a:xfrm rot="5400000">
            <a:off x="-150233" y="3040223"/>
            <a:ext cx="1606800" cy="0"/>
          </a:xfrm>
          <a:prstGeom prst="straightConnector1">
            <a:avLst/>
          </a:prstGeom>
          <a:noFill/>
          <a:ln cap="flat" cmpd="sng" w="762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"/>
          <p:cNvSpPr/>
          <p:nvPr/>
        </p:nvSpPr>
        <p:spPr>
          <a:xfrm>
            <a:off x="800100" y="586160"/>
            <a:ext cx="100005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Architecture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390528" y="1676400"/>
            <a:ext cx="3163500" cy="4482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7"/>
          <p:cNvSpPr/>
          <p:nvPr/>
        </p:nvSpPr>
        <p:spPr>
          <a:xfrm>
            <a:off x="3705222" y="1676400"/>
            <a:ext cx="1696500" cy="24843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7"/>
          <p:cNvSpPr/>
          <p:nvPr/>
        </p:nvSpPr>
        <p:spPr>
          <a:xfrm>
            <a:off x="581025" y="1900684"/>
            <a:ext cx="20835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Your computer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885825" y="2557909"/>
            <a:ext cx="20835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Host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3952875" y="1900684"/>
            <a:ext cx="12930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Remote server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552445" y="2428875"/>
            <a:ext cx="2874000" cy="1731900"/>
          </a:xfrm>
          <a:prstGeom prst="rect">
            <a:avLst/>
          </a:prstGeom>
          <a:solidFill>
            <a:srgbClr val="00BFFF">
              <a:alpha val="34900"/>
            </a:srgbClr>
          </a:solidFill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7"/>
          <p:cNvSpPr/>
          <p:nvPr/>
        </p:nvSpPr>
        <p:spPr>
          <a:xfrm>
            <a:off x="800097" y="3133725"/>
            <a:ext cx="741600" cy="7836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7"/>
          <p:cNvSpPr/>
          <p:nvPr/>
        </p:nvSpPr>
        <p:spPr>
          <a:xfrm>
            <a:off x="3962403" y="3162300"/>
            <a:ext cx="741600" cy="78360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7"/>
          <p:cNvSpPr/>
          <p:nvPr/>
        </p:nvSpPr>
        <p:spPr>
          <a:xfrm>
            <a:off x="1619250" y="3133725"/>
            <a:ext cx="741600" cy="7836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7"/>
          <p:cNvSpPr/>
          <p:nvPr/>
        </p:nvSpPr>
        <p:spPr>
          <a:xfrm>
            <a:off x="2457445" y="3133725"/>
            <a:ext cx="741600" cy="7836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7"/>
          <p:cNvSpPr/>
          <p:nvPr/>
        </p:nvSpPr>
        <p:spPr>
          <a:xfrm>
            <a:off x="872959" y="3333006"/>
            <a:ext cx="4818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MCP</a:t>
            </a:r>
            <a:b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Client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4053826" y="3361581"/>
            <a:ext cx="5208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MCP</a:t>
            </a:r>
            <a:b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Server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1692109" y="3333006"/>
            <a:ext cx="4818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MCP</a:t>
            </a:r>
            <a:b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Client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2530309" y="3333006"/>
            <a:ext cx="4818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MCP</a:t>
            </a:r>
            <a:b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Client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8" name="Google Shape;138;p7"/>
          <p:cNvGrpSpPr/>
          <p:nvPr/>
        </p:nvGrpSpPr>
        <p:grpSpPr>
          <a:xfrm>
            <a:off x="762000" y="3856405"/>
            <a:ext cx="741600" cy="1518245"/>
            <a:chOff x="762000" y="3856405"/>
            <a:chExt cx="741600" cy="1518245"/>
          </a:xfrm>
        </p:grpSpPr>
        <p:sp>
          <p:nvSpPr>
            <p:cNvPr id="139" name="Google Shape;139;p7"/>
            <p:cNvSpPr/>
            <p:nvPr/>
          </p:nvSpPr>
          <p:spPr>
            <a:xfrm>
              <a:off x="762000" y="4591050"/>
              <a:ext cx="741600" cy="783600"/>
            </a:xfrm>
            <a:prstGeom prst="rect">
              <a:avLst/>
            </a:prstGeom>
            <a:solidFill>
              <a:srgbClr val="FF7800"/>
            </a:solidFill>
            <a:ln cap="flat" cmpd="sng" w="25400">
              <a:solidFill>
                <a:srgbClr val="000000">
                  <a:alpha val="0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7"/>
            <p:cNvSpPr/>
            <p:nvPr/>
          </p:nvSpPr>
          <p:spPr>
            <a:xfrm>
              <a:off x="815326" y="4790331"/>
              <a:ext cx="520800" cy="4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4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0000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MCP</a:t>
              </a:r>
              <a:br>
                <a:rPr b="1" i="0" lang="en-US" sz="1200" u="none" cap="none" strike="noStrike">
                  <a:solidFill>
                    <a:srgbClr val="000000"/>
                  </a:solidFill>
                  <a:latin typeface="Roboto Slab"/>
                  <a:ea typeface="Roboto Slab"/>
                  <a:cs typeface="Roboto Slab"/>
                  <a:sym typeface="Roboto Slab"/>
                </a:rPr>
              </a:br>
              <a:r>
                <a:rPr b="1" i="0" lang="en-US" sz="1200" u="none" cap="none" strike="noStrike">
                  <a:solidFill>
                    <a:srgbClr val="0000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Server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41" name="Google Shape;141;p7"/>
            <p:cNvCxnSpPr/>
            <p:nvPr/>
          </p:nvCxnSpPr>
          <p:spPr>
            <a:xfrm rot="5400000">
              <a:off x="816859" y="4271306"/>
              <a:ext cx="639300" cy="0"/>
            </a:xfrm>
            <a:prstGeom prst="straightConnector1">
              <a:avLst/>
            </a:prstGeom>
            <a:noFill/>
            <a:ln cap="flat" cmpd="sng" w="254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42" name="Google Shape;142;p7"/>
            <p:cNvSpPr/>
            <p:nvPr/>
          </p:nvSpPr>
          <p:spPr>
            <a:xfrm>
              <a:off x="1041259" y="3856405"/>
              <a:ext cx="190500" cy="190500"/>
            </a:xfrm>
            <a:prstGeom prst="triangle">
              <a:avLst>
                <a:gd fmla="val 50000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7"/>
            <p:cNvSpPr/>
            <p:nvPr/>
          </p:nvSpPr>
          <p:spPr>
            <a:xfrm rot="10800000">
              <a:off x="1041259" y="4495800"/>
              <a:ext cx="190500" cy="190500"/>
            </a:xfrm>
            <a:prstGeom prst="triangle">
              <a:avLst>
                <a:gd fmla="val 50000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4" name="Google Shape;144;p7"/>
          <p:cNvGrpSpPr/>
          <p:nvPr/>
        </p:nvGrpSpPr>
        <p:grpSpPr>
          <a:xfrm>
            <a:off x="1619250" y="3819525"/>
            <a:ext cx="741600" cy="1555125"/>
            <a:chOff x="1619250" y="3819525"/>
            <a:chExt cx="741600" cy="1555125"/>
          </a:xfrm>
        </p:grpSpPr>
        <p:sp>
          <p:nvSpPr>
            <p:cNvPr id="145" name="Google Shape;145;p7"/>
            <p:cNvSpPr/>
            <p:nvPr/>
          </p:nvSpPr>
          <p:spPr>
            <a:xfrm>
              <a:off x="1619250" y="4591050"/>
              <a:ext cx="741600" cy="783600"/>
            </a:xfrm>
            <a:prstGeom prst="rect">
              <a:avLst/>
            </a:prstGeom>
            <a:solidFill>
              <a:srgbClr val="FF7800"/>
            </a:solidFill>
            <a:ln cap="flat" cmpd="sng" w="25400">
              <a:solidFill>
                <a:srgbClr val="000000">
                  <a:alpha val="0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7"/>
            <p:cNvSpPr/>
            <p:nvPr/>
          </p:nvSpPr>
          <p:spPr>
            <a:xfrm>
              <a:off x="1672576" y="4790331"/>
              <a:ext cx="520800" cy="4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4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0000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MCP</a:t>
              </a:r>
              <a:br>
                <a:rPr b="1" i="0" lang="en-US" sz="1200" u="none" cap="none" strike="noStrike">
                  <a:solidFill>
                    <a:srgbClr val="000000"/>
                  </a:solidFill>
                  <a:latin typeface="Roboto Slab"/>
                  <a:ea typeface="Roboto Slab"/>
                  <a:cs typeface="Roboto Slab"/>
                  <a:sym typeface="Roboto Slab"/>
                </a:rPr>
              </a:br>
              <a:r>
                <a:rPr b="1" i="0" lang="en-US" sz="1200" u="none" cap="none" strike="noStrike">
                  <a:solidFill>
                    <a:srgbClr val="0000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Server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47" name="Google Shape;147;p7"/>
            <p:cNvCxnSpPr/>
            <p:nvPr/>
          </p:nvCxnSpPr>
          <p:spPr>
            <a:xfrm rot="5400000">
              <a:off x="1671076" y="4234426"/>
              <a:ext cx="639300" cy="0"/>
            </a:xfrm>
            <a:prstGeom prst="straightConnector1">
              <a:avLst/>
            </a:prstGeom>
            <a:noFill/>
            <a:ln cap="flat" cmpd="sng" w="254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48" name="Google Shape;148;p7"/>
            <p:cNvSpPr/>
            <p:nvPr/>
          </p:nvSpPr>
          <p:spPr>
            <a:xfrm>
              <a:off x="1895475" y="3819525"/>
              <a:ext cx="190500" cy="190500"/>
            </a:xfrm>
            <a:prstGeom prst="triangle">
              <a:avLst>
                <a:gd fmla="val 50000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7"/>
            <p:cNvSpPr/>
            <p:nvPr/>
          </p:nvSpPr>
          <p:spPr>
            <a:xfrm rot="10800000">
              <a:off x="1895475" y="4458920"/>
              <a:ext cx="190500" cy="190500"/>
            </a:xfrm>
            <a:prstGeom prst="triangle">
              <a:avLst>
                <a:gd fmla="val 50000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50" name="Google Shape;150;p7"/>
          <p:cNvCxnSpPr/>
          <p:nvPr/>
        </p:nvCxnSpPr>
        <p:spPr>
          <a:xfrm>
            <a:off x="3207988" y="3538488"/>
            <a:ext cx="754500" cy="0"/>
          </a:xfrm>
          <a:prstGeom prst="straightConnector1">
            <a:avLst/>
          </a:prstGeom>
          <a:noFill/>
          <a:ln cap="flat" cmpd="sng" w="254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1" name="Google Shape;151;p7"/>
          <p:cNvSpPr/>
          <p:nvPr/>
        </p:nvSpPr>
        <p:spPr>
          <a:xfrm rot="-5400000">
            <a:off x="3112738" y="3443238"/>
            <a:ext cx="190500" cy="190500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"/>
          <p:cNvSpPr/>
          <p:nvPr/>
        </p:nvSpPr>
        <p:spPr>
          <a:xfrm rot="5400000">
            <a:off x="3867150" y="3443238"/>
            <a:ext cx="190500" cy="190500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7"/>
          <p:cNvSpPr txBox="1"/>
          <p:nvPr/>
        </p:nvSpPr>
        <p:spPr>
          <a:xfrm>
            <a:off x="762000" y="6293400"/>
            <a:ext cx="219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7800"/>
                </a:solidFill>
              </a:rPr>
              <a:t>1. List Tools 2. Call Tool</a:t>
            </a:r>
            <a:endParaRPr b="1">
              <a:solidFill>
                <a:srgbClr val="FF7800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8"/>
          <p:cNvSpPr/>
          <p:nvPr/>
        </p:nvSpPr>
        <p:spPr>
          <a:xfrm>
            <a:off x="800100" y="586160"/>
            <a:ext cx="100005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Architecture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390528" y="1676400"/>
            <a:ext cx="3163500" cy="4482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8"/>
          <p:cNvSpPr/>
          <p:nvPr/>
        </p:nvSpPr>
        <p:spPr>
          <a:xfrm>
            <a:off x="3705222" y="1676400"/>
            <a:ext cx="1696500" cy="24843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8"/>
          <p:cNvSpPr/>
          <p:nvPr/>
        </p:nvSpPr>
        <p:spPr>
          <a:xfrm>
            <a:off x="3705222" y="4267200"/>
            <a:ext cx="1696500" cy="18921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8"/>
          <p:cNvSpPr/>
          <p:nvPr/>
        </p:nvSpPr>
        <p:spPr>
          <a:xfrm>
            <a:off x="581025" y="1900684"/>
            <a:ext cx="20835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Your computer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885825" y="2557909"/>
            <a:ext cx="20835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Host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3952875" y="1900684"/>
            <a:ext cx="12930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Remote server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3886200" y="4386709"/>
            <a:ext cx="12930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Remote server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552445" y="2428875"/>
            <a:ext cx="2874000" cy="1731900"/>
          </a:xfrm>
          <a:prstGeom prst="rect">
            <a:avLst/>
          </a:prstGeom>
          <a:solidFill>
            <a:srgbClr val="00BFFF">
              <a:alpha val="34900"/>
            </a:srgbClr>
          </a:solidFill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8"/>
          <p:cNvSpPr/>
          <p:nvPr/>
        </p:nvSpPr>
        <p:spPr>
          <a:xfrm>
            <a:off x="800097" y="3133725"/>
            <a:ext cx="741600" cy="7836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8"/>
          <p:cNvSpPr/>
          <p:nvPr/>
        </p:nvSpPr>
        <p:spPr>
          <a:xfrm>
            <a:off x="762000" y="4591050"/>
            <a:ext cx="741600" cy="78360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8"/>
          <p:cNvSpPr/>
          <p:nvPr/>
        </p:nvSpPr>
        <p:spPr>
          <a:xfrm>
            <a:off x="1619250" y="4591050"/>
            <a:ext cx="741600" cy="78360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8"/>
          <p:cNvSpPr/>
          <p:nvPr/>
        </p:nvSpPr>
        <p:spPr>
          <a:xfrm>
            <a:off x="3962403" y="3162300"/>
            <a:ext cx="741600" cy="78360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8"/>
          <p:cNvSpPr/>
          <p:nvPr/>
        </p:nvSpPr>
        <p:spPr>
          <a:xfrm>
            <a:off x="1619250" y="3133725"/>
            <a:ext cx="741600" cy="7836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8"/>
          <p:cNvSpPr/>
          <p:nvPr/>
        </p:nvSpPr>
        <p:spPr>
          <a:xfrm>
            <a:off x="2457445" y="3133725"/>
            <a:ext cx="741600" cy="7836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8"/>
          <p:cNvSpPr/>
          <p:nvPr/>
        </p:nvSpPr>
        <p:spPr>
          <a:xfrm>
            <a:off x="872959" y="3333006"/>
            <a:ext cx="4818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MCP</a:t>
            </a:r>
            <a:b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Client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815326" y="4790331"/>
            <a:ext cx="5208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MCP</a:t>
            </a:r>
            <a:b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Server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1672576" y="4790331"/>
            <a:ext cx="5208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MCP</a:t>
            </a:r>
            <a:b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Server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4053826" y="3361581"/>
            <a:ext cx="5208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MCP</a:t>
            </a:r>
            <a:b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Server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3962403" y="4848225"/>
            <a:ext cx="703800" cy="495300"/>
          </a:xfrm>
          <a:prstGeom prst="rect">
            <a:avLst/>
          </a:prstGeom>
          <a:solidFill>
            <a:srgbClr val="A6A6A6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8"/>
          <p:cNvSpPr/>
          <p:nvPr/>
        </p:nvSpPr>
        <p:spPr>
          <a:xfrm>
            <a:off x="4105275" y="4980831"/>
            <a:ext cx="417900" cy="2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API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1692109" y="3333006"/>
            <a:ext cx="4818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MCP</a:t>
            </a:r>
            <a:b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Client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2530309" y="3333006"/>
            <a:ext cx="4818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MCP</a:t>
            </a:r>
            <a:b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Client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2" name="Google Shape;182;p8"/>
          <p:cNvCxnSpPr/>
          <p:nvPr/>
        </p:nvCxnSpPr>
        <p:spPr>
          <a:xfrm rot="5400000">
            <a:off x="816859" y="4271306"/>
            <a:ext cx="639300" cy="0"/>
          </a:xfrm>
          <a:prstGeom prst="straightConnector1">
            <a:avLst/>
          </a:prstGeom>
          <a:noFill/>
          <a:ln cap="flat" cmpd="sng" w="254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3" name="Google Shape;183;p8"/>
          <p:cNvSpPr/>
          <p:nvPr/>
        </p:nvSpPr>
        <p:spPr>
          <a:xfrm>
            <a:off x="1041259" y="3856405"/>
            <a:ext cx="190500" cy="190500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8"/>
          <p:cNvSpPr/>
          <p:nvPr/>
        </p:nvSpPr>
        <p:spPr>
          <a:xfrm rot="10800000">
            <a:off x="1041259" y="4495800"/>
            <a:ext cx="190500" cy="190500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5" name="Google Shape;185;p8"/>
          <p:cNvCxnSpPr/>
          <p:nvPr/>
        </p:nvCxnSpPr>
        <p:spPr>
          <a:xfrm rot="5400000">
            <a:off x="1671076" y="4234426"/>
            <a:ext cx="639300" cy="0"/>
          </a:xfrm>
          <a:prstGeom prst="straightConnector1">
            <a:avLst/>
          </a:prstGeom>
          <a:noFill/>
          <a:ln cap="flat" cmpd="sng" w="254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6" name="Google Shape;186;p8"/>
          <p:cNvSpPr/>
          <p:nvPr/>
        </p:nvSpPr>
        <p:spPr>
          <a:xfrm>
            <a:off x="1895475" y="3819525"/>
            <a:ext cx="190500" cy="190500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8"/>
          <p:cNvSpPr/>
          <p:nvPr/>
        </p:nvSpPr>
        <p:spPr>
          <a:xfrm rot="10800000">
            <a:off x="1895475" y="4458920"/>
            <a:ext cx="190500" cy="190500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8" name="Google Shape;188;p8"/>
          <p:cNvCxnSpPr/>
          <p:nvPr/>
        </p:nvCxnSpPr>
        <p:spPr>
          <a:xfrm>
            <a:off x="3207988" y="3538488"/>
            <a:ext cx="754500" cy="0"/>
          </a:xfrm>
          <a:prstGeom prst="straightConnector1">
            <a:avLst/>
          </a:prstGeom>
          <a:noFill/>
          <a:ln cap="flat" cmpd="sng" w="254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9" name="Google Shape;189;p8"/>
          <p:cNvSpPr/>
          <p:nvPr/>
        </p:nvSpPr>
        <p:spPr>
          <a:xfrm rot="-5400000">
            <a:off x="3112738" y="3443238"/>
            <a:ext cx="190500" cy="190500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8"/>
          <p:cNvSpPr/>
          <p:nvPr/>
        </p:nvSpPr>
        <p:spPr>
          <a:xfrm rot="5400000">
            <a:off x="3867150" y="3443238"/>
            <a:ext cx="190500" cy="190500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1" name="Google Shape;191;p8"/>
          <p:cNvCxnSpPr/>
          <p:nvPr/>
        </p:nvCxnSpPr>
        <p:spPr>
          <a:xfrm>
            <a:off x="2371725" y="5105400"/>
            <a:ext cx="1590600" cy="0"/>
          </a:xfrm>
          <a:prstGeom prst="straightConnector1">
            <a:avLst/>
          </a:prstGeom>
          <a:noFill/>
          <a:ln cap="flat" cmpd="sng" w="254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92" name="Google Shape;192;p8"/>
          <p:cNvSpPr/>
          <p:nvPr/>
        </p:nvSpPr>
        <p:spPr>
          <a:xfrm rot="-5400000">
            <a:off x="2276475" y="5010150"/>
            <a:ext cx="190500" cy="190500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8"/>
          <p:cNvSpPr/>
          <p:nvPr/>
        </p:nvSpPr>
        <p:spPr>
          <a:xfrm rot="5400000">
            <a:off x="3867150" y="5010150"/>
            <a:ext cx="190500" cy="190500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8"/>
          <p:cNvSpPr txBox="1"/>
          <p:nvPr/>
        </p:nvSpPr>
        <p:spPr>
          <a:xfrm>
            <a:off x="762000" y="6293400"/>
            <a:ext cx="219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7800"/>
                </a:solidFill>
              </a:rPr>
              <a:t>1. List Tools 2. Call Tool</a:t>
            </a:r>
            <a:endParaRPr b="1">
              <a:solidFill>
                <a:srgbClr val="FF78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9"/>
          <p:cNvSpPr/>
          <p:nvPr/>
        </p:nvSpPr>
        <p:spPr>
          <a:xfrm>
            <a:off x="800100" y="586160"/>
            <a:ext cx="100005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MCP Servers most often run on your box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800100" y="1100361"/>
            <a:ext cx="100005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3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Download open-source MCP Servers, run them locally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9"/>
          <p:cNvSpPr/>
          <p:nvPr/>
        </p:nvSpPr>
        <p:spPr>
          <a:xfrm>
            <a:off x="390528" y="1676400"/>
            <a:ext cx="3163500" cy="4482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9"/>
          <p:cNvSpPr/>
          <p:nvPr/>
        </p:nvSpPr>
        <p:spPr>
          <a:xfrm>
            <a:off x="3705222" y="1676400"/>
            <a:ext cx="1696500" cy="24843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9"/>
          <p:cNvSpPr/>
          <p:nvPr/>
        </p:nvSpPr>
        <p:spPr>
          <a:xfrm>
            <a:off x="3705222" y="4267200"/>
            <a:ext cx="1696500" cy="18921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9"/>
          <p:cNvSpPr/>
          <p:nvPr/>
        </p:nvSpPr>
        <p:spPr>
          <a:xfrm>
            <a:off x="581025" y="1900684"/>
            <a:ext cx="20835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Your computer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9"/>
          <p:cNvSpPr/>
          <p:nvPr/>
        </p:nvSpPr>
        <p:spPr>
          <a:xfrm>
            <a:off x="885825" y="2557909"/>
            <a:ext cx="20835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Host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3952875" y="1900684"/>
            <a:ext cx="12930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Remote server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9"/>
          <p:cNvSpPr/>
          <p:nvPr/>
        </p:nvSpPr>
        <p:spPr>
          <a:xfrm>
            <a:off x="3886200" y="4386709"/>
            <a:ext cx="12930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Remote server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9"/>
          <p:cNvSpPr/>
          <p:nvPr/>
        </p:nvSpPr>
        <p:spPr>
          <a:xfrm>
            <a:off x="552445" y="2428875"/>
            <a:ext cx="2874000" cy="1731900"/>
          </a:xfrm>
          <a:prstGeom prst="rect">
            <a:avLst/>
          </a:prstGeom>
          <a:solidFill>
            <a:srgbClr val="00BFFF">
              <a:alpha val="34900"/>
            </a:srgbClr>
          </a:solidFill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9"/>
          <p:cNvSpPr/>
          <p:nvPr/>
        </p:nvSpPr>
        <p:spPr>
          <a:xfrm>
            <a:off x="800097" y="3133725"/>
            <a:ext cx="741600" cy="7836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9"/>
          <p:cNvSpPr/>
          <p:nvPr/>
        </p:nvSpPr>
        <p:spPr>
          <a:xfrm>
            <a:off x="762000" y="4591050"/>
            <a:ext cx="741600" cy="78360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9"/>
          <p:cNvSpPr/>
          <p:nvPr/>
        </p:nvSpPr>
        <p:spPr>
          <a:xfrm>
            <a:off x="1619250" y="4591050"/>
            <a:ext cx="741600" cy="78360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9"/>
          <p:cNvSpPr/>
          <p:nvPr/>
        </p:nvSpPr>
        <p:spPr>
          <a:xfrm>
            <a:off x="3962403" y="3162300"/>
            <a:ext cx="741600" cy="78360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9"/>
          <p:cNvSpPr/>
          <p:nvPr/>
        </p:nvSpPr>
        <p:spPr>
          <a:xfrm>
            <a:off x="1619250" y="3133725"/>
            <a:ext cx="741600" cy="7836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9"/>
          <p:cNvSpPr/>
          <p:nvPr/>
        </p:nvSpPr>
        <p:spPr>
          <a:xfrm>
            <a:off x="2457445" y="3133725"/>
            <a:ext cx="741600" cy="7836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9"/>
          <p:cNvSpPr/>
          <p:nvPr/>
        </p:nvSpPr>
        <p:spPr>
          <a:xfrm>
            <a:off x="872959" y="3333006"/>
            <a:ext cx="4818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MCP</a:t>
            </a:r>
            <a:b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Client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9"/>
          <p:cNvSpPr/>
          <p:nvPr/>
        </p:nvSpPr>
        <p:spPr>
          <a:xfrm>
            <a:off x="815326" y="4790331"/>
            <a:ext cx="5208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MCP</a:t>
            </a:r>
            <a:b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Server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9"/>
          <p:cNvSpPr/>
          <p:nvPr/>
        </p:nvSpPr>
        <p:spPr>
          <a:xfrm>
            <a:off x="1672576" y="4790331"/>
            <a:ext cx="5208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MCP</a:t>
            </a:r>
            <a:b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Server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9"/>
          <p:cNvSpPr/>
          <p:nvPr/>
        </p:nvSpPr>
        <p:spPr>
          <a:xfrm>
            <a:off x="4053826" y="3361581"/>
            <a:ext cx="5208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MCP</a:t>
            </a:r>
            <a:b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Server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9"/>
          <p:cNvSpPr/>
          <p:nvPr/>
        </p:nvSpPr>
        <p:spPr>
          <a:xfrm>
            <a:off x="3962403" y="4848225"/>
            <a:ext cx="703800" cy="495300"/>
          </a:xfrm>
          <a:prstGeom prst="rect">
            <a:avLst/>
          </a:prstGeom>
          <a:solidFill>
            <a:srgbClr val="A6A6A6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9"/>
          <p:cNvSpPr/>
          <p:nvPr/>
        </p:nvSpPr>
        <p:spPr>
          <a:xfrm>
            <a:off x="4105275" y="4980831"/>
            <a:ext cx="417900" cy="2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API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9"/>
          <p:cNvSpPr/>
          <p:nvPr/>
        </p:nvSpPr>
        <p:spPr>
          <a:xfrm>
            <a:off x="1692109" y="3333006"/>
            <a:ext cx="4818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MCP</a:t>
            </a:r>
            <a:b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Client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2530309" y="3333006"/>
            <a:ext cx="4818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MCP</a:t>
            </a:r>
            <a:b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Client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4" name="Google Shape;224;p9"/>
          <p:cNvCxnSpPr/>
          <p:nvPr/>
        </p:nvCxnSpPr>
        <p:spPr>
          <a:xfrm rot="5400000">
            <a:off x="816859" y="4271306"/>
            <a:ext cx="639300" cy="0"/>
          </a:xfrm>
          <a:prstGeom prst="straightConnector1">
            <a:avLst/>
          </a:prstGeom>
          <a:noFill/>
          <a:ln cap="flat" cmpd="sng" w="254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25" name="Google Shape;225;p9"/>
          <p:cNvSpPr/>
          <p:nvPr/>
        </p:nvSpPr>
        <p:spPr>
          <a:xfrm>
            <a:off x="1041259" y="3856405"/>
            <a:ext cx="190500" cy="190500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9"/>
          <p:cNvSpPr/>
          <p:nvPr/>
        </p:nvSpPr>
        <p:spPr>
          <a:xfrm rot="10800000">
            <a:off x="1041259" y="4495800"/>
            <a:ext cx="190500" cy="190500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7" name="Google Shape;227;p9"/>
          <p:cNvCxnSpPr/>
          <p:nvPr/>
        </p:nvCxnSpPr>
        <p:spPr>
          <a:xfrm rot="5400000">
            <a:off x="1671076" y="4234426"/>
            <a:ext cx="639300" cy="0"/>
          </a:xfrm>
          <a:prstGeom prst="straightConnector1">
            <a:avLst/>
          </a:prstGeom>
          <a:noFill/>
          <a:ln cap="flat" cmpd="sng" w="254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28" name="Google Shape;228;p9"/>
          <p:cNvSpPr/>
          <p:nvPr/>
        </p:nvSpPr>
        <p:spPr>
          <a:xfrm>
            <a:off x="1895475" y="3819525"/>
            <a:ext cx="190500" cy="190500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9"/>
          <p:cNvSpPr/>
          <p:nvPr/>
        </p:nvSpPr>
        <p:spPr>
          <a:xfrm rot="10800000">
            <a:off x="1895475" y="4458920"/>
            <a:ext cx="190500" cy="190500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0" name="Google Shape;230;p9"/>
          <p:cNvCxnSpPr/>
          <p:nvPr/>
        </p:nvCxnSpPr>
        <p:spPr>
          <a:xfrm>
            <a:off x="3207988" y="3538488"/>
            <a:ext cx="754500" cy="0"/>
          </a:xfrm>
          <a:prstGeom prst="straightConnector1">
            <a:avLst/>
          </a:prstGeom>
          <a:noFill/>
          <a:ln cap="flat" cmpd="sng" w="254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31" name="Google Shape;231;p9"/>
          <p:cNvSpPr/>
          <p:nvPr/>
        </p:nvSpPr>
        <p:spPr>
          <a:xfrm rot="-5400000">
            <a:off x="3112738" y="3443238"/>
            <a:ext cx="190500" cy="190500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9"/>
          <p:cNvSpPr/>
          <p:nvPr/>
        </p:nvSpPr>
        <p:spPr>
          <a:xfrm rot="5400000">
            <a:off x="3867150" y="3443238"/>
            <a:ext cx="190500" cy="190500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3" name="Google Shape;233;p9"/>
          <p:cNvCxnSpPr/>
          <p:nvPr/>
        </p:nvCxnSpPr>
        <p:spPr>
          <a:xfrm>
            <a:off x="2371725" y="5105400"/>
            <a:ext cx="1590600" cy="0"/>
          </a:xfrm>
          <a:prstGeom prst="straightConnector1">
            <a:avLst/>
          </a:prstGeom>
          <a:noFill/>
          <a:ln cap="flat" cmpd="sng" w="254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34" name="Google Shape;234;p9"/>
          <p:cNvSpPr/>
          <p:nvPr/>
        </p:nvSpPr>
        <p:spPr>
          <a:xfrm rot="-5400000">
            <a:off x="2276475" y="5010150"/>
            <a:ext cx="190500" cy="190500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9"/>
          <p:cNvSpPr/>
          <p:nvPr/>
        </p:nvSpPr>
        <p:spPr>
          <a:xfrm rot="5400000">
            <a:off x="3867150" y="5010150"/>
            <a:ext cx="190500" cy="190500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9"/>
          <p:cNvSpPr txBox="1"/>
          <p:nvPr/>
        </p:nvSpPr>
        <p:spPr>
          <a:xfrm>
            <a:off x="762000" y="6293400"/>
            <a:ext cx="219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7800"/>
                </a:solidFill>
              </a:rPr>
              <a:t>1. List Tools 2. Call Tool</a:t>
            </a:r>
            <a:endParaRPr b="1">
              <a:solidFill>
                <a:srgbClr val="FF78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0"/>
          <p:cNvSpPr/>
          <p:nvPr/>
        </p:nvSpPr>
        <p:spPr>
          <a:xfrm>
            <a:off x="800100" y="586160"/>
            <a:ext cx="100005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Two "Transport" mechanisms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0"/>
          <p:cNvSpPr/>
          <p:nvPr/>
        </p:nvSpPr>
        <p:spPr>
          <a:xfrm>
            <a:off x="800100" y="1109067"/>
            <a:ext cx="100005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Stdio spawns a process and communicates via standard input/output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0"/>
          <p:cNvSpPr/>
          <p:nvPr/>
        </p:nvSpPr>
        <p:spPr>
          <a:xfrm>
            <a:off x="390528" y="1676400"/>
            <a:ext cx="3163500" cy="4482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0"/>
          <p:cNvSpPr/>
          <p:nvPr/>
        </p:nvSpPr>
        <p:spPr>
          <a:xfrm>
            <a:off x="3705222" y="1676400"/>
            <a:ext cx="1696500" cy="24843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0"/>
          <p:cNvSpPr/>
          <p:nvPr/>
        </p:nvSpPr>
        <p:spPr>
          <a:xfrm>
            <a:off x="3705222" y="4267200"/>
            <a:ext cx="1696500" cy="18921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0"/>
          <p:cNvSpPr/>
          <p:nvPr/>
        </p:nvSpPr>
        <p:spPr>
          <a:xfrm>
            <a:off x="581025" y="1900684"/>
            <a:ext cx="20835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Your computer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0"/>
          <p:cNvSpPr/>
          <p:nvPr/>
        </p:nvSpPr>
        <p:spPr>
          <a:xfrm>
            <a:off x="885825" y="2557909"/>
            <a:ext cx="20835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Host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0"/>
          <p:cNvSpPr/>
          <p:nvPr/>
        </p:nvSpPr>
        <p:spPr>
          <a:xfrm>
            <a:off x="3952875" y="1900684"/>
            <a:ext cx="12930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Remote server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0"/>
          <p:cNvSpPr/>
          <p:nvPr/>
        </p:nvSpPr>
        <p:spPr>
          <a:xfrm>
            <a:off x="3886200" y="4386709"/>
            <a:ext cx="12930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Remote server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0"/>
          <p:cNvSpPr/>
          <p:nvPr/>
        </p:nvSpPr>
        <p:spPr>
          <a:xfrm>
            <a:off x="552445" y="2428875"/>
            <a:ext cx="2874000" cy="1731900"/>
          </a:xfrm>
          <a:prstGeom prst="rect">
            <a:avLst/>
          </a:prstGeom>
          <a:solidFill>
            <a:srgbClr val="00BFFF">
              <a:alpha val="34900"/>
            </a:srgbClr>
          </a:solidFill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0"/>
          <p:cNvSpPr/>
          <p:nvPr/>
        </p:nvSpPr>
        <p:spPr>
          <a:xfrm>
            <a:off x="800097" y="3133725"/>
            <a:ext cx="741600" cy="7836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0"/>
          <p:cNvSpPr/>
          <p:nvPr/>
        </p:nvSpPr>
        <p:spPr>
          <a:xfrm>
            <a:off x="762000" y="4591050"/>
            <a:ext cx="741600" cy="78360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0"/>
          <p:cNvSpPr/>
          <p:nvPr/>
        </p:nvSpPr>
        <p:spPr>
          <a:xfrm>
            <a:off x="1619250" y="4591050"/>
            <a:ext cx="741600" cy="78360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0"/>
          <p:cNvSpPr/>
          <p:nvPr/>
        </p:nvSpPr>
        <p:spPr>
          <a:xfrm>
            <a:off x="3962403" y="3162300"/>
            <a:ext cx="741600" cy="78360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0"/>
          <p:cNvSpPr/>
          <p:nvPr/>
        </p:nvSpPr>
        <p:spPr>
          <a:xfrm>
            <a:off x="1619250" y="3133725"/>
            <a:ext cx="741600" cy="7836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0"/>
          <p:cNvSpPr/>
          <p:nvPr/>
        </p:nvSpPr>
        <p:spPr>
          <a:xfrm>
            <a:off x="2457445" y="3133725"/>
            <a:ext cx="741600" cy="7836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0"/>
          <p:cNvSpPr/>
          <p:nvPr/>
        </p:nvSpPr>
        <p:spPr>
          <a:xfrm>
            <a:off x="872959" y="3333006"/>
            <a:ext cx="4818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MCP</a:t>
            </a:r>
            <a:b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Client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0"/>
          <p:cNvSpPr/>
          <p:nvPr/>
        </p:nvSpPr>
        <p:spPr>
          <a:xfrm>
            <a:off x="815326" y="4790331"/>
            <a:ext cx="5208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MCP</a:t>
            </a:r>
            <a:b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Server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0"/>
          <p:cNvSpPr/>
          <p:nvPr/>
        </p:nvSpPr>
        <p:spPr>
          <a:xfrm>
            <a:off x="1672576" y="4790331"/>
            <a:ext cx="5208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MCP</a:t>
            </a:r>
            <a:b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Server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0"/>
          <p:cNvSpPr/>
          <p:nvPr/>
        </p:nvSpPr>
        <p:spPr>
          <a:xfrm>
            <a:off x="4053826" y="3361581"/>
            <a:ext cx="5208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MCP</a:t>
            </a:r>
            <a:b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Server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0"/>
          <p:cNvSpPr/>
          <p:nvPr/>
        </p:nvSpPr>
        <p:spPr>
          <a:xfrm>
            <a:off x="3962403" y="4848225"/>
            <a:ext cx="703800" cy="495300"/>
          </a:xfrm>
          <a:prstGeom prst="rect">
            <a:avLst/>
          </a:prstGeom>
          <a:solidFill>
            <a:srgbClr val="A6A6A6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0"/>
          <p:cNvSpPr/>
          <p:nvPr/>
        </p:nvSpPr>
        <p:spPr>
          <a:xfrm>
            <a:off x="4105275" y="4980831"/>
            <a:ext cx="417900" cy="2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API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0"/>
          <p:cNvSpPr/>
          <p:nvPr/>
        </p:nvSpPr>
        <p:spPr>
          <a:xfrm>
            <a:off x="1692109" y="3333006"/>
            <a:ext cx="4818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MCP</a:t>
            </a:r>
            <a:b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Client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0"/>
          <p:cNvSpPr/>
          <p:nvPr/>
        </p:nvSpPr>
        <p:spPr>
          <a:xfrm>
            <a:off x="2530309" y="3333006"/>
            <a:ext cx="4818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MCP</a:t>
            </a:r>
            <a:b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Client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6" name="Google Shape;266;p10"/>
          <p:cNvCxnSpPr/>
          <p:nvPr/>
        </p:nvCxnSpPr>
        <p:spPr>
          <a:xfrm rot="5400000">
            <a:off x="816859" y="4271306"/>
            <a:ext cx="639300" cy="0"/>
          </a:xfrm>
          <a:prstGeom prst="straightConnector1">
            <a:avLst/>
          </a:prstGeom>
          <a:noFill/>
          <a:ln cap="flat" cmpd="sng" w="254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67" name="Google Shape;267;p10"/>
          <p:cNvSpPr/>
          <p:nvPr/>
        </p:nvSpPr>
        <p:spPr>
          <a:xfrm>
            <a:off x="1041259" y="3856405"/>
            <a:ext cx="190500" cy="190500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0"/>
          <p:cNvSpPr/>
          <p:nvPr/>
        </p:nvSpPr>
        <p:spPr>
          <a:xfrm rot="10800000">
            <a:off x="1041259" y="4495800"/>
            <a:ext cx="190500" cy="190500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9" name="Google Shape;269;p10"/>
          <p:cNvCxnSpPr/>
          <p:nvPr/>
        </p:nvCxnSpPr>
        <p:spPr>
          <a:xfrm rot="5400000">
            <a:off x="1671076" y="4234426"/>
            <a:ext cx="639300" cy="0"/>
          </a:xfrm>
          <a:prstGeom prst="straightConnector1">
            <a:avLst/>
          </a:prstGeom>
          <a:noFill/>
          <a:ln cap="flat" cmpd="sng" w="254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70" name="Google Shape;270;p10"/>
          <p:cNvSpPr/>
          <p:nvPr/>
        </p:nvSpPr>
        <p:spPr>
          <a:xfrm>
            <a:off x="1895475" y="3819525"/>
            <a:ext cx="190500" cy="190500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0"/>
          <p:cNvSpPr/>
          <p:nvPr/>
        </p:nvSpPr>
        <p:spPr>
          <a:xfrm rot="10800000">
            <a:off x="1895475" y="4458920"/>
            <a:ext cx="190500" cy="190500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72" name="Google Shape;272;p10"/>
          <p:cNvCxnSpPr/>
          <p:nvPr/>
        </p:nvCxnSpPr>
        <p:spPr>
          <a:xfrm>
            <a:off x="3207988" y="3538488"/>
            <a:ext cx="754500" cy="0"/>
          </a:xfrm>
          <a:prstGeom prst="straightConnector1">
            <a:avLst/>
          </a:prstGeom>
          <a:noFill/>
          <a:ln cap="flat" cmpd="sng" w="254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73" name="Google Shape;273;p10"/>
          <p:cNvSpPr/>
          <p:nvPr/>
        </p:nvSpPr>
        <p:spPr>
          <a:xfrm rot="-5400000">
            <a:off x="3112738" y="3443238"/>
            <a:ext cx="190500" cy="190500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0"/>
          <p:cNvSpPr/>
          <p:nvPr/>
        </p:nvSpPr>
        <p:spPr>
          <a:xfrm rot="5400000">
            <a:off x="3867150" y="3443238"/>
            <a:ext cx="190500" cy="190500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75" name="Google Shape;275;p10"/>
          <p:cNvCxnSpPr/>
          <p:nvPr/>
        </p:nvCxnSpPr>
        <p:spPr>
          <a:xfrm>
            <a:off x="2371725" y="5105400"/>
            <a:ext cx="1590600" cy="0"/>
          </a:xfrm>
          <a:prstGeom prst="straightConnector1">
            <a:avLst/>
          </a:prstGeom>
          <a:noFill/>
          <a:ln cap="flat" cmpd="sng" w="254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76" name="Google Shape;276;p10"/>
          <p:cNvSpPr/>
          <p:nvPr/>
        </p:nvSpPr>
        <p:spPr>
          <a:xfrm rot="-5400000">
            <a:off x="2276475" y="5010150"/>
            <a:ext cx="190500" cy="190500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0"/>
          <p:cNvSpPr/>
          <p:nvPr/>
        </p:nvSpPr>
        <p:spPr>
          <a:xfrm rot="5400000">
            <a:off x="3867150" y="5010150"/>
            <a:ext cx="190500" cy="190500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0"/>
          <p:cNvSpPr/>
          <p:nvPr/>
        </p:nvSpPr>
        <p:spPr>
          <a:xfrm>
            <a:off x="1181100" y="4203427"/>
            <a:ext cx="3873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Stdio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0"/>
          <p:cNvSpPr/>
          <p:nvPr/>
        </p:nvSpPr>
        <p:spPr>
          <a:xfrm>
            <a:off x="2057400" y="4184377"/>
            <a:ext cx="3873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Stdio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0"/>
          <p:cNvSpPr txBox="1"/>
          <p:nvPr/>
        </p:nvSpPr>
        <p:spPr>
          <a:xfrm>
            <a:off x="762000" y="6293400"/>
            <a:ext cx="219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7800"/>
                </a:solidFill>
              </a:rPr>
              <a:t>1. List Tools 2. Call Tool</a:t>
            </a:r>
            <a:endParaRPr b="1">
              <a:solidFill>
                <a:srgbClr val="FF78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1"/>
          <p:cNvSpPr/>
          <p:nvPr/>
        </p:nvSpPr>
        <p:spPr>
          <a:xfrm>
            <a:off x="800100" y="586160"/>
            <a:ext cx="100005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Two "Transport" mechanisms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1"/>
          <p:cNvSpPr/>
          <p:nvPr/>
        </p:nvSpPr>
        <p:spPr>
          <a:xfrm>
            <a:off x="800100" y="1109067"/>
            <a:ext cx="100005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..while Streamable HTTP uses HTTP (replaces the older SSE)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1"/>
          <p:cNvSpPr/>
          <p:nvPr/>
        </p:nvSpPr>
        <p:spPr>
          <a:xfrm>
            <a:off x="390528" y="1676400"/>
            <a:ext cx="3163500" cy="4482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1"/>
          <p:cNvSpPr/>
          <p:nvPr/>
        </p:nvSpPr>
        <p:spPr>
          <a:xfrm>
            <a:off x="3705222" y="1676400"/>
            <a:ext cx="1696500" cy="24843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1"/>
          <p:cNvSpPr/>
          <p:nvPr/>
        </p:nvSpPr>
        <p:spPr>
          <a:xfrm>
            <a:off x="3705222" y="4267200"/>
            <a:ext cx="1696500" cy="18921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1"/>
          <p:cNvSpPr/>
          <p:nvPr/>
        </p:nvSpPr>
        <p:spPr>
          <a:xfrm>
            <a:off x="581025" y="1900684"/>
            <a:ext cx="20835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Your computer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1"/>
          <p:cNvSpPr/>
          <p:nvPr/>
        </p:nvSpPr>
        <p:spPr>
          <a:xfrm>
            <a:off x="885825" y="2557909"/>
            <a:ext cx="20835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Host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1"/>
          <p:cNvSpPr/>
          <p:nvPr/>
        </p:nvSpPr>
        <p:spPr>
          <a:xfrm>
            <a:off x="3952875" y="1900684"/>
            <a:ext cx="12930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Remote server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1"/>
          <p:cNvSpPr/>
          <p:nvPr/>
        </p:nvSpPr>
        <p:spPr>
          <a:xfrm>
            <a:off x="3886200" y="4386709"/>
            <a:ext cx="12930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Remote server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1"/>
          <p:cNvSpPr/>
          <p:nvPr/>
        </p:nvSpPr>
        <p:spPr>
          <a:xfrm>
            <a:off x="552445" y="2428875"/>
            <a:ext cx="2874000" cy="1731900"/>
          </a:xfrm>
          <a:prstGeom prst="rect">
            <a:avLst/>
          </a:prstGeom>
          <a:solidFill>
            <a:srgbClr val="00BFFF">
              <a:alpha val="34900"/>
            </a:srgbClr>
          </a:solidFill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1"/>
          <p:cNvSpPr/>
          <p:nvPr/>
        </p:nvSpPr>
        <p:spPr>
          <a:xfrm>
            <a:off x="800097" y="3133725"/>
            <a:ext cx="741600" cy="7836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1"/>
          <p:cNvSpPr/>
          <p:nvPr/>
        </p:nvSpPr>
        <p:spPr>
          <a:xfrm>
            <a:off x="762000" y="4591050"/>
            <a:ext cx="741600" cy="78360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1"/>
          <p:cNvSpPr/>
          <p:nvPr/>
        </p:nvSpPr>
        <p:spPr>
          <a:xfrm>
            <a:off x="1619250" y="4591050"/>
            <a:ext cx="741600" cy="78360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1"/>
          <p:cNvSpPr/>
          <p:nvPr/>
        </p:nvSpPr>
        <p:spPr>
          <a:xfrm>
            <a:off x="3962403" y="3162300"/>
            <a:ext cx="741600" cy="78360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1"/>
          <p:cNvSpPr/>
          <p:nvPr/>
        </p:nvSpPr>
        <p:spPr>
          <a:xfrm>
            <a:off x="1619250" y="3133725"/>
            <a:ext cx="741600" cy="7836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1"/>
          <p:cNvSpPr/>
          <p:nvPr/>
        </p:nvSpPr>
        <p:spPr>
          <a:xfrm>
            <a:off x="2457445" y="3133725"/>
            <a:ext cx="741600" cy="7836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1"/>
          <p:cNvSpPr/>
          <p:nvPr/>
        </p:nvSpPr>
        <p:spPr>
          <a:xfrm>
            <a:off x="872959" y="3333006"/>
            <a:ext cx="4818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MCP</a:t>
            </a:r>
            <a:b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Client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1"/>
          <p:cNvSpPr/>
          <p:nvPr/>
        </p:nvSpPr>
        <p:spPr>
          <a:xfrm>
            <a:off x="815326" y="4790331"/>
            <a:ext cx="5208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MCP</a:t>
            </a:r>
            <a:b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Server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1"/>
          <p:cNvSpPr/>
          <p:nvPr/>
        </p:nvSpPr>
        <p:spPr>
          <a:xfrm>
            <a:off x="1672576" y="4790331"/>
            <a:ext cx="5208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MCP</a:t>
            </a:r>
            <a:b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Server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1"/>
          <p:cNvSpPr/>
          <p:nvPr/>
        </p:nvSpPr>
        <p:spPr>
          <a:xfrm>
            <a:off x="4053826" y="3361581"/>
            <a:ext cx="5208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MCP</a:t>
            </a:r>
            <a:b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Server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1"/>
          <p:cNvSpPr/>
          <p:nvPr/>
        </p:nvSpPr>
        <p:spPr>
          <a:xfrm>
            <a:off x="3962403" y="4848225"/>
            <a:ext cx="703800" cy="495300"/>
          </a:xfrm>
          <a:prstGeom prst="rect">
            <a:avLst/>
          </a:prstGeom>
          <a:solidFill>
            <a:srgbClr val="A6A6A6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1"/>
          <p:cNvSpPr/>
          <p:nvPr/>
        </p:nvSpPr>
        <p:spPr>
          <a:xfrm>
            <a:off x="4105275" y="4980831"/>
            <a:ext cx="417900" cy="2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API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1"/>
          <p:cNvSpPr/>
          <p:nvPr/>
        </p:nvSpPr>
        <p:spPr>
          <a:xfrm>
            <a:off x="1692109" y="3333006"/>
            <a:ext cx="4818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MCP</a:t>
            </a:r>
            <a:b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Client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1"/>
          <p:cNvSpPr/>
          <p:nvPr/>
        </p:nvSpPr>
        <p:spPr>
          <a:xfrm>
            <a:off x="2530309" y="3333006"/>
            <a:ext cx="4818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MCP</a:t>
            </a:r>
            <a:b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Client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0" name="Google Shape;310;p11"/>
          <p:cNvCxnSpPr/>
          <p:nvPr/>
        </p:nvCxnSpPr>
        <p:spPr>
          <a:xfrm rot="5400000">
            <a:off x="816859" y="4271306"/>
            <a:ext cx="639300" cy="0"/>
          </a:xfrm>
          <a:prstGeom prst="straightConnector1">
            <a:avLst/>
          </a:prstGeom>
          <a:noFill/>
          <a:ln cap="flat" cmpd="sng" w="254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11" name="Google Shape;311;p11"/>
          <p:cNvSpPr/>
          <p:nvPr/>
        </p:nvSpPr>
        <p:spPr>
          <a:xfrm>
            <a:off x="1041259" y="3856405"/>
            <a:ext cx="190500" cy="190500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1"/>
          <p:cNvSpPr/>
          <p:nvPr/>
        </p:nvSpPr>
        <p:spPr>
          <a:xfrm rot="10800000">
            <a:off x="1041259" y="4495800"/>
            <a:ext cx="190500" cy="190500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13" name="Google Shape;313;p11"/>
          <p:cNvCxnSpPr/>
          <p:nvPr/>
        </p:nvCxnSpPr>
        <p:spPr>
          <a:xfrm rot="5400000">
            <a:off x="1671076" y="4234426"/>
            <a:ext cx="639300" cy="0"/>
          </a:xfrm>
          <a:prstGeom prst="straightConnector1">
            <a:avLst/>
          </a:prstGeom>
          <a:noFill/>
          <a:ln cap="flat" cmpd="sng" w="254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14" name="Google Shape;314;p11"/>
          <p:cNvSpPr/>
          <p:nvPr/>
        </p:nvSpPr>
        <p:spPr>
          <a:xfrm>
            <a:off x="1895475" y="3819525"/>
            <a:ext cx="190500" cy="190500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1"/>
          <p:cNvSpPr/>
          <p:nvPr/>
        </p:nvSpPr>
        <p:spPr>
          <a:xfrm rot="10800000">
            <a:off x="1895475" y="4458920"/>
            <a:ext cx="190500" cy="190500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16" name="Google Shape;316;p11"/>
          <p:cNvCxnSpPr/>
          <p:nvPr/>
        </p:nvCxnSpPr>
        <p:spPr>
          <a:xfrm>
            <a:off x="3207988" y="3538488"/>
            <a:ext cx="754500" cy="0"/>
          </a:xfrm>
          <a:prstGeom prst="straightConnector1">
            <a:avLst/>
          </a:prstGeom>
          <a:noFill/>
          <a:ln cap="flat" cmpd="sng" w="254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17" name="Google Shape;317;p11"/>
          <p:cNvSpPr/>
          <p:nvPr/>
        </p:nvSpPr>
        <p:spPr>
          <a:xfrm rot="-5400000">
            <a:off x="3112738" y="3443238"/>
            <a:ext cx="190500" cy="190500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1"/>
          <p:cNvSpPr/>
          <p:nvPr/>
        </p:nvSpPr>
        <p:spPr>
          <a:xfrm rot="5400000">
            <a:off x="3867150" y="3443238"/>
            <a:ext cx="190500" cy="190500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19" name="Google Shape;319;p11"/>
          <p:cNvCxnSpPr/>
          <p:nvPr/>
        </p:nvCxnSpPr>
        <p:spPr>
          <a:xfrm>
            <a:off x="2371725" y="5105400"/>
            <a:ext cx="1590600" cy="0"/>
          </a:xfrm>
          <a:prstGeom prst="straightConnector1">
            <a:avLst/>
          </a:prstGeom>
          <a:noFill/>
          <a:ln cap="flat" cmpd="sng" w="254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20" name="Google Shape;320;p11"/>
          <p:cNvSpPr/>
          <p:nvPr/>
        </p:nvSpPr>
        <p:spPr>
          <a:xfrm rot="-5400000">
            <a:off x="2276475" y="5010150"/>
            <a:ext cx="190500" cy="190500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1"/>
          <p:cNvSpPr/>
          <p:nvPr/>
        </p:nvSpPr>
        <p:spPr>
          <a:xfrm rot="5400000">
            <a:off x="3867150" y="5010150"/>
            <a:ext cx="190500" cy="190500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1"/>
          <p:cNvSpPr/>
          <p:nvPr/>
        </p:nvSpPr>
        <p:spPr>
          <a:xfrm>
            <a:off x="1181100" y="4203427"/>
            <a:ext cx="3873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Stdio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1"/>
          <p:cNvSpPr/>
          <p:nvPr/>
        </p:nvSpPr>
        <p:spPr>
          <a:xfrm>
            <a:off x="2057400" y="4184377"/>
            <a:ext cx="3873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Stdio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1"/>
          <p:cNvSpPr/>
          <p:nvPr/>
        </p:nvSpPr>
        <p:spPr>
          <a:xfrm>
            <a:off x="3474720" y="2777490"/>
            <a:ext cx="189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Streamable HTTP</a:t>
            </a:r>
            <a:endParaRPr i="0" sz="1125" u="none" cap="none" strike="noStrike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325" name="Google Shape;325;p11"/>
          <p:cNvSpPr txBox="1"/>
          <p:nvPr/>
        </p:nvSpPr>
        <p:spPr>
          <a:xfrm>
            <a:off x="762000" y="6293400"/>
            <a:ext cx="219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7800"/>
                </a:solidFill>
              </a:rPr>
              <a:t>1. List Tools 2. Call Tool</a:t>
            </a:r>
            <a:endParaRPr b="1">
              <a:solidFill>
                <a:srgbClr val="FF78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2"/>
          <p:cNvSpPr txBox="1"/>
          <p:nvPr/>
        </p:nvSpPr>
        <p:spPr>
          <a:xfrm>
            <a:off x="573024" y="582930"/>
            <a:ext cx="90708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Connecting to MCP servers</a:t>
            </a:r>
            <a:endParaRPr sz="330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332" name="Google Shape;332;p12"/>
          <p:cNvSpPr txBox="1"/>
          <p:nvPr/>
        </p:nvSpPr>
        <p:spPr>
          <a:xfrm>
            <a:off x="585216" y="1152144"/>
            <a:ext cx="5730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FFF"/>
                </a:solidFill>
                <a:latin typeface="Montserrat"/>
                <a:ea typeface="Montserrat"/>
                <a:cs typeface="Montserrat"/>
                <a:sym typeface="Montserrat"/>
              </a:rPr>
              <a:t>A server is just a set of parameters</a:t>
            </a:r>
            <a:endParaRPr sz="1800">
              <a:solidFill>
                <a:srgbClr val="00B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3" name="Google Shape;333;p12"/>
          <p:cNvSpPr txBox="1"/>
          <p:nvPr/>
        </p:nvSpPr>
        <p:spPr>
          <a:xfrm>
            <a:off x="182880" y="2407158"/>
            <a:ext cx="1219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C7C7C7"/>
                </a:solidFill>
                <a:latin typeface="Roboto Slab"/>
                <a:ea typeface="Roboto Slab"/>
                <a:cs typeface="Roboto Slab"/>
                <a:sym typeface="Roboto Slab"/>
              </a:rPr>
              <a:t>fetch</a:t>
            </a:r>
            <a:endParaRPr sz="1300">
              <a:solidFill>
                <a:srgbClr val="C7C7C7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334" name="Google Shape;334;p12"/>
          <p:cNvSpPr/>
          <p:nvPr/>
        </p:nvSpPr>
        <p:spPr>
          <a:xfrm>
            <a:off x="1584960" y="2297430"/>
            <a:ext cx="4755000" cy="480000"/>
          </a:xfrm>
          <a:prstGeom prst="roundRect">
            <a:avLst>
              <a:gd fmla="val 16667" name="adj"/>
            </a:avLst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D9D9D9"/>
                </a:solidFill>
                <a:latin typeface="Roboto Mono"/>
                <a:ea typeface="Roboto Mono"/>
                <a:cs typeface="Roboto Mono"/>
                <a:sym typeface="Roboto Mono"/>
              </a:rPr>
              <a:t>{"command": "uvx", "args": ["mcp-server-fetch"]}</a:t>
            </a:r>
            <a:endParaRPr sz="1050">
              <a:solidFill>
                <a:srgbClr val="D9D9D9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35" name="Google Shape;335;p12"/>
          <p:cNvSpPr txBox="1"/>
          <p:nvPr/>
        </p:nvSpPr>
        <p:spPr>
          <a:xfrm>
            <a:off x="182880" y="3024378"/>
            <a:ext cx="1219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C7C7C7"/>
                </a:solidFill>
                <a:latin typeface="Roboto Slab"/>
                <a:ea typeface="Roboto Slab"/>
                <a:cs typeface="Roboto Slab"/>
                <a:sym typeface="Roboto Slab"/>
              </a:rPr>
              <a:t>playwright</a:t>
            </a:r>
            <a:endParaRPr sz="1300">
              <a:solidFill>
                <a:srgbClr val="C7C7C7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336" name="Google Shape;336;p12"/>
          <p:cNvSpPr/>
          <p:nvPr/>
        </p:nvSpPr>
        <p:spPr>
          <a:xfrm>
            <a:off x="1584960" y="2914650"/>
            <a:ext cx="4755000" cy="480000"/>
          </a:xfrm>
          <a:prstGeom prst="roundRect">
            <a:avLst>
              <a:gd fmla="val 16667" name="adj"/>
            </a:avLst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D9D9D9"/>
                </a:solidFill>
                <a:latin typeface="Roboto Mono"/>
                <a:ea typeface="Roboto Mono"/>
                <a:cs typeface="Roboto Mono"/>
                <a:sym typeface="Roboto Mono"/>
              </a:rPr>
              <a:t>{"command": "npx", "args": ["@playwright/mcp@latest"]}</a:t>
            </a:r>
            <a:endParaRPr sz="1050">
              <a:solidFill>
                <a:srgbClr val="D9D9D9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37" name="Google Shape;337;p12"/>
          <p:cNvSpPr txBox="1"/>
          <p:nvPr/>
        </p:nvSpPr>
        <p:spPr>
          <a:xfrm>
            <a:off x="182880" y="4601718"/>
            <a:ext cx="1219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C7C7C7"/>
                </a:solidFill>
                <a:latin typeface="Roboto Slab"/>
                <a:ea typeface="Roboto Slab"/>
                <a:cs typeface="Roboto Slab"/>
                <a:sym typeface="Roboto Slab"/>
              </a:rPr>
              <a:t>context7</a:t>
            </a:r>
            <a:endParaRPr sz="1300">
              <a:solidFill>
                <a:srgbClr val="C7C7C7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338" name="Google Shape;338;p12"/>
          <p:cNvSpPr/>
          <p:nvPr/>
        </p:nvSpPr>
        <p:spPr>
          <a:xfrm>
            <a:off x="1584960" y="4491990"/>
            <a:ext cx="4755000" cy="480000"/>
          </a:xfrm>
          <a:prstGeom prst="roundRect">
            <a:avLst>
              <a:gd fmla="val 16667" name="adj"/>
            </a:avLst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D9D9D9"/>
                </a:solidFill>
                <a:latin typeface="Roboto Mono"/>
                <a:ea typeface="Roboto Mono"/>
                <a:cs typeface="Roboto Mono"/>
                <a:sym typeface="Roboto Mono"/>
              </a:rPr>
              <a:t>{"url": "https://mcp.context7.com/mcp", "timeout": 60}</a:t>
            </a:r>
            <a:endParaRPr sz="1050">
              <a:solidFill>
                <a:srgbClr val="D9D9D9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grpSp>
        <p:nvGrpSpPr>
          <p:cNvPr id="339" name="Google Shape;339;p12"/>
          <p:cNvGrpSpPr/>
          <p:nvPr/>
        </p:nvGrpSpPr>
        <p:grpSpPr>
          <a:xfrm>
            <a:off x="871728" y="1742313"/>
            <a:ext cx="5651052" cy="390144"/>
            <a:chOff x="871728" y="1742313"/>
            <a:chExt cx="5651052" cy="390144"/>
          </a:xfrm>
        </p:grpSpPr>
        <p:sp>
          <p:nvSpPr>
            <p:cNvPr id="340" name="Google Shape;340;p12"/>
            <p:cNvSpPr txBox="1"/>
            <p:nvPr/>
          </p:nvSpPr>
          <p:spPr>
            <a:xfrm>
              <a:off x="1402080" y="1783080"/>
              <a:ext cx="5120700" cy="30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90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STDIO</a:t>
              </a:r>
              <a:r>
                <a:rPr lang="en-US" sz="150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 a local process to spawn</a:t>
              </a:r>
              <a:endParaRPr sz="15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341" name="Google Shape;341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71728" y="1742313"/>
              <a:ext cx="390144" cy="39014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42" name="Google Shape;342;p12"/>
          <p:cNvGrpSpPr/>
          <p:nvPr/>
        </p:nvGrpSpPr>
        <p:grpSpPr>
          <a:xfrm>
            <a:off x="871728" y="3936873"/>
            <a:ext cx="5651052" cy="390144"/>
            <a:chOff x="871728" y="3936873"/>
            <a:chExt cx="5651052" cy="390144"/>
          </a:xfrm>
        </p:grpSpPr>
        <p:sp>
          <p:nvSpPr>
            <p:cNvPr id="343" name="Google Shape;343;p12"/>
            <p:cNvSpPr txBox="1"/>
            <p:nvPr/>
          </p:nvSpPr>
          <p:spPr>
            <a:xfrm>
              <a:off x="1402080" y="3977640"/>
              <a:ext cx="5120700" cy="30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900">
                  <a:solidFill>
                    <a:srgbClr val="FFD7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Streamable HTTP</a:t>
              </a:r>
              <a:r>
                <a:rPr lang="en-US" sz="150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 a remote URL</a:t>
              </a:r>
              <a:endParaRPr sz="15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344" name="Google Shape;344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71728" y="3936873"/>
              <a:ext cx="390144" cy="39014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3"/>
          <p:cNvSpPr txBox="1"/>
          <p:nvPr/>
        </p:nvSpPr>
        <p:spPr>
          <a:xfrm>
            <a:off x="573024" y="582930"/>
            <a:ext cx="90708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Spawning a local server</a:t>
            </a:r>
            <a:endParaRPr sz="330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351" name="Google Shape;351;p13"/>
          <p:cNvSpPr txBox="1"/>
          <p:nvPr/>
        </p:nvSpPr>
        <p:spPr>
          <a:xfrm>
            <a:off x="585216" y="1152144"/>
            <a:ext cx="5730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FFF"/>
                </a:solidFill>
                <a:latin typeface="Montserrat"/>
                <a:ea typeface="Montserrat"/>
                <a:cs typeface="Montserrat"/>
                <a:sym typeface="Montserrat"/>
              </a:rPr>
              <a:t>The command tells the client how to launch it</a:t>
            </a:r>
            <a:endParaRPr sz="1800">
              <a:solidFill>
                <a:srgbClr val="00B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352" name="Google Shape;352;p13"/>
          <p:cNvGrpSpPr/>
          <p:nvPr/>
        </p:nvGrpSpPr>
        <p:grpSpPr>
          <a:xfrm>
            <a:off x="890016" y="2125980"/>
            <a:ext cx="5510664" cy="617100"/>
            <a:chOff x="890016" y="2125980"/>
            <a:chExt cx="5510664" cy="617100"/>
          </a:xfrm>
        </p:grpSpPr>
        <p:sp>
          <p:nvSpPr>
            <p:cNvPr id="353" name="Google Shape;353;p13"/>
            <p:cNvSpPr txBox="1"/>
            <p:nvPr/>
          </p:nvSpPr>
          <p:spPr>
            <a:xfrm>
              <a:off x="1402080" y="212598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uvx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  for Python MCP servers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354" name="Google Shape;354;p1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90016" y="2189226"/>
              <a:ext cx="353568" cy="35356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55" name="Google Shape;355;p13"/>
          <p:cNvGrpSpPr/>
          <p:nvPr/>
        </p:nvGrpSpPr>
        <p:grpSpPr>
          <a:xfrm>
            <a:off x="890016" y="3223260"/>
            <a:ext cx="5510664" cy="617100"/>
            <a:chOff x="890016" y="3223260"/>
            <a:chExt cx="5510664" cy="617100"/>
          </a:xfrm>
        </p:grpSpPr>
        <p:sp>
          <p:nvSpPr>
            <p:cNvPr id="356" name="Google Shape;356;p13"/>
            <p:cNvSpPr txBox="1"/>
            <p:nvPr/>
          </p:nvSpPr>
          <p:spPr>
            <a:xfrm>
              <a:off x="1402080" y="322326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npx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  for Node and JavaScript servers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357" name="Google Shape;357;p1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90016" y="3286506"/>
              <a:ext cx="353568" cy="35356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58" name="Google Shape;358;p13"/>
          <p:cNvGrpSpPr/>
          <p:nvPr/>
        </p:nvGrpSpPr>
        <p:grpSpPr>
          <a:xfrm>
            <a:off x="890016" y="4320540"/>
            <a:ext cx="5510664" cy="617100"/>
            <a:chOff x="890016" y="4320540"/>
            <a:chExt cx="5510664" cy="617100"/>
          </a:xfrm>
        </p:grpSpPr>
        <p:sp>
          <p:nvSpPr>
            <p:cNvPr id="359" name="Google Shape;359;p13"/>
            <p:cNvSpPr txBox="1"/>
            <p:nvPr/>
          </p:nvSpPr>
          <p:spPr>
            <a:xfrm>
              <a:off x="1402080" y="432054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docker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  for servers packaged as a container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360" name="Google Shape;360;p1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90016" y="4383786"/>
              <a:ext cx="353568" cy="35356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4"/>
          <p:cNvSpPr/>
          <p:nvPr/>
        </p:nvSpPr>
        <p:spPr>
          <a:xfrm>
            <a:off x="800100" y="586160"/>
            <a:ext cx="10000506" cy="476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Making an MCP Server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4"/>
          <p:cNvSpPr/>
          <p:nvPr/>
        </p:nvSpPr>
        <p:spPr>
          <a:xfrm>
            <a:off x="571500" y="1537692"/>
            <a:ext cx="4575721" cy="2998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FF7800"/>
                </a:solidFill>
                <a:latin typeface="Arial"/>
                <a:ea typeface="Arial"/>
                <a:cs typeface="Arial"/>
                <a:sym typeface="Arial"/>
              </a:rPr>
              <a:t>Why make an MCP Server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4"/>
          <p:cNvSpPr/>
          <p:nvPr/>
        </p:nvSpPr>
        <p:spPr>
          <a:xfrm>
            <a:off x="571500" y="4124410"/>
            <a:ext cx="4808637" cy="2998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FFD700"/>
                </a:solidFill>
                <a:latin typeface="Arial"/>
                <a:ea typeface="Arial"/>
                <a:cs typeface="Arial"/>
                <a:sym typeface="Arial"/>
              </a:rPr>
              <a:t>Reasons not to make an MCP Server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4"/>
          <p:cNvSpPr/>
          <p:nvPr/>
        </p:nvSpPr>
        <p:spPr>
          <a:xfrm>
            <a:off x="990600" y="2151534"/>
            <a:ext cx="6371927" cy="325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7800"/>
                </a:solidFill>
                <a:latin typeface="Roboto Slab"/>
                <a:ea typeface="Roboto Slab"/>
                <a:cs typeface="Roboto Slab"/>
                <a:sym typeface="Roboto Slab"/>
              </a:rPr>
              <a:t>Allow others to incorporate tool</a:t>
            </a:r>
            <a:r>
              <a:rPr lang="en-US" sz="1800">
                <a:solidFill>
                  <a:srgbClr val="FF7800"/>
                </a:solidFill>
                <a:latin typeface="Roboto Slab"/>
                <a:ea typeface="Roboto Slab"/>
                <a:cs typeface="Roboto Slab"/>
                <a:sym typeface="Roboto Slab"/>
              </a:rPr>
              <a:t>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4"/>
          <p:cNvSpPr/>
          <p:nvPr/>
        </p:nvSpPr>
        <p:spPr>
          <a:xfrm>
            <a:off x="990600" y="2761134"/>
            <a:ext cx="6081713" cy="325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7800"/>
                </a:solidFill>
                <a:latin typeface="Roboto Slab"/>
                <a:ea typeface="Roboto Slab"/>
                <a:cs typeface="Roboto Slab"/>
                <a:sym typeface="Roboto Slab"/>
              </a:rPr>
              <a:t>Consistently incorporate all our MCP Servers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4"/>
          <p:cNvSpPr/>
          <p:nvPr/>
        </p:nvSpPr>
        <p:spPr>
          <a:xfrm>
            <a:off x="990600" y="3370734"/>
            <a:ext cx="6081713" cy="325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7800"/>
                </a:solidFill>
                <a:latin typeface="Roboto Slab"/>
                <a:ea typeface="Roboto Slab"/>
                <a:cs typeface="Roboto Slab"/>
                <a:sym typeface="Roboto Slab"/>
              </a:rPr>
              <a:t>Understand the plumbing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4"/>
          <p:cNvSpPr/>
          <p:nvPr/>
        </p:nvSpPr>
        <p:spPr>
          <a:xfrm>
            <a:off x="990600" y="4885209"/>
            <a:ext cx="6462713" cy="975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D700"/>
                </a:solidFill>
                <a:latin typeface="Roboto Slab"/>
                <a:ea typeface="Roboto Slab"/>
                <a:cs typeface="Roboto Slab"/>
                <a:sym typeface="Roboto Slab"/>
              </a:rPr>
              <a:t>If it's only for us, then we could just make tools -</a:t>
            </a:r>
            <a:br>
              <a:rPr b="0" i="0" lang="en-US" sz="1800" u="none" cap="none" strike="noStrike">
                <a:solidFill>
                  <a:srgbClr val="FFD700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0" i="0" lang="en-US" sz="1800" u="none" cap="none" strike="noStrike">
                <a:solidFill>
                  <a:srgbClr val="FFD700"/>
                </a:solidFill>
                <a:latin typeface="Roboto Slab"/>
                <a:ea typeface="Roboto Slab"/>
                <a:cs typeface="Roboto Slab"/>
                <a:sym typeface="Roboto Slab"/>
              </a:rPr>
              <a:t>the @function_tool decorator can make any function</a:t>
            </a:r>
            <a:br>
              <a:rPr b="0" i="0" lang="en-US" sz="1800" u="none" cap="none" strike="noStrike">
                <a:solidFill>
                  <a:srgbClr val="FFD700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0" i="0" lang="en-US" sz="1800" u="none" cap="none" strike="noStrike">
                <a:solidFill>
                  <a:srgbClr val="FFD700"/>
                </a:solidFill>
                <a:latin typeface="Roboto Slab"/>
                <a:ea typeface="Roboto Slab"/>
                <a:cs typeface="Roboto Slab"/>
                <a:sym typeface="Roboto Slab"/>
              </a:rPr>
              <a:t>into a tool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3" name="Google Shape;373;p14"/>
          <p:cNvCxnSpPr/>
          <p:nvPr/>
        </p:nvCxnSpPr>
        <p:spPr>
          <a:xfrm rot="5400000">
            <a:off x="-150228" y="2973542"/>
            <a:ext cx="1606789" cy="0"/>
          </a:xfrm>
          <a:prstGeom prst="straightConnector1">
            <a:avLst/>
          </a:prstGeom>
          <a:noFill/>
          <a:ln cap="flat" cmpd="sng" w="76200">
            <a:solidFill>
              <a:srgbClr val="FF78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74" name="Google Shape;374;p14"/>
          <p:cNvCxnSpPr/>
          <p:nvPr/>
        </p:nvCxnSpPr>
        <p:spPr>
          <a:xfrm rot="5400000">
            <a:off x="-146169" y="5584945"/>
            <a:ext cx="1606789" cy="0"/>
          </a:xfrm>
          <a:prstGeom prst="straightConnector1">
            <a:avLst/>
          </a:prstGeom>
          <a:noFill/>
          <a:ln cap="flat" cmpd="sng" w="762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5"/>
          <p:cNvSpPr/>
          <p:nvPr/>
        </p:nvSpPr>
        <p:spPr>
          <a:xfrm>
            <a:off x="257180" y="5695950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5"/>
          <p:cNvSpPr/>
          <p:nvPr/>
        </p:nvSpPr>
        <p:spPr>
          <a:xfrm>
            <a:off x="257180" y="246697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5"/>
          <p:cNvSpPr/>
          <p:nvPr/>
        </p:nvSpPr>
        <p:spPr>
          <a:xfrm>
            <a:off x="257180" y="461962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5"/>
          <p:cNvSpPr/>
          <p:nvPr/>
        </p:nvSpPr>
        <p:spPr>
          <a:xfrm>
            <a:off x="257180" y="1390650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5"/>
          <p:cNvSpPr/>
          <p:nvPr/>
        </p:nvSpPr>
        <p:spPr>
          <a:xfrm>
            <a:off x="257180" y="3543300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5"/>
          <p:cNvSpPr/>
          <p:nvPr/>
        </p:nvSpPr>
        <p:spPr>
          <a:xfrm>
            <a:off x="257180" y="31432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5"/>
          <p:cNvSpPr/>
          <p:nvPr/>
        </p:nvSpPr>
        <p:spPr>
          <a:xfrm>
            <a:off x="361950" y="575369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1: Foundations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5"/>
          <p:cNvSpPr/>
          <p:nvPr/>
        </p:nvSpPr>
        <p:spPr>
          <a:xfrm>
            <a:off x="361950" y="252472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4: LangGraph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5"/>
          <p:cNvSpPr/>
          <p:nvPr/>
        </p:nvSpPr>
        <p:spPr>
          <a:xfrm>
            <a:off x="361950" y="467737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2: OpenAI Agents SDK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5"/>
          <p:cNvSpPr/>
          <p:nvPr/>
        </p:nvSpPr>
        <p:spPr>
          <a:xfrm>
            <a:off x="361950" y="144839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5: Agent Frameworks</a:t>
            </a:r>
            <a:endParaRPr i="0" sz="975" u="none" cap="none" strike="noStrike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390" name="Google Shape;390;p15"/>
          <p:cNvSpPr/>
          <p:nvPr/>
        </p:nvSpPr>
        <p:spPr>
          <a:xfrm>
            <a:off x="361950" y="360104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3: CrewAI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5"/>
          <p:cNvSpPr/>
          <p:nvPr/>
        </p:nvSpPr>
        <p:spPr>
          <a:xfrm>
            <a:off x="361950" y="37207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6: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5"/>
          <p:cNvSpPr/>
          <p:nvPr/>
        </p:nvSpPr>
        <p:spPr>
          <a:xfrm>
            <a:off x="447680" y="6010275"/>
            <a:ext cx="1002969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5"/>
          <p:cNvSpPr/>
          <p:nvPr/>
        </p:nvSpPr>
        <p:spPr>
          <a:xfrm>
            <a:off x="447675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Make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Workflow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5"/>
          <p:cNvSpPr/>
          <p:nvPr/>
        </p:nvSpPr>
        <p:spPr>
          <a:xfrm>
            <a:off x="447680" y="2781300"/>
            <a:ext cx="100296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5"/>
          <p:cNvSpPr/>
          <p:nvPr/>
        </p:nvSpPr>
        <p:spPr>
          <a:xfrm>
            <a:off x="447675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LangChain</a:t>
            </a:r>
            <a:br>
              <a:rPr lang="en-US" sz="1125"/>
            </a:br>
            <a:r>
              <a:rPr lang="en-US" sz="1125"/>
              <a:t>Core</a:t>
            </a:r>
            <a:endParaRPr i="0" sz="1125" u="none" cap="none" strike="noStrike"/>
          </a:p>
        </p:txBody>
      </p:sp>
      <p:sp>
        <p:nvSpPr>
          <p:cNvPr id="396" name="Google Shape;396;p15"/>
          <p:cNvSpPr/>
          <p:nvPr/>
        </p:nvSpPr>
        <p:spPr>
          <a:xfrm>
            <a:off x="447680" y="4933950"/>
            <a:ext cx="100296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5"/>
          <p:cNvSpPr/>
          <p:nvPr/>
        </p:nvSpPr>
        <p:spPr>
          <a:xfrm>
            <a:off x="447675" y="50077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OpenAI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SDK 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5"/>
          <p:cNvSpPr/>
          <p:nvPr/>
        </p:nvSpPr>
        <p:spPr>
          <a:xfrm>
            <a:off x="447680" y="1704975"/>
            <a:ext cx="100296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5"/>
          <p:cNvSpPr/>
          <p:nvPr/>
        </p:nvSpPr>
        <p:spPr>
          <a:xfrm>
            <a:off x="447675" y="17788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Google ADK</a:t>
            </a:r>
            <a:br>
              <a:rPr lang="en-US" sz="1125"/>
            </a:br>
            <a:r>
              <a:rPr lang="en-US" sz="1125"/>
              <a:t>and A2A</a:t>
            </a:r>
            <a:endParaRPr i="0" sz="1125" u="none" cap="none" strike="noStrike"/>
          </a:p>
        </p:txBody>
      </p:sp>
      <p:sp>
        <p:nvSpPr>
          <p:cNvPr id="400" name="Google Shape;400;p15"/>
          <p:cNvSpPr/>
          <p:nvPr/>
        </p:nvSpPr>
        <p:spPr>
          <a:xfrm>
            <a:off x="447680" y="3857625"/>
            <a:ext cx="1002969" cy="610231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5"/>
          <p:cNvSpPr/>
          <p:nvPr/>
        </p:nvSpPr>
        <p:spPr>
          <a:xfrm>
            <a:off x="447675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Crew AI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5"/>
          <p:cNvSpPr/>
          <p:nvPr/>
        </p:nvSpPr>
        <p:spPr>
          <a:xfrm>
            <a:off x="447680" y="628650"/>
            <a:ext cx="1002969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5"/>
          <p:cNvSpPr/>
          <p:nvPr/>
        </p:nvSpPr>
        <p:spPr>
          <a:xfrm>
            <a:off x="447675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5"/>
          <p:cNvSpPr/>
          <p:nvPr/>
        </p:nvSpPr>
        <p:spPr>
          <a:xfrm>
            <a:off x="1562097" y="6010275"/>
            <a:ext cx="1002982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5"/>
          <p:cNvSpPr/>
          <p:nvPr/>
        </p:nvSpPr>
        <p:spPr>
          <a:xfrm>
            <a:off x="1562100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Agents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Patterns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5"/>
          <p:cNvSpPr/>
          <p:nvPr/>
        </p:nvSpPr>
        <p:spPr>
          <a:xfrm>
            <a:off x="1562097" y="2781300"/>
            <a:ext cx="1002982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5"/>
          <p:cNvSpPr/>
          <p:nvPr/>
        </p:nvSpPr>
        <p:spPr>
          <a:xfrm>
            <a:off x="1562100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LangGraph</a:t>
            </a:r>
            <a:endParaRPr i="0" sz="1125" u="none" cap="none" strike="noStrike"/>
          </a:p>
        </p:txBody>
      </p:sp>
      <p:sp>
        <p:nvSpPr>
          <p:cNvPr id="408" name="Google Shape;408;p15"/>
          <p:cNvSpPr/>
          <p:nvPr/>
        </p:nvSpPr>
        <p:spPr>
          <a:xfrm>
            <a:off x="1562097" y="4933950"/>
            <a:ext cx="1002982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5"/>
          <p:cNvSpPr/>
          <p:nvPr/>
        </p:nvSpPr>
        <p:spPr>
          <a:xfrm>
            <a:off x="15621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2: an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5"/>
          <p:cNvSpPr/>
          <p:nvPr/>
        </p:nvSpPr>
        <p:spPr>
          <a:xfrm>
            <a:off x="1562097" y="1704975"/>
            <a:ext cx="1002982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5"/>
          <p:cNvSpPr/>
          <p:nvPr/>
        </p:nvSpPr>
        <p:spPr>
          <a:xfrm>
            <a:off x="1562100" y="17788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Strands and</a:t>
            </a:r>
            <a:br>
              <a:rPr lang="en-US" sz="1125"/>
            </a:br>
            <a:r>
              <a:rPr lang="en-US" sz="1125"/>
              <a:t>Pydantic AI</a:t>
            </a:r>
            <a:endParaRPr i="0" sz="1125" u="none" cap="none" strike="noStrike"/>
          </a:p>
        </p:txBody>
      </p:sp>
      <p:sp>
        <p:nvSpPr>
          <p:cNvPr id="412" name="Google Shape;412;p15"/>
          <p:cNvSpPr/>
          <p:nvPr/>
        </p:nvSpPr>
        <p:spPr>
          <a:xfrm>
            <a:off x="1562097" y="3857625"/>
            <a:ext cx="1002982" cy="610231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5"/>
          <p:cNvSpPr/>
          <p:nvPr/>
        </p:nvSpPr>
        <p:spPr>
          <a:xfrm>
            <a:off x="1562100" y="400766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Build a Crew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5"/>
          <p:cNvSpPr/>
          <p:nvPr/>
        </p:nvSpPr>
        <p:spPr>
          <a:xfrm>
            <a:off x="1562097" y="628650"/>
            <a:ext cx="1002982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5"/>
          <p:cNvSpPr/>
          <p:nvPr/>
        </p:nvSpPr>
        <p:spPr>
          <a:xfrm>
            <a:off x="1562100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>
                <a:solidFill>
                  <a:srgbClr val="FFFFFF"/>
                </a:solidFill>
              </a:rPr>
              <a:t>Building</a:t>
            </a:r>
            <a:br>
              <a:rPr lang="en-US" sz="1125">
                <a:solidFill>
                  <a:srgbClr val="FFFFFF"/>
                </a:solidFill>
              </a:rPr>
            </a:br>
            <a:r>
              <a:rPr lang="en-US" sz="1125">
                <a:solidFill>
                  <a:srgbClr val="FFFFFF"/>
                </a:solidFill>
              </a:rPr>
              <a:t>MCP Server</a:t>
            </a:r>
            <a:endParaRPr i="0" sz="1125" u="none" cap="none" strike="noStrike">
              <a:solidFill>
                <a:srgbClr val="FFFFFF"/>
              </a:solidFill>
            </a:endParaRPr>
          </a:p>
        </p:txBody>
      </p:sp>
      <p:sp>
        <p:nvSpPr>
          <p:cNvPr id="416" name="Google Shape;416;p15"/>
          <p:cNvSpPr/>
          <p:nvPr/>
        </p:nvSpPr>
        <p:spPr>
          <a:xfrm>
            <a:off x="2676528" y="6010275"/>
            <a:ext cx="1002969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5"/>
          <p:cNvSpPr/>
          <p:nvPr/>
        </p:nvSpPr>
        <p:spPr>
          <a:xfrm>
            <a:off x="2676525" y="61603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Orchestrating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LLMs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5"/>
          <p:cNvSpPr/>
          <p:nvPr/>
        </p:nvSpPr>
        <p:spPr>
          <a:xfrm>
            <a:off x="2676528" y="2781300"/>
            <a:ext cx="100296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5"/>
          <p:cNvSpPr/>
          <p:nvPr/>
        </p:nvSpPr>
        <p:spPr>
          <a:xfrm>
            <a:off x="2676525" y="293133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LangChain</a:t>
            </a:r>
            <a:br>
              <a:rPr lang="en-US" sz="1125"/>
            </a:br>
            <a:r>
              <a:rPr lang="en-US" sz="1125"/>
              <a:t>create_agent</a:t>
            </a:r>
            <a:endParaRPr i="0" sz="1125" u="none" cap="none" strike="noStrike"/>
          </a:p>
        </p:txBody>
      </p:sp>
      <p:sp>
        <p:nvSpPr>
          <p:cNvPr id="420" name="Google Shape;420;p15"/>
          <p:cNvSpPr/>
          <p:nvPr/>
        </p:nvSpPr>
        <p:spPr>
          <a:xfrm>
            <a:off x="2667000" y="4933950"/>
            <a:ext cx="1002982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5"/>
          <p:cNvSpPr/>
          <p:nvPr/>
        </p:nvSpPr>
        <p:spPr>
          <a:xfrm>
            <a:off x="26670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Tools vs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Guardrails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5"/>
          <p:cNvSpPr/>
          <p:nvPr/>
        </p:nvSpPr>
        <p:spPr>
          <a:xfrm>
            <a:off x="2676528" y="1704975"/>
            <a:ext cx="100296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5"/>
          <p:cNvSpPr/>
          <p:nvPr/>
        </p:nvSpPr>
        <p:spPr>
          <a:xfrm>
            <a:off x="2676525" y="18550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MAF and</a:t>
            </a:r>
            <a:br>
              <a:rPr lang="en-US" sz="1125"/>
            </a:br>
            <a:r>
              <a:rPr lang="en-US" sz="1125"/>
              <a:t>Agno</a:t>
            </a:r>
            <a:endParaRPr i="0" sz="1125" u="none" cap="none" strike="noStrike"/>
          </a:p>
        </p:txBody>
      </p:sp>
      <p:sp>
        <p:nvSpPr>
          <p:cNvPr id="424" name="Google Shape;424;p15"/>
          <p:cNvSpPr/>
          <p:nvPr/>
        </p:nvSpPr>
        <p:spPr>
          <a:xfrm>
            <a:off x="2676528" y="3857625"/>
            <a:ext cx="1002969" cy="610231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5"/>
          <p:cNvSpPr/>
          <p:nvPr/>
        </p:nvSpPr>
        <p:spPr>
          <a:xfrm>
            <a:off x="2676525" y="400766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4: Stock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Picker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5"/>
          <p:cNvSpPr/>
          <p:nvPr/>
        </p:nvSpPr>
        <p:spPr>
          <a:xfrm>
            <a:off x="2676528" y="628650"/>
            <a:ext cx="1002969" cy="610230"/>
          </a:xfrm>
          <a:prstGeom prst="rect">
            <a:avLst/>
          </a:prstGeom>
          <a:solidFill>
            <a:srgbClr val="00BFFF">
              <a:alpha val="34902"/>
            </a:srgbClr>
          </a:solidFill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5"/>
          <p:cNvSpPr/>
          <p:nvPr/>
        </p:nvSpPr>
        <p:spPr>
          <a:xfrm>
            <a:off x="2676525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>
                <a:solidFill>
                  <a:srgbClr val="FFFFFF"/>
                </a:solidFill>
              </a:rPr>
              <a:t>Context</a:t>
            </a:r>
            <a:br>
              <a:rPr lang="en-US" sz="1125">
                <a:solidFill>
                  <a:srgbClr val="FFFFFF"/>
                </a:solidFill>
              </a:rPr>
            </a:br>
            <a:r>
              <a:rPr lang="en-US" sz="1125">
                <a:solidFill>
                  <a:srgbClr val="FFFFFF"/>
                </a:solidFill>
              </a:rPr>
              <a:t>Engineering</a:t>
            </a:r>
            <a:br>
              <a:rPr lang="en-US" sz="1125">
                <a:solidFill>
                  <a:srgbClr val="FFFFFF"/>
                </a:solidFill>
              </a:rPr>
            </a:br>
            <a:r>
              <a:rPr lang="en-US" sz="1125">
                <a:solidFill>
                  <a:srgbClr val="FFFFFF"/>
                </a:solidFill>
              </a:rPr>
              <a:t>with MCP</a:t>
            </a:r>
            <a:endParaRPr i="0" sz="1125" u="none" cap="none" strike="noStrike">
              <a:solidFill>
                <a:srgbClr val="FFFFFF"/>
              </a:solidFill>
            </a:endParaRPr>
          </a:p>
        </p:txBody>
      </p:sp>
      <p:sp>
        <p:nvSpPr>
          <p:cNvPr id="428" name="Google Shape;428;p15"/>
          <p:cNvSpPr/>
          <p:nvPr/>
        </p:nvSpPr>
        <p:spPr>
          <a:xfrm>
            <a:off x="3819528" y="6010275"/>
            <a:ext cx="1002969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15"/>
          <p:cNvSpPr/>
          <p:nvPr/>
        </p:nvSpPr>
        <p:spPr>
          <a:xfrm>
            <a:off x="3819525" y="61603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Autonomy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5"/>
          <p:cNvSpPr/>
          <p:nvPr/>
        </p:nvSpPr>
        <p:spPr>
          <a:xfrm>
            <a:off x="3819528" y="2781300"/>
            <a:ext cx="100296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5"/>
          <p:cNvSpPr/>
          <p:nvPr/>
        </p:nvSpPr>
        <p:spPr>
          <a:xfrm>
            <a:off x="3819525" y="293133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Deep Agents</a:t>
            </a:r>
            <a:endParaRPr i="0" sz="1125" u="none" cap="none" strike="noStrike"/>
          </a:p>
        </p:txBody>
      </p:sp>
      <p:sp>
        <p:nvSpPr>
          <p:cNvPr id="432" name="Google Shape;432;p15"/>
          <p:cNvSpPr/>
          <p:nvPr/>
        </p:nvSpPr>
        <p:spPr>
          <a:xfrm>
            <a:off x="3819528" y="4933950"/>
            <a:ext cx="1002969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5"/>
          <p:cNvSpPr/>
          <p:nvPr/>
        </p:nvSpPr>
        <p:spPr>
          <a:xfrm>
            <a:off x="3819525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5"/>
          <p:cNvSpPr/>
          <p:nvPr/>
        </p:nvSpPr>
        <p:spPr>
          <a:xfrm>
            <a:off x="3819528" y="1704975"/>
            <a:ext cx="100296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5"/>
          <p:cNvSpPr/>
          <p:nvPr/>
        </p:nvSpPr>
        <p:spPr>
          <a:xfrm>
            <a:off x="3819525" y="18550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Mastra</a:t>
            </a:r>
            <a:endParaRPr i="0" sz="1125" u="none" cap="none" strike="noStrike"/>
          </a:p>
        </p:txBody>
      </p:sp>
      <p:sp>
        <p:nvSpPr>
          <p:cNvPr id="436" name="Google Shape;436;p15"/>
          <p:cNvSpPr/>
          <p:nvPr/>
        </p:nvSpPr>
        <p:spPr>
          <a:xfrm>
            <a:off x="3819528" y="3857625"/>
            <a:ext cx="1002969" cy="610231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5"/>
          <p:cNvSpPr/>
          <p:nvPr/>
        </p:nvSpPr>
        <p:spPr>
          <a:xfrm>
            <a:off x="3819525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5"/>
          <p:cNvSpPr/>
          <p:nvPr/>
        </p:nvSpPr>
        <p:spPr>
          <a:xfrm>
            <a:off x="3819528" y="628650"/>
            <a:ext cx="1002969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15"/>
          <p:cNvSpPr/>
          <p:nvPr/>
        </p:nvSpPr>
        <p:spPr>
          <a:xfrm>
            <a:off x="3819525" y="7786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5"/>
          <p:cNvSpPr/>
          <p:nvPr/>
        </p:nvSpPr>
        <p:spPr>
          <a:xfrm>
            <a:off x="4953000" y="6010275"/>
            <a:ext cx="1002982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15"/>
          <p:cNvSpPr/>
          <p:nvPr/>
        </p:nvSpPr>
        <p:spPr>
          <a:xfrm>
            <a:off x="4953000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1: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Your personal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career 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5"/>
          <p:cNvSpPr/>
          <p:nvPr/>
        </p:nvSpPr>
        <p:spPr>
          <a:xfrm>
            <a:off x="4953000" y="2781300"/>
            <a:ext cx="1002982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5"/>
          <p:cNvSpPr/>
          <p:nvPr/>
        </p:nvSpPr>
        <p:spPr>
          <a:xfrm>
            <a:off x="4953000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Project 6:</a:t>
            </a:r>
            <a:br>
              <a:rPr lang="en-US" sz="1125"/>
            </a:br>
            <a:r>
              <a:rPr lang="en-US" sz="1125"/>
              <a:t>Sidekick</a:t>
            </a:r>
            <a:endParaRPr i="0" sz="1125" u="none" cap="none" strike="noStrike"/>
          </a:p>
        </p:txBody>
      </p:sp>
      <p:sp>
        <p:nvSpPr>
          <p:cNvPr id="444" name="Google Shape;444;p15"/>
          <p:cNvSpPr/>
          <p:nvPr/>
        </p:nvSpPr>
        <p:spPr>
          <a:xfrm>
            <a:off x="4953000" y="4933950"/>
            <a:ext cx="1002982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15"/>
          <p:cNvSpPr/>
          <p:nvPr/>
        </p:nvSpPr>
        <p:spPr>
          <a:xfrm>
            <a:off x="49530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 app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5"/>
          <p:cNvSpPr/>
          <p:nvPr/>
        </p:nvSpPr>
        <p:spPr>
          <a:xfrm>
            <a:off x="4953000" y="1704975"/>
            <a:ext cx="1002982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15"/>
          <p:cNvSpPr/>
          <p:nvPr/>
        </p:nvSpPr>
        <p:spPr>
          <a:xfrm>
            <a:off x="4953000" y="17788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Project 7:</a:t>
            </a:r>
            <a:br>
              <a:rPr lang="en-US" sz="1125"/>
            </a:br>
            <a:r>
              <a:rPr lang="en-US" sz="1125"/>
              <a:t>Agent Loop</a:t>
            </a:r>
            <a:endParaRPr i="0" sz="1125" u="none" cap="none" strike="noStrike"/>
          </a:p>
        </p:txBody>
      </p:sp>
      <p:sp>
        <p:nvSpPr>
          <p:cNvPr id="448" name="Google Shape;448;p15"/>
          <p:cNvSpPr/>
          <p:nvPr/>
        </p:nvSpPr>
        <p:spPr>
          <a:xfrm>
            <a:off x="4953000" y="3857625"/>
            <a:ext cx="1002982" cy="610231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15"/>
          <p:cNvSpPr/>
          <p:nvPr/>
        </p:nvSpPr>
        <p:spPr>
          <a:xfrm>
            <a:off x="4953000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Engineering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Team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5"/>
          <p:cNvSpPr/>
          <p:nvPr/>
        </p:nvSpPr>
        <p:spPr>
          <a:xfrm>
            <a:off x="4953000" y="628650"/>
            <a:ext cx="1002982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15"/>
          <p:cNvSpPr/>
          <p:nvPr/>
        </p:nvSpPr>
        <p:spPr>
          <a:xfrm>
            <a:off x="4953000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 Action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16"/>
          <p:cNvSpPr/>
          <p:nvPr/>
        </p:nvSpPr>
        <p:spPr>
          <a:xfrm>
            <a:off x="4572000" y="0"/>
            <a:ext cx="2609100" cy="6858000"/>
          </a:xfrm>
          <a:prstGeom prst="rect">
            <a:avLst/>
          </a:prstGeom>
          <a:solidFill>
            <a:srgbClr val="00BFFF">
              <a:alpha val="34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16"/>
          <p:cNvSpPr txBox="1"/>
          <p:nvPr/>
        </p:nvSpPr>
        <p:spPr>
          <a:xfrm>
            <a:off x="4730495" y="260604"/>
            <a:ext cx="2450700" cy="6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AI Engineer Agentic Track</a:t>
            </a:r>
            <a:endParaRPr b="1"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Complete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Agent &amp; MCP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Course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90%</a:t>
            </a:r>
            <a:endParaRPr sz="65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Complete</a:t>
            </a:r>
            <a:endParaRPr sz="2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59" name="Google Shape;459;p16" title="04_wX_2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572001" cy="6858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1A9E2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1A9E2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