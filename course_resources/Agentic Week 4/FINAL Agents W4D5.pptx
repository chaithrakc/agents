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12192000"/>
  <p:embeddedFontLst>
    <p:embeddedFont>
      <p:font typeface="Roboto Slab"/>
      <p:regular r:id="rId13"/>
      <p:bold r:id="rId14"/>
    </p:embeddedFont>
    <p:embeddedFont>
      <p:font typeface="Montserrat SemiBold"/>
      <p:regular r:id="rId15"/>
      <p:bold r:id="rId16"/>
      <p:italic r:id="rId17"/>
      <p:boldItalic r:id="rId18"/>
    </p:embeddedFont>
    <p:embeddedFont>
      <p:font typeface="Montserrat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11" Type="http://schemas.openxmlformats.org/officeDocument/2006/relationships/slide" Target="slides/slide7.xml"/><Relationship Id="rId22" Type="http://schemas.openxmlformats.org/officeDocument/2006/relationships/font" Target="fonts/Montserrat-boldItalic.fntdata"/><Relationship Id="rId10" Type="http://schemas.openxmlformats.org/officeDocument/2006/relationships/slide" Target="slides/slide6.xml"/><Relationship Id="rId21" Type="http://schemas.openxmlformats.org/officeDocument/2006/relationships/font" Target="fonts/Montserrat-italic.fntdata"/><Relationship Id="rId13" Type="http://schemas.openxmlformats.org/officeDocument/2006/relationships/font" Target="fonts/RobotoSlab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SemiBold-regular.fntdata"/><Relationship Id="rId14" Type="http://schemas.openxmlformats.org/officeDocument/2006/relationships/font" Target="fonts/RobotoSlab-bold.fntdata"/><Relationship Id="rId17" Type="http://schemas.openxmlformats.org/officeDocument/2006/relationships/font" Target="fonts/MontserratSemiBold-italic.fntdata"/><Relationship Id="rId16" Type="http://schemas.openxmlformats.org/officeDocument/2006/relationships/font" Target="fonts/MontserratSemiBold-bold.fntdata"/><Relationship Id="rId5" Type="http://schemas.openxmlformats.org/officeDocument/2006/relationships/slide" Target="slides/slide1.xml"/><Relationship Id="rId19" Type="http://schemas.openxmlformats.org/officeDocument/2006/relationships/font" Target="fonts/Montserrat-regular.fntdata"/><Relationship Id="rId6" Type="http://schemas.openxmlformats.org/officeDocument/2006/relationships/slide" Target="slides/slide2.xml"/><Relationship Id="rId18" Type="http://schemas.openxmlformats.org/officeDocument/2006/relationships/font" Target="fonts/MontserratSemiBold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ebcb41a426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ebcb41a426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g3ebcb41a426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ebcb41a426_1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g3ebcb41a426_1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g3ebcb41a426_1_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bcb41a426_1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bcb41a426_1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ebcb41a426_1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w4d5_tour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w4d5_tour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w4d5_tour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w4d5_sk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w4d5_sk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w4d5_sk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w4d5_chal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w4d5_chal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w4d5_chal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w4d5_ma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w4d5_ma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w4d5_ma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ebcb41a426_1_1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g3ebcb41a426_1_1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3ebcb41a426_1_1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9.png"/><Relationship Id="rId7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0" y="0"/>
            <a:ext cx="2609700" cy="6858000"/>
          </a:xfrm>
          <a:prstGeom prst="rect">
            <a:avLst/>
          </a:prstGeom>
          <a:solidFill>
            <a:srgbClr val="FFD700">
              <a:alpha val="349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4725775" y="258325"/>
            <a:ext cx="2363100" cy="6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1"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4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5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8" name="Google Shape;18;p3" title="09_wX_5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1999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257180" y="5695950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257180" y="461962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257180" y="3543300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257180" y="31432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361950" y="5753695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361950" y="467737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361950" y="3601045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61950" y="37207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447680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447675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47680" y="493395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447675" y="50077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47680" y="3857625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47675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47680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47675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562097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1562100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1562097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15621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562097" y="3857625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1562100" y="400766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562097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1562100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2676528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2676525" y="616031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2667000" y="493395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26670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2676528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2676525" y="400766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2676528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2676525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3819528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3819525" y="616031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3819528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3819525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3819528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3819525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3819528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3819525" y="7786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4953000" y="601027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4953000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4953000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49530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4953000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4953000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4953000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4953000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257174" y="246697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361950" y="252472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447674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447675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 Core</a:t>
            </a:r>
            <a:endParaRPr sz="1125"/>
          </a:p>
        </p:txBody>
      </p:sp>
      <p:sp>
        <p:nvSpPr>
          <p:cNvPr id="76" name="Google Shape;76;p4"/>
          <p:cNvSpPr/>
          <p:nvPr/>
        </p:nvSpPr>
        <p:spPr>
          <a:xfrm>
            <a:off x="1562101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1562100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LangGraph</a:t>
            </a:r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2676524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2676525" y="293133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</a:t>
            </a:r>
            <a:endParaRPr sz="1125"/>
          </a:p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create_agent</a:t>
            </a:r>
            <a:endParaRPr sz="1125"/>
          </a:p>
        </p:txBody>
      </p:sp>
      <p:sp>
        <p:nvSpPr>
          <p:cNvPr id="80" name="Google Shape;80;p4"/>
          <p:cNvSpPr/>
          <p:nvPr/>
        </p:nvSpPr>
        <p:spPr>
          <a:xfrm>
            <a:off x="3819524" y="2781300"/>
            <a:ext cx="1002900" cy="610200"/>
          </a:xfrm>
          <a:prstGeom prst="rect">
            <a:avLst/>
          </a:prstGeom>
          <a:solidFill>
            <a:srgbClr val="00BE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3819525" y="293133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Deep Agents</a:t>
            </a:r>
            <a:endParaRPr sz="1125"/>
          </a:p>
        </p:txBody>
      </p:sp>
      <p:sp>
        <p:nvSpPr>
          <p:cNvPr id="82" name="Google Shape;82;p4"/>
          <p:cNvSpPr/>
          <p:nvPr/>
        </p:nvSpPr>
        <p:spPr>
          <a:xfrm>
            <a:off x="4953000" y="2781300"/>
            <a:ext cx="1002900" cy="610200"/>
          </a:xfrm>
          <a:prstGeom prst="rect">
            <a:avLst/>
          </a:prstGeom>
          <a:solidFill>
            <a:srgbClr val="FFD700">
              <a:alpha val="34900"/>
            </a:srgbClr>
          </a:solidFill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4953000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" name="Google Shape;84;p4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85" name="Google Shape;85;p4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4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4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4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Google ADK and A2A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AWS Strands Agents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4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Other Python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JS/TS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 txBox="1"/>
          <p:nvPr/>
        </p:nvSpPr>
        <p:spPr>
          <a:xfrm>
            <a:off x="573024" y="582930"/>
            <a:ext cx="90708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Recap: the abstraction layers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03" name="Google Shape;103;p5"/>
          <p:cNvSpPr txBox="1"/>
          <p:nvPr/>
        </p:nvSpPr>
        <p:spPr>
          <a:xfrm>
            <a:off x="573024" y="1083564"/>
            <a:ext cx="5730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Four levels: control at the bottom, convenience at the top</a:t>
            </a:r>
            <a:endParaRPr sz="1300">
              <a:solidFill>
                <a:srgbClr val="00B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grpSp>
        <p:nvGrpSpPr>
          <p:cNvPr id="104" name="Google Shape;104;p5"/>
          <p:cNvGrpSpPr/>
          <p:nvPr/>
        </p:nvGrpSpPr>
        <p:grpSpPr>
          <a:xfrm>
            <a:off x="573024" y="2804922"/>
            <a:ext cx="5730300" cy="3374256"/>
            <a:chOff x="573024" y="2804922"/>
            <a:chExt cx="5730300" cy="3374256"/>
          </a:xfrm>
        </p:grpSpPr>
        <p:sp>
          <p:nvSpPr>
            <p:cNvPr id="105" name="Google Shape;105;p5"/>
            <p:cNvSpPr/>
            <p:nvPr/>
          </p:nvSpPr>
          <p:spPr>
            <a:xfrm>
              <a:off x="573024" y="5081778"/>
              <a:ext cx="5730300" cy="1097400"/>
            </a:xfrm>
            <a:prstGeom prst="rect">
              <a:avLst/>
            </a:prstGeom>
            <a:noFill/>
            <a:ln cap="flat" cmpd="sng" w="19050">
              <a:solidFill>
                <a:srgbClr val="00B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5"/>
            <p:cNvSpPr txBox="1"/>
            <p:nvPr/>
          </p:nvSpPr>
          <p:spPr>
            <a:xfrm>
              <a:off x="4815840" y="2804922"/>
              <a:ext cx="1341000" cy="24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00BFFF"/>
                  </a:solidFill>
                </a:rPr>
                <a:t>TODAY</a:t>
              </a:r>
              <a:endParaRPr sz="1125">
                <a:solidFill>
                  <a:srgbClr val="00BFFF"/>
                </a:solidFill>
              </a:endParaRPr>
            </a:p>
          </p:txBody>
        </p:sp>
        <p:sp>
          <p:nvSpPr>
            <p:cNvPr id="107" name="Google Shape;107;p5"/>
            <p:cNvSpPr txBox="1"/>
            <p:nvPr/>
          </p:nvSpPr>
          <p:spPr>
            <a:xfrm>
              <a:off x="755904" y="5150357"/>
              <a:ext cx="3413700" cy="9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Layer 1  Building blocks</a:t>
              </a:r>
              <a:endParaRPr b="1" sz="160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Models, messages and tools; you control everything</a:t>
              </a:r>
              <a:endParaRPr sz="1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08" name="Google Shape;108;p5"/>
            <p:cNvSpPr/>
            <p:nvPr/>
          </p:nvSpPr>
          <p:spPr>
            <a:xfrm>
              <a:off x="4364736" y="5218937"/>
              <a:ext cx="21900" cy="8229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5"/>
            <p:cNvSpPr txBox="1"/>
            <p:nvPr/>
          </p:nvSpPr>
          <p:spPr>
            <a:xfrm>
              <a:off x="4486656" y="5081778"/>
              <a:ext cx="1707000" cy="10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langchain-core</a:t>
              </a:r>
              <a:endParaRPr b="1" sz="16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</p:grpSp>
      <p:grpSp>
        <p:nvGrpSpPr>
          <p:cNvPr id="110" name="Google Shape;110;p5"/>
          <p:cNvGrpSpPr/>
          <p:nvPr/>
        </p:nvGrpSpPr>
        <p:grpSpPr>
          <a:xfrm>
            <a:off x="573024" y="3902201"/>
            <a:ext cx="5730300" cy="1097400"/>
            <a:chOff x="573024" y="3902201"/>
            <a:chExt cx="5730300" cy="1097400"/>
          </a:xfrm>
        </p:grpSpPr>
        <p:sp>
          <p:nvSpPr>
            <p:cNvPr id="111" name="Google Shape;111;p5"/>
            <p:cNvSpPr/>
            <p:nvPr/>
          </p:nvSpPr>
          <p:spPr>
            <a:xfrm>
              <a:off x="573024" y="3902201"/>
              <a:ext cx="5730300" cy="1097400"/>
            </a:xfrm>
            <a:prstGeom prst="rect">
              <a:avLst/>
            </a:prstGeom>
            <a:noFill/>
            <a:ln cap="flat" cmpd="sng" w="19050">
              <a:solidFill>
                <a:srgbClr val="00B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5"/>
            <p:cNvSpPr txBox="1"/>
            <p:nvPr/>
          </p:nvSpPr>
          <p:spPr>
            <a:xfrm>
              <a:off x="755904" y="3970781"/>
              <a:ext cx="3413700" cy="9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Layer 2  Orchestration</a:t>
              </a:r>
              <a:endParaRPr b="1" sz="160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StateGraph, nodes, edges, checkpoints; you control the flow</a:t>
              </a:r>
              <a:endParaRPr sz="1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13" name="Google Shape;113;p5"/>
            <p:cNvSpPr/>
            <p:nvPr/>
          </p:nvSpPr>
          <p:spPr>
            <a:xfrm>
              <a:off x="4364736" y="4039362"/>
              <a:ext cx="21900" cy="8229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5"/>
            <p:cNvSpPr txBox="1"/>
            <p:nvPr/>
          </p:nvSpPr>
          <p:spPr>
            <a:xfrm>
              <a:off x="4486656" y="3902201"/>
              <a:ext cx="1707000" cy="10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langgraph</a:t>
              </a:r>
              <a:endParaRPr b="1" sz="16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</p:grpSp>
      <p:grpSp>
        <p:nvGrpSpPr>
          <p:cNvPr id="115" name="Google Shape;115;p5"/>
          <p:cNvGrpSpPr/>
          <p:nvPr/>
        </p:nvGrpSpPr>
        <p:grpSpPr>
          <a:xfrm>
            <a:off x="573024" y="2722626"/>
            <a:ext cx="5730300" cy="1097400"/>
            <a:chOff x="573024" y="2722626"/>
            <a:chExt cx="5730300" cy="1097400"/>
          </a:xfrm>
        </p:grpSpPr>
        <p:sp>
          <p:nvSpPr>
            <p:cNvPr id="116" name="Google Shape;116;p5"/>
            <p:cNvSpPr/>
            <p:nvPr/>
          </p:nvSpPr>
          <p:spPr>
            <a:xfrm>
              <a:off x="573024" y="2722626"/>
              <a:ext cx="5730300" cy="10974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 cap="flat" cmpd="sng" w="19050">
              <a:solidFill>
                <a:srgbClr val="00B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5"/>
            <p:cNvSpPr txBox="1"/>
            <p:nvPr/>
          </p:nvSpPr>
          <p:spPr>
            <a:xfrm>
              <a:off x="755904" y="2791206"/>
              <a:ext cx="3413700" cy="9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Layer 3  Agent</a:t>
              </a:r>
              <a:endParaRPr b="1" sz="160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The agent loop prebuilt; you supply model, tools and prompt</a:t>
              </a:r>
              <a:endParaRPr sz="1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18" name="Google Shape;118;p5"/>
            <p:cNvSpPr/>
            <p:nvPr/>
          </p:nvSpPr>
          <p:spPr>
            <a:xfrm>
              <a:off x="4364736" y="2859786"/>
              <a:ext cx="21900" cy="8229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5"/>
            <p:cNvSpPr txBox="1"/>
            <p:nvPr/>
          </p:nvSpPr>
          <p:spPr>
            <a:xfrm>
              <a:off x="4486656" y="2722626"/>
              <a:ext cx="1707000" cy="10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langchain</a:t>
              </a:r>
              <a:endParaRPr b="1" sz="16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</p:grpSp>
      <p:grpSp>
        <p:nvGrpSpPr>
          <p:cNvPr id="120" name="Google Shape;120;p5"/>
          <p:cNvGrpSpPr/>
          <p:nvPr/>
        </p:nvGrpSpPr>
        <p:grpSpPr>
          <a:xfrm>
            <a:off x="573024" y="1543050"/>
            <a:ext cx="5730300" cy="1097400"/>
            <a:chOff x="573024" y="1543050"/>
            <a:chExt cx="5730300" cy="1097400"/>
          </a:xfrm>
        </p:grpSpPr>
        <p:sp>
          <p:nvSpPr>
            <p:cNvPr id="121" name="Google Shape;121;p5"/>
            <p:cNvSpPr/>
            <p:nvPr/>
          </p:nvSpPr>
          <p:spPr>
            <a:xfrm>
              <a:off x="573024" y="1543050"/>
              <a:ext cx="5730300" cy="1097400"/>
            </a:xfrm>
            <a:prstGeom prst="rect">
              <a:avLst/>
            </a:prstGeom>
            <a:noFill/>
            <a:ln cap="flat" cmpd="sng" w="19050">
              <a:solidFill>
                <a:srgbClr val="00B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5"/>
            <p:cNvSpPr txBox="1"/>
            <p:nvPr/>
          </p:nvSpPr>
          <p:spPr>
            <a:xfrm>
              <a:off x="755904" y="1611630"/>
              <a:ext cx="3413700" cy="9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Layer 4  Harness</a:t>
              </a:r>
              <a:endParaRPr b="1" sz="160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Planning, sub agents, a filesystem; you supply intent</a:t>
              </a:r>
              <a:endParaRPr sz="1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23" name="Google Shape;123;p5"/>
            <p:cNvSpPr/>
            <p:nvPr/>
          </p:nvSpPr>
          <p:spPr>
            <a:xfrm>
              <a:off x="4364736" y="1680210"/>
              <a:ext cx="21900" cy="8229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5"/>
            <p:cNvSpPr txBox="1"/>
            <p:nvPr/>
          </p:nvSpPr>
          <p:spPr>
            <a:xfrm>
              <a:off x="4486656" y="1543050"/>
              <a:ext cx="1707000" cy="10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deepagents</a:t>
              </a:r>
              <a:endParaRPr b="1" sz="16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 txBox="1"/>
          <p:nvPr/>
        </p:nvSpPr>
        <p:spPr>
          <a:xfrm>
            <a:off x="573024" y="582930"/>
            <a:ext cx="90708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Our Journey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grpSp>
        <p:nvGrpSpPr>
          <p:cNvPr id="131" name="Google Shape;131;p6"/>
          <p:cNvGrpSpPr/>
          <p:nvPr/>
        </p:nvGrpSpPr>
        <p:grpSpPr>
          <a:xfrm>
            <a:off x="902208" y="1558290"/>
            <a:ext cx="5437632" cy="617100"/>
            <a:chOff x="902208" y="1405890"/>
            <a:chExt cx="5437632" cy="617100"/>
          </a:xfrm>
        </p:grpSpPr>
        <p:sp>
          <p:nvSpPr>
            <p:cNvPr id="132" name="Google Shape;132;p6"/>
            <p:cNvSpPr txBox="1"/>
            <p:nvPr/>
          </p:nvSpPr>
          <p:spPr>
            <a:xfrm>
              <a:off x="1463040" y="1405890"/>
              <a:ext cx="48768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The worker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one create_agent carrying every tool, with a memory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33" name="Google Shape;133;p6" title="icon_d3_robot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02208" y="1549908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4" name="Google Shape;134;p6"/>
          <p:cNvGrpSpPr/>
          <p:nvPr/>
        </p:nvGrpSpPr>
        <p:grpSpPr>
          <a:xfrm>
            <a:off x="902208" y="2449830"/>
            <a:ext cx="5437632" cy="617100"/>
            <a:chOff x="902208" y="2297430"/>
            <a:chExt cx="5437632" cy="617100"/>
          </a:xfrm>
        </p:grpSpPr>
        <p:sp>
          <p:nvSpPr>
            <p:cNvPr id="135" name="Google Shape;135;p6"/>
            <p:cNvSpPr txBox="1"/>
            <p:nvPr/>
          </p:nvSpPr>
          <p:spPr>
            <a:xfrm>
              <a:off x="1463040" y="2297430"/>
              <a:ext cx="48768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 visible plan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middleware gives it a todo list; watch it tick along live in the app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36" name="Google Shape;136;p6" title="icon_d4_plan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02208" y="2441448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7" name="Google Shape;137;p6"/>
          <p:cNvGrpSpPr/>
          <p:nvPr/>
        </p:nvGrpSpPr>
        <p:grpSpPr>
          <a:xfrm>
            <a:off x="902208" y="5124450"/>
            <a:ext cx="5437632" cy="617100"/>
            <a:chOff x="902208" y="4972050"/>
            <a:chExt cx="5437632" cy="617100"/>
          </a:xfrm>
        </p:grpSpPr>
        <p:sp>
          <p:nvSpPr>
            <p:cNvPr id="138" name="Google Shape;138;p6"/>
            <p:cNvSpPr txBox="1"/>
            <p:nvPr/>
          </p:nvSpPr>
          <p:spPr>
            <a:xfrm>
              <a:off x="1463040" y="4972050"/>
              <a:ext cx="48768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The evaluator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your own loop judges each reply against your success criteria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39" name="Google Shape;139;p6" title="icon_d3_eye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902208" y="5116068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0" name="Google Shape;140;p6"/>
          <p:cNvGrpSpPr/>
          <p:nvPr/>
        </p:nvGrpSpPr>
        <p:grpSpPr>
          <a:xfrm>
            <a:off x="902208" y="3341370"/>
            <a:ext cx="5437632" cy="617100"/>
            <a:chOff x="902208" y="3188970"/>
            <a:chExt cx="5437632" cy="617100"/>
          </a:xfrm>
        </p:grpSpPr>
        <p:sp>
          <p:nvSpPr>
            <p:cNvPr id="141" name="Google Shape;141;p6"/>
            <p:cNvSpPr txBox="1"/>
            <p:nvPr/>
          </p:nvSpPr>
          <p:spPr>
            <a:xfrm>
              <a:off x="1463040" y="3188970"/>
              <a:ext cx="48768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Guardrails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PII redaction and a hard budget cap, each one line of middleware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42" name="Google Shape;142;p6" title="icon_lg_durable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902208" y="3332988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3" name="Google Shape;143;p6"/>
          <p:cNvGrpSpPr/>
          <p:nvPr/>
        </p:nvGrpSpPr>
        <p:grpSpPr>
          <a:xfrm>
            <a:off x="902208" y="4232910"/>
            <a:ext cx="5437632" cy="617100"/>
            <a:chOff x="902208" y="4080510"/>
            <a:chExt cx="5437632" cy="617100"/>
          </a:xfrm>
        </p:grpSpPr>
        <p:sp>
          <p:nvSpPr>
            <p:cNvPr id="144" name="Google Shape;144;p6"/>
            <p:cNvSpPr txBox="1"/>
            <p:nvPr/>
          </p:nvSpPr>
          <p:spPr>
            <a:xfrm>
              <a:off x="1463040" y="4080510"/>
              <a:ext cx="48768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Human-in-the-loop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it pauses for your approval, and can hand you the browser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45" name="Google Shape;145;p6" title="icon_lg_human.png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902208" y="4224528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"/>
          <p:cNvSpPr txBox="1"/>
          <p:nvPr/>
        </p:nvSpPr>
        <p:spPr>
          <a:xfrm>
            <a:off x="573024" y="582930"/>
            <a:ext cx="90708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The Sidekick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52" name="Google Shape;152;p7"/>
          <p:cNvSpPr txBox="1"/>
          <p:nvPr/>
        </p:nvSpPr>
        <p:spPr>
          <a:xfrm>
            <a:off x="573024" y="1083564"/>
            <a:ext cx="5730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Project 6: the classic agentic use case</a:t>
            </a:r>
            <a:endParaRPr sz="1800">
              <a:solidFill>
                <a:srgbClr val="FFD7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grpSp>
        <p:nvGrpSpPr>
          <p:cNvPr id="153" name="Google Shape;153;p7"/>
          <p:cNvGrpSpPr/>
          <p:nvPr/>
        </p:nvGrpSpPr>
        <p:grpSpPr>
          <a:xfrm>
            <a:off x="902208" y="1920240"/>
            <a:ext cx="5437632" cy="617100"/>
            <a:chOff x="902208" y="1920240"/>
            <a:chExt cx="5437632" cy="617100"/>
          </a:xfrm>
        </p:grpSpPr>
        <p:sp>
          <p:nvSpPr>
            <p:cNvPr id="154" name="Google Shape;154;p7"/>
            <p:cNvSpPr txBox="1"/>
            <p:nvPr/>
          </p:nvSpPr>
          <p:spPr>
            <a:xfrm>
              <a:off x="1463040" y="1920240"/>
              <a:ext cx="48768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Your co-worker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brief it with a task and your definition of success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55" name="Google Shape;155;p7" title="icon_d5_brief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02208" y="2064258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6" name="Google Shape;156;p7"/>
          <p:cNvGrpSpPr/>
          <p:nvPr/>
        </p:nvGrpSpPr>
        <p:grpSpPr>
          <a:xfrm>
            <a:off x="902208" y="2880360"/>
            <a:ext cx="5437632" cy="617100"/>
            <a:chOff x="902208" y="2880360"/>
            <a:chExt cx="5437632" cy="617100"/>
          </a:xfrm>
        </p:grpSpPr>
        <p:sp>
          <p:nvSpPr>
            <p:cNvPr id="157" name="Google Shape;157;p7"/>
            <p:cNvSpPr txBox="1"/>
            <p:nvPr/>
          </p:nvSpPr>
          <p:spPr>
            <a:xfrm>
              <a:off x="1463040" y="2880360"/>
              <a:ext cx="48768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Autonomous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it plans, uses tools, checks its work and keeps going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58" name="Google Shape;158;p7" title="icon_loop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02208" y="3024378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9" name="Google Shape;159;p7"/>
          <p:cNvGrpSpPr/>
          <p:nvPr/>
        </p:nvGrpSpPr>
        <p:grpSpPr>
          <a:xfrm>
            <a:off x="902208" y="3840480"/>
            <a:ext cx="5437632" cy="617100"/>
            <a:chOff x="902208" y="3840480"/>
            <a:chExt cx="5437632" cy="617100"/>
          </a:xfrm>
        </p:grpSpPr>
        <p:sp>
          <p:nvSpPr>
            <p:cNvPr id="160" name="Google Shape;160;p7"/>
            <p:cNvSpPr txBox="1"/>
            <p:nvPr/>
          </p:nvSpPr>
          <p:spPr>
            <a:xfrm>
              <a:off x="1463040" y="3840480"/>
              <a:ext cx="48768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Real-world tools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a live browser, a filesystem, search and push notifications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61" name="Google Shape;161;p7" title="icon_d3_browser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902208" y="3984498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"/>
          <p:cNvSpPr txBox="1"/>
          <p:nvPr/>
        </p:nvSpPr>
        <p:spPr>
          <a:xfrm>
            <a:off x="573024" y="582930"/>
            <a:ext cx="90708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End of week challenge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68" name="Google Shape;168;p8"/>
          <p:cNvSpPr txBox="1"/>
          <p:nvPr/>
        </p:nvSpPr>
        <p:spPr>
          <a:xfrm>
            <a:off x="573024" y="1083564"/>
            <a:ext cx="5730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Make the Sidekick yours</a:t>
            </a:r>
            <a:endParaRPr sz="1800">
              <a:solidFill>
                <a:srgbClr val="FFD7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69" name="Google Shape;169;p8"/>
          <p:cNvSpPr txBox="1"/>
          <p:nvPr/>
        </p:nvSpPr>
        <p:spPr>
          <a:xfrm>
            <a:off x="573024" y="1920240"/>
            <a:ext cx="57303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Specialize it</a:t>
            </a:r>
            <a:r>
              <a:rPr lang="en-US"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 rebuild the Sidekick for your business domain and your daily work</a:t>
            </a:r>
            <a:endParaRPr sz="165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70" name="Google Shape;170;p8"/>
          <p:cNvSpPr txBox="1"/>
          <p:nvPr/>
        </p:nvSpPr>
        <p:spPr>
          <a:xfrm>
            <a:off x="573024" y="2811780"/>
            <a:ext cx="57303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A specialist prompt</a:t>
            </a:r>
            <a:r>
              <a:rPr lang="en-US"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 bake your domain know-how into the worker's instructions</a:t>
            </a:r>
            <a:endParaRPr sz="165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71" name="Google Shape;171;p8"/>
          <p:cNvSpPr txBox="1"/>
          <p:nvPr/>
        </p:nvSpPr>
        <p:spPr>
          <a:xfrm>
            <a:off x="573024" y="3703320"/>
            <a:ext cx="57303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Specialist tools</a:t>
            </a:r>
            <a:r>
              <a:rPr lang="en-US"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 swap in the tools of your trade: your APIs, your data, your systems</a:t>
            </a:r>
            <a:endParaRPr sz="165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72" name="Google Shape;172;p8"/>
          <p:cNvSpPr txBox="1"/>
          <p:nvPr/>
        </p:nvSpPr>
        <p:spPr>
          <a:xfrm>
            <a:off x="573024" y="4594860"/>
            <a:ext cx="57303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Showcase it</a:t>
            </a:r>
            <a:r>
              <a:rPr lang="en-US"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 a domain Sidekick is a compelling portfolio piece; share what you build</a:t>
            </a:r>
            <a:endParaRPr sz="165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"/>
          <p:cNvSpPr/>
          <p:nvPr/>
        </p:nvSpPr>
        <p:spPr>
          <a:xfrm>
            <a:off x="257180" y="5695950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"/>
          <p:cNvSpPr/>
          <p:nvPr/>
        </p:nvSpPr>
        <p:spPr>
          <a:xfrm>
            <a:off x="257180" y="461962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9"/>
          <p:cNvSpPr/>
          <p:nvPr/>
        </p:nvSpPr>
        <p:spPr>
          <a:xfrm>
            <a:off x="257180" y="3543300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"/>
          <p:cNvSpPr/>
          <p:nvPr/>
        </p:nvSpPr>
        <p:spPr>
          <a:xfrm>
            <a:off x="257180" y="31432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"/>
          <p:cNvSpPr/>
          <p:nvPr/>
        </p:nvSpPr>
        <p:spPr>
          <a:xfrm>
            <a:off x="361950" y="5753695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361950" y="467737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361950" y="3601045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361950" y="37207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447680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447675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447680" y="493395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447675" y="50077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447680" y="3857625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"/>
          <p:cNvSpPr/>
          <p:nvPr/>
        </p:nvSpPr>
        <p:spPr>
          <a:xfrm>
            <a:off x="447675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447680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447675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1562097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1562100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1562097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"/>
          <p:cNvSpPr/>
          <p:nvPr/>
        </p:nvSpPr>
        <p:spPr>
          <a:xfrm>
            <a:off x="15621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1562097" y="3857625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1562100" y="400766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1562097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"/>
          <p:cNvSpPr/>
          <p:nvPr/>
        </p:nvSpPr>
        <p:spPr>
          <a:xfrm>
            <a:off x="1562100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2676528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2676525" y="616031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2667000" y="493395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26670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2676528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2676525" y="400766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2676528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2676525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3819528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3819525" y="616031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3819528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3819525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3819528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"/>
          <p:cNvSpPr/>
          <p:nvPr/>
        </p:nvSpPr>
        <p:spPr>
          <a:xfrm>
            <a:off x="3819525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3819528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"/>
          <p:cNvSpPr/>
          <p:nvPr/>
        </p:nvSpPr>
        <p:spPr>
          <a:xfrm>
            <a:off x="3819525" y="7786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4953000" y="601027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"/>
          <p:cNvSpPr/>
          <p:nvPr/>
        </p:nvSpPr>
        <p:spPr>
          <a:xfrm>
            <a:off x="4953000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4953000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"/>
          <p:cNvSpPr/>
          <p:nvPr/>
        </p:nvSpPr>
        <p:spPr>
          <a:xfrm>
            <a:off x="49530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4953000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"/>
          <p:cNvSpPr/>
          <p:nvPr/>
        </p:nvSpPr>
        <p:spPr>
          <a:xfrm>
            <a:off x="4953000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4953000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9"/>
          <p:cNvSpPr/>
          <p:nvPr/>
        </p:nvSpPr>
        <p:spPr>
          <a:xfrm>
            <a:off x="4953000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257174" y="246697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9"/>
          <p:cNvSpPr/>
          <p:nvPr/>
        </p:nvSpPr>
        <p:spPr>
          <a:xfrm>
            <a:off x="361950" y="252472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447674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447675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 Core</a:t>
            </a:r>
            <a:endParaRPr sz="1125"/>
          </a:p>
        </p:txBody>
      </p:sp>
      <p:sp>
        <p:nvSpPr>
          <p:cNvPr id="230" name="Google Shape;230;p9"/>
          <p:cNvSpPr/>
          <p:nvPr/>
        </p:nvSpPr>
        <p:spPr>
          <a:xfrm>
            <a:off x="1562101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9"/>
          <p:cNvSpPr/>
          <p:nvPr/>
        </p:nvSpPr>
        <p:spPr>
          <a:xfrm>
            <a:off x="1562100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LangGraph</a:t>
            </a:r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2676524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2676525" y="293133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</a:t>
            </a:r>
            <a:endParaRPr sz="1125"/>
          </a:p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create_agent</a:t>
            </a:r>
            <a:endParaRPr sz="1125"/>
          </a:p>
        </p:txBody>
      </p:sp>
      <p:sp>
        <p:nvSpPr>
          <p:cNvPr id="234" name="Google Shape;234;p9"/>
          <p:cNvSpPr/>
          <p:nvPr/>
        </p:nvSpPr>
        <p:spPr>
          <a:xfrm>
            <a:off x="3819524" y="2781300"/>
            <a:ext cx="1002900" cy="610200"/>
          </a:xfrm>
          <a:prstGeom prst="rect">
            <a:avLst/>
          </a:prstGeom>
          <a:solidFill>
            <a:srgbClr val="00BE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9"/>
          <p:cNvSpPr/>
          <p:nvPr/>
        </p:nvSpPr>
        <p:spPr>
          <a:xfrm>
            <a:off x="3819525" y="293133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Deep Agents</a:t>
            </a:r>
            <a:endParaRPr sz="1125"/>
          </a:p>
        </p:txBody>
      </p:sp>
      <p:sp>
        <p:nvSpPr>
          <p:cNvPr id="236" name="Google Shape;236;p9"/>
          <p:cNvSpPr/>
          <p:nvPr/>
        </p:nvSpPr>
        <p:spPr>
          <a:xfrm>
            <a:off x="4953000" y="278130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"/>
          <p:cNvSpPr/>
          <p:nvPr/>
        </p:nvSpPr>
        <p:spPr>
          <a:xfrm>
            <a:off x="4953000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8" name="Google Shape;238;p9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239" name="Google Shape;239;p9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9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9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9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Google ADK and A2A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9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9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AWS Strands Agents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9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9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Other Python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9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9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JS/TS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9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9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0"/>
          <p:cNvSpPr/>
          <p:nvPr/>
        </p:nvSpPr>
        <p:spPr>
          <a:xfrm>
            <a:off x="4572000" y="0"/>
            <a:ext cx="2609700" cy="6858000"/>
          </a:xfrm>
          <a:prstGeom prst="rect">
            <a:avLst/>
          </a:prstGeom>
          <a:solidFill>
            <a:srgbClr val="FFD700">
              <a:alpha val="349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7" name="Google Shape;257;p10"/>
          <p:cNvSpPr txBox="1"/>
          <p:nvPr/>
        </p:nvSpPr>
        <p:spPr>
          <a:xfrm>
            <a:off x="4725775" y="258325"/>
            <a:ext cx="2363100" cy="59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1"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65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67%</a:t>
            </a:r>
            <a:endParaRPr sz="65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258" name="Google Shape;258;p10" title="10_wX_5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