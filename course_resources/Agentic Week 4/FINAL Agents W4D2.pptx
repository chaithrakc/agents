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b8cd45df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b8cd45df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b8cd45df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b8cd45dfb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b8cd45dfb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b8cd45dfb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8cd45df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8cd45df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b8cd45dfb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w4d2_in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w4d2_in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w4d2_in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w4d2_tools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w4d2_tools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w4d2_tools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w4d2_lsmith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w4d2_lsmith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w4d2_lsmith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b8cd45dfb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b8cd45dfb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b8cd45dfb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8cd45dfb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eb8cd45dfb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b8cd45dfb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b8cd45dfb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b8cd45dfb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b8cd45dfb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w4d2_memory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w4d2_memory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w4d2_memory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b8cd45dfb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eb8cd45dfb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eb8cd45dfb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b8cd45dfb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eb8cd45dfb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b8cd45dfb_0_1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03_wX_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LangChain</a:t>
            </a:r>
            <a:endParaRPr sz="1125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create_agent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Recap: the abstraction layers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levels: control at the bottom, convenience at the top</a:t>
            </a:r>
            <a:endParaRPr sz="13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04" name="Google Shape;104;p5"/>
          <p:cNvGrpSpPr/>
          <p:nvPr/>
        </p:nvGrpSpPr>
        <p:grpSpPr>
          <a:xfrm>
            <a:off x="573024" y="3984497"/>
            <a:ext cx="5730300" cy="2194681"/>
            <a:chOff x="573024" y="3984497"/>
            <a:chExt cx="5730300" cy="2194681"/>
          </a:xfrm>
        </p:grpSpPr>
        <p:sp>
          <p:nvSpPr>
            <p:cNvPr id="105" name="Google Shape;105;p5"/>
            <p:cNvSpPr/>
            <p:nvPr/>
          </p:nvSpPr>
          <p:spPr>
            <a:xfrm>
              <a:off x="573024" y="5081778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4815840" y="3984497"/>
              <a:ext cx="1341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TODAY</a:t>
              </a:r>
              <a:endParaRPr sz="1125">
                <a:solidFill>
                  <a:srgbClr val="00BFFF"/>
                </a:solidFill>
              </a:endParaRPr>
            </a:p>
          </p:txBody>
        </p:sp>
        <p:sp>
          <p:nvSpPr>
            <p:cNvPr id="107" name="Google Shape;107;p5"/>
            <p:cNvSpPr txBox="1"/>
            <p:nvPr/>
          </p:nvSpPr>
          <p:spPr>
            <a:xfrm>
              <a:off x="755904" y="5150357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1  Building blocks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Models, messages and tools; you control everything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364736" y="5218937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 txBox="1"/>
            <p:nvPr/>
          </p:nvSpPr>
          <p:spPr>
            <a:xfrm>
              <a:off x="4486656" y="5081778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langchain-core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573024" y="3902201"/>
            <a:ext cx="5730300" cy="1097400"/>
            <a:chOff x="573024" y="3902201"/>
            <a:chExt cx="5730300" cy="1097400"/>
          </a:xfrm>
        </p:grpSpPr>
        <p:sp>
          <p:nvSpPr>
            <p:cNvPr id="111" name="Google Shape;111;p5"/>
            <p:cNvSpPr/>
            <p:nvPr/>
          </p:nvSpPr>
          <p:spPr>
            <a:xfrm>
              <a:off x="573024" y="3902201"/>
              <a:ext cx="5730300" cy="10974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755904" y="3970781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2  Orchestration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StateGraph, nodes, edges, checkpoints; you control the flow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364736" y="4039362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4486656" y="3902201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573024" y="2722626"/>
            <a:ext cx="5730300" cy="1097400"/>
            <a:chOff x="573024" y="2722626"/>
            <a:chExt cx="5730300" cy="1097400"/>
          </a:xfrm>
        </p:grpSpPr>
        <p:sp>
          <p:nvSpPr>
            <p:cNvPr id="116" name="Google Shape;116;p5"/>
            <p:cNvSpPr/>
            <p:nvPr/>
          </p:nvSpPr>
          <p:spPr>
            <a:xfrm>
              <a:off x="573024" y="2722626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 txBox="1"/>
            <p:nvPr/>
          </p:nvSpPr>
          <p:spPr>
            <a:xfrm>
              <a:off x="755904" y="2791206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3  Agent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loop prebuilt; you supply model, tools and prompt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364736" y="2859786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 txBox="1"/>
            <p:nvPr/>
          </p:nvSpPr>
          <p:spPr>
            <a:xfrm>
              <a:off x="4486656" y="2722626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0" name="Google Shape;120;p5"/>
          <p:cNvGrpSpPr/>
          <p:nvPr/>
        </p:nvGrpSpPr>
        <p:grpSpPr>
          <a:xfrm>
            <a:off x="573024" y="1543050"/>
            <a:ext cx="5730300" cy="1097400"/>
            <a:chOff x="573024" y="1543050"/>
            <a:chExt cx="5730300" cy="1097400"/>
          </a:xfrm>
        </p:grpSpPr>
        <p:sp>
          <p:nvSpPr>
            <p:cNvPr id="121" name="Google Shape;121;p5"/>
            <p:cNvSpPr/>
            <p:nvPr/>
          </p:nvSpPr>
          <p:spPr>
            <a:xfrm>
              <a:off x="573024" y="1543050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 txBox="1"/>
            <p:nvPr/>
          </p:nvSpPr>
          <p:spPr>
            <a:xfrm>
              <a:off x="755904" y="1611630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4  Harness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Planning, sub agents, a filesystem; you supply intent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4364736" y="1680210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 txBox="1"/>
            <p:nvPr/>
          </p:nvSpPr>
          <p:spPr>
            <a:xfrm>
              <a:off x="4486656" y="1543050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deepagents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LangGraph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573024" y="1097280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Layer 2 of the stack: the bulletproof orchestration layer</a:t>
            </a:r>
            <a:endParaRPr sz="135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32" name="Google Shape;132;p6"/>
          <p:cNvGrpSpPr/>
          <p:nvPr/>
        </p:nvGrpSpPr>
        <p:grpSpPr>
          <a:xfrm>
            <a:off x="890016" y="2087880"/>
            <a:ext cx="5327904" cy="617100"/>
            <a:chOff x="890016" y="1783080"/>
            <a:chExt cx="5327904" cy="617100"/>
          </a:xfrm>
        </p:grpSpPr>
        <p:sp>
          <p:nvSpPr>
            <p:cNvPr id="133" name="Google Shape;133;p6"/>
            <p:cNvSpPr txBox="1"/>
            <p:nvPr/>
          </p:nvSpPr>
          <p:spPr>
            <a:xfrm>
              <a:off x="1341120" y="178308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low-level orchestration framework and runtime for stateful, long-running agents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4" name="Google Shape;134;p6" title="icon_lg_graph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0016" y="1886443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6"/>
          <p:cNvGrpSpPr/>
          <p:nvPr/>
        </p:nvGrpSpPr>
        <p:grpSpPr>
          <a:xfrm>
            <a:off x="890016" y="3181350"/>
            <a:ext cx="5327904" cy="617100"/>
            <a:chOff x="890016" y="2571750"/>
            <a:chExt cx="5327904" cy="617100"/>
          </a:xfrm>
        </p:grpSpPr>
        <p:sp>
          <p:nvSpPr>
            <p:cNvPr id="136" name="Google Shape;136;p6"/>
            <p:cNvSpPr txBox="1"/>
            <p:nvPr/>
          </p:nvSpPr>
          <p:spPr>
            <a:xfrm>
              <a:off x="1341120" y="257175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Dependency graph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you declare nodes that do the work and edges that say what depends on what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7" name="Google Shape;137;p6" title="icon_lg_dependenc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0016" y="2685871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6"/>
          <p:cNvGrpSpPr/>
          <p:nvPr/>
        </p:nvGrpSpPr>
        <p:grpSpPr>
          <a:xfrm>
            <a:off x="890016" y="4274820"/>
            <a:ext cx="5327904" cy="617100"/>
            <a:chOff x="890016" y="3665220"/>
            <a:chExt cx="5327904" cy="617100"/>
          </a:xfrm>
        </p:grpSpPr>
        <p:sp>
          <p:nvSpPr>
            <p:cNvPr id="139" name="Google Shape;139;p6"/>
            <p:cNvSpPr txBox="1"/>
            <p:nvPr/>
          </p:nvSpPr>
          <p:spPr>
            <a:xfrm>
              <a:off x="1341120" y="366522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Durable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state survives failures; a run can resume exactly where it was interrupted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0" name="Google Shape;140;p6" title="icon_lg_durabl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0016" y="3779341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Graphs, State, Nodes, Edges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57225" y="1303020"/>
            <a:ext cx="55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</a:rPr>
              <a:t>Agent Workflows are represented as graphs</a:t>
            </a:r>
            <a:endParaRPr sz="1950">
              <a:solidFill>
                <a:srgbClr val="FFFFFF"/>
              </a:solidFill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28650" y="5642967"/>
            <a:ext cx="5660380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Nodes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 the work.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28650" y="6116092"/>
            <a:ext cx="5660380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BFFF"/>
                </a:solidFill>
                <a:latin typeface="Arial"/>
                <a:ea typeface="Arial"/>
                <a:cs typeface="Arial"/>
                <a:sym typeface="Arial"/>
              </a:rPr>
              <a:t>Edges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choose what to do next.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57225" y="1796796"/>
            <a:ext cx="5986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represents the current snapshot of the application.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624139" y="2914650"/>
            <a:ext cx="840212" cy="874348"/>
          </a:xfrm>
          <a:prstGeom prst="ellipse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767013" y="3241617"/>
            <a:ext cx="554459" cy="2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543049" y="4467225"/>
            <a:ext cx="840212" cy="874347"/>
          </a:xfrm>
          <a:prstGeom prst="ellipse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685925" y="4794192"/>
            <a:ext cx="554459" cy="2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705226" y="4467225"/>
            <a:ext cx="840208" cy="874347"/>
          </a:xfrm>
          <a:prstGeom prst="ellipse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848100" y="4794192"/>
            <a:ext cx="554459" cy="2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 rot="7560000">
            <a:off x="2003314" y="4138110"/>
            <a:ext cx="1035885" cy="0"/>
          </a:xfrm>
          <a:prstGeom prst="straightConnector1">
            <a:avLst/>
          </a:prstGeom>
          <a:noFill/>
          <a:ln cap="flat" cmpd="sng" w="508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" name="Google Shape;158;p7"/>
          <p:cNvCxnSpPr/>
          <p:nvPr/>
        </p:nvCxnSpPr>
        <p:spPr>
          <a:xfrm rot="3240000">
            <a:off x="3090979" y="4165961"/>
            <a:ext cx="950534" cy="0"/>
          </a:xfrm>
          <a:prstGeom prst="straightConnector1">
            <a:avLst/>
          </a:prstGeom>
          <a:noFill/>
          <a:ln cap="flat" cmpd="sng" w="50800">
            <a:solidFill>
              <a:srgbClr val="00BFF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1924050" y="3898106"/>
            <a:ext cx="3524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Edge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705225" y="3831431"/>
            <a:ext cx="3524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Edge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code carries out 5 steps..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71500" y="1100361"/>
            <a:ext cx="90648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..before you even run your agents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219200" y="1920240"/>
            <a:ext cx="3833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Define the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class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19200" y="2811780"/>
            <a:ext cx="3966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Start the Graph Builder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19200" y="3703320"/>
            <a:ext cx="4302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Create a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219200" y="4594860"/>
            <a:ext cx="4302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Create </a:t>
            </a: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Edges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219200" y="5486400"/>
            <a:ext cx="4302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Compile the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6a5aa962.png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371" y="1812988"/>
            <a:ext cx="1714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53849f9e.png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934" y="2704529"/>
            <a:ext cx="3143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7b4a591e.png" id="175" name="Google Shape;1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696" y="3596069"/>
            <a:ext cx="3048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1cce439e.png"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884" y="4487608"/>
            <a:ext cx="3524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480547de.png" id="177" name="Google Shape;17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696" y="5379148"/>
            <a:ext cx="3048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More on the </a:t>
            </a:r>
            <a:r>
              <a:rPr b="1" i="0" lang="en-US" sz="33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228725" y="1525563"/>
            <a:ext cx="39666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is immutable: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247775" y="3968725"/>
            <a:ext cx="430269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For each field in your State, you can specify a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special function called a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reducer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228725" y="4733106"/>
            <a:ext cx="4615843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When you return a new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LangGraph uses the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reducer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to combine this field with existing State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247775" y="5497488"/>
            <a:ext cx="489127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This enables LangGraph to run multiple nodes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concurrently and combine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without overwriting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219200" y="1973580"/>
            <a:ext cx="4971600" cy="1524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1200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my_counting_node</a:t>
            </a: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(old_state: State) -&gt; State:</a:t>
            </a:r>
            <a:endParaRPr sz="1200">
              <a:solidFill>
                <a:srgbClr val="657B8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count = old_state.count</a:t>
            </a:r>
            <a:endParaRPr sz="1200">
              <a:solidFill>
                <a:srgbClr val="657B8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count += </a:t>
            </a:r>
            <a:r>
              <a:rPr lang="en-US" sz="1200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 sz="1200">
              <a:solidFill>
                <a:srgbClr val="2AA19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new_state = State(count=count)</a:t>
            </a:r>
            <a:endParaRPr sz="1200">
              <a:solidFill>
                <a:srgbClr val="657B8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1200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new_state</a:t>
            </a:r>
            <a:endParaRPr sz="1200">
              <a:solidFill>
                <a:srgbClr val="657B8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tool loop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573024" y="1097280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ToolNode runs the tools; tools_condition routes the flow</a:t>
            </a:r>
            <a:endParaRPr sz="135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463040" y="1783080"/>
            <a:ext cx="8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START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97" name="Google Shape;197;p10"/>
          <p:cNvCxnSpPr/>
          <p:nvPr/>
        </p:nvCxnSpPr>
        <p:spPr>
          <a:xfrm flipH="1">
            <a:off x="1889650" y="2140850"/>
            <a:ext cx="2400" cy="259500"/>
          </a:xfrm>
          <a:prstGeom prst="straightConnector1">
            <a:avLst/>
          </a:prstGeom>
          <a:noFill/>
          <a:ln cap="flat" cmpd="sng" w="19050">
            <a:solidFill>
              <a:srgbClr val="00B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0"/>
          <p:cNvSpPr/>
          <p:nvPr/>
        </p:nvSpPr>
        <p:spPr>
          <a:xfrm>
            <a:off x="1341120" y="2400300"/>
            <a:ext cx="1097400" cy="1097400"/>
          </a:xfrm>
          <a:prstGeom prst="ellipse">
            <a:avLst/>
          </a:prstGeom>
          <a:solidFill>
            <a:srgbClr val="FF7800">
              <a:alpha val="34900"/>
            </a:srgbClr>
          </a:solidFill>
          <a:ln cap="flat" cmpd="sng" w="19050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chatbot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657600" y="2400300"/>
            <a:ext cx="1097400" cy="1097400"/>
          </a:xfrm>
          <a:prstGeom prst="ellipse">
            <a:avLst/>
          </a:prstGeom>
          <a:solidFill>
            <a:srgbClr val="FF7800">
              <a:alpha val="34900"/>
            </a:srgbClr>
          </a:solidFill>
          <a:ln cap="flat" cmpd="sng" w="19050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tools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00" name="Google Shape;200;p10"/>
          <p:cNvGrpSpPr/>
          <p:nvPr/>
        </p:nvGrpSpPr>
        <p:grpSpPr>
          <a:xfrm>
            <a:off x="2438400" y="2386584"/>
            <a:ext cx="1219200" cy="356616"/>
            <a:chOff x="2438400" y="2386584"/>
            <a:chExt cx="1219200" cy="356616"/>
          </a:xfrm>
        </p:grpSpPr>
        <p:cxnSp>
          <p:nvCxnSpPr>
            <p:cNvPr id="201" name="Google Shape;201;p10"/>
            <p:cNvCxnSpPr/>
            <p:nvPr/>
          </p:nvCxnSpPr>
          <p:spPr>
            <a:xfrm>
              <a:off x="2438400" y="2743200"/>
              <a:ext cx="1219200" cy="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02" name="Google Shape;202;p10"/>
            <p:cNvSpPr txBox="1"/>
            <p:nvPr/>
          </p:nvSpPr>
          <p:spPr>
            <a:xfrm>
              <a:off x="2499360" y="2386584"/>
              <a:ext cx="10974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wants a tool</a:t>
              </a:r>
              <a:endParaRPr sz="1125">
                <a:solidFill>
                  <a:srgbClr val="00BFFF"/>
                </a:solidFill>
              </a:endParaRPr>
            </a:p>
          </p:txBody>
        </p:sp>
      </p:grpSp>
      <p:grpSp>
        <p:nvGrpSpPr>
          <p:cNvPr id="203" name="Google Shape;203;p10"/>
          <p:cNvGrpSpPr/>
          <p:nvPr/>
        </p:nvGrpSpPr>
        <p:grpSpPr>
          <a:xfrm>
            <a:off x="2255520" y="3154680"/>
            <a:ext cx="1584900" cy="308670"/>
            <a:chOff x="2255520" y="3154680"/>
            <a:chExt cx="1584900" cy="308670"/>
          </a:xfrm>
        </p:grpSpPr>
        <p:cxnSp>
          <p:nvCxnSpPr>
            <p:cNvPr id="204" name="Google Shape;204;p10"/>
            <p:cNvCxnSpPr/>
            <p:nvPr/>
          </p:nvCxnSpPr>
          <p:spPr>
            <a:xfrm>
              <a:off x="2438400" y="3154680"/>
              <a:ext cx="1219200" cy="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05" name="Google Shape;205;p10"/>
            <p:cNvSpPr txBox="1"/>
            <p:nvPr/>
          </p:nvSpPr>
          <p:spPr>
            <a:xfrm>
              <a:off x="2255520" y="3257550"/>
              <a:ext cx="15849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ToolMessage results</a:t>
              </a:r>
              <a:endParaRPr sz="1125">
                <a:solidFill>
                  <a:srgbClr val="00BFFF"/>
                </a:solidFill>
              </a:endParaRPr>
            </a:p>
          </p:txBody>
        </p:sp>
      </p:grpSp>
      <p:grpSp>
        <p:nvGrpSpPr>
          <p:cNvPr id="206" name="Google Shape;206;p10"/>
          <p:cNvGrpSpPr/>
          <p:nvPr/>
        </p:nvGrpSpPr>
        <p:grpSpPr>
          <a:xfrm>
            <a:off x="1889760" y="3497580"/>
            <a:ext cx="1133796" cy="342900"/>
            <a:chOff x="1889760" y="3497580"/>
            <a:chExt cx="1133796" cy="342900"/>
          </a:xfrm>
        </p:grpSpPr>
        <p:cxnSp>
          <p:nvCxnSpPr>
            <p:cNvPr id="207" name="Google Shape;207;p10"/>
            <p:cNvCxnSpPr/>
            <p:nvPr/>
          </p:nvCxnSpPr>
          <p:spPr>
            <a:xfrm>
              <a:off x="1889760" y="349758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08" name="Google Shape;208;p10"/>
            <p:cNvSpPr txBox="1"/>
            <p:nvPr/>
          </p:nvSpPr>
          <p:spPr>
            <a:xfrm>
              <a:off x="2048256" y="3566160"/>
              <a:ext cx="9753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done</a:t>
              </a:r>
              <a:endParaRPr sz="1125">
                <a:solidFill>
                  <a:srgbClr val="00BFFF"/>
                </a:solidFill>
              </a:endParaRPr>
            </a:p>
          </p:txBody>
        </p:sp>
      </p:grpSp>
      <p:sp>
        <p:nvSpPr>
          <p:cNvPr id="209" name="Google Shape;209;p10"/>
          <p:cNvSpPr txBox="1"/>
          <p:nvPr/>
        </p:nvSpPr>
        <p:spPr>
          <a:xfrm>
            <a:off x="1463040" y="3909060"/>
            <a:ext cx="8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609600" y="521208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bind_tools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gives the model its options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609600" y="569214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tools_condition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routes: another tool call, or finish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609600" y="617220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ToolNode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runs the calls and feeds results back to the model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Observability with LangSmith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573024" y="1097280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lines in .env and every run is traced</a:t>
            </a:r>
            <a:endParaRPr sz="135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609600" y="2057400"/>
            <a:ext cx="5608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Set up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sign up at smith.langchain.com, add your API key and some constants to .env per the screens (rerun load_dotenv)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609600" y="2948940"/>
            <a:ext cx="5608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Every run traced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each model call, tool call, token and latency, with no code changes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609600" y="3840480"/>
            <a:ext cx="5608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Debug visually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see exactly which nodes ran, in what order, with inputs and outputs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609600" y="4732020"/>
            <a:ext cx="5608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Free to start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the Developer tier includes 5k traces a month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 </a:t>
            </a:r>
            <a:r>
              <a:rPr b="1" i="0" lang="en-US" sz="33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228725" y="1611288"/>
            <a:ext cx="4791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"</a:t>
            </a: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 super-step can be considered a single iteration</a:t>
            </a:r>
            <a:b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over the graph nodes. Nodes that run in parallel are</a:t>
            </a:r>
            <a:b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part of the same super-step, while nodes that run</a:t>
            </a:r>
            <a:b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sequentially belong to separate super-steps.</a:t>
            </a: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1228725" y="3132113"/>
            <a:ext cx="4851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One </a:t>
            </a:r>
            <a:r>
              <a:rPr b="1" lang="en-US" sz="135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graph.invoke()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call is one run: a sequence of super-steps, one per layer of nodes</a:t>
            </a:r>
            <a:endParaRPr sz="1350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238250" y="4167163"/>
            <a:ext cx="43026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Each successive LLM call is one </a:t>
            </a: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super-step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; if it requests multiple tool calls, they run in the next super-step</a:t>
            </a:r>
            <a:endParaRPr sz="1350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228725" y="5202213"/>
            <a:ext cx="4321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Reducers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merge updates within a run; the </a:t>
            </a: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checkpointer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carries </a:t>
            </a:r>
            <a:r>
              <a:rPr b="1" lang="en-US" sz="135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between runs</a:t>
            </a:r>
            <a:endParaRPr sz="1350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1219200" y="3669030"/>
            <a:ext cx="4267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00BFFF"/>
                </a:solidFill>
              </a:rPr>
              <a:t>just like one Runner.run() in the OpenAI Agents SDK</a:t>
            </a:r>
            <a:endParaRPr sz="1125">
              <a:solidFill>
                <a:srgbClr val="00B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How it all fits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381125" y="1619250"/>
            <a:ext cx="1719300" cy="935700"/>
          </a:xfrm>
          <a:prstGeom prst="rect">
            <a:avLst/>
          </a:prstGeom>
          <a:solidFill>
            <a:srgbClr val="FFD700">
              <a:alpha val="34900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1524000" y="1776953"/>
            <a:ext cx="14337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b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381125" y="2927300"/>
            <a:ext cx="1719300" cy="935700"/>
          </a:xfrm>
          <a:prstGeom prst="rect">
            <a:avLst/>
          </a:prstGeom>
          <a:solidFill>
            <a:srgbClr val="FF7800">
              <a:alpha val="34900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1524000" y="3237453"/>
            <a:ext cx="143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381125" y="4235425"/>
            <a:ext cx="1719300" cy="935700"/>
          </a:xfrm>
          <a:prstGeom prst="rect">
            <a:avLst/>
          </a:prstGeom>
          <a:solidFill>
            <a:srgbClr val="FF7800">
              <a:alpha val="34900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1524000" y="4545553"/>
            <a:ext cx="143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381125" y="5543550"/>
            <a:ext cx="1719300" cy="935700"/>
          </a:xfrm>
          <a:prstGeom prst="rect">
            <a:avLst/>
          </a:prstGeom>
          <a:solidFill>
            <a:srgbClr val="FF7800">
              <a:alpha val="34900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1524000" y="5853653"/>
            <a:ext cx="143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3"/>
          <p:cNvCxnSpPr/>
          <p:nvPr/>
        </p:nvCxnSpPr>
        <p:spPr>
          <a:xfrm>
            <a:off x="2240775" y="2602956"/>
            <a:ext cx="0" cy="276300"/>
          </a:xfrm>
          <a:prstGeom prst="straightConnector1">
            <a:avLst/>
          </a:prstGeom>
          <a:noFill/>
          <a:ln cap="flat" cmpd="sng" w="25400">
            <a:solidFill>
              <a:srgbClr val="FFD7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13"/>
          <p:cNvCxnSpPr/>
          <p:nvPr/>
        </p:nvCxnSpPr>
        <p:spPr>
          <a:xfrm>
            <a:off x="2240775" y="3911006"/>
            <a:ext cx="0" cy="276300"/>
          </a:xfrm>
          <a:prstGeom prst="straightConnector1">
            <a:avLst/>
          </a:prstGeom>
          <a:noFill/>
          <a:ln cap="flat" cmpd="sng" w="25400">
            <a:solidFill>
              <a:srgbClr val="FF78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13"/>
          <p:cNvCxnSpPr/>
          <p:nvPr/>
        </p:nvCxnSpPr>
        <p:spPr>
          <a:xfrm>
            <a:off x="2240775" y="5219131"/>
            <a:ext cx="0" cy="276300"/>
          </a:xfrm>
          <a:prstGeom prst="straightConnector1">
            <a:avLst/>
          </a:prstGeom>
          <a:noFill/>
          <a:ln cap="flat" cmpd="sng" w="25400">
            <a:solidFill>
              <a:srgbClr val="FF78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13"/>
          <p:cNvSpPr txBox="1"/>
          <p:nvPr/>
        </p:nvSpPr>
        <p:spPr>
          <a:xfrm>
            <a:off x="3413760" y="3029712"/>
            <a:ext cx="2438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nodes run in parallel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reducers merge updates into State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3413760" y="4339590"/>
            <a:ext cx="2438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nodes run in parallel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reducers merge updates into State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3413760" y="5635752"/>
            <a:ext cx="2438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nodes run in parallel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reducers merge updates into State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Checkpointing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381125" y="1619250"/>
            <a:ext cx="1719300" cy="935700"/>
          </a:xfrm>
          <a:prstGeom prst="rect">
            <a:avLst/>
          </a:prstGeom>
          <a:solidFill>
            <a:srgbClr val="FFD700">
              <a:alpha val="34900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1524000" y="1776953"/>
            <a:ext cx="14337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b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381125" y="2927300"/>
            <a:ext cx="1719300" cy="935700"/>
          </a:xfrm>
          <a:prstGeom prst="rect">
            <a:avLst/>
          </a:prstGeom>
          <a:solidFill>
            <a:srgbClr val="FF7800">
              <a:alpha val="34900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1524000" y="3237453"/>
            <a:ext cx="143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381125" y="4235425"/>
            <a:ext cx="1719300" cy="935700"/>
          </a:xfrm>
          <a:prstGeom prst="rect">
            <a:avLst/>
          </a:prstGeom>
          <a:solidFill>
            <a:srgbClr val="FF7800">
              <a:alpha val="34900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1524000" y="4545553"/>
            <a:ext cx="143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381125" y="5543550"/>
            <a:ext cx="1719300" cy="935700"/>
          </a:xfrm>
          <a:prstGeom prst="rect">
            <a:avLst/>
          </a:prstGeom>
          <a:solidFill>
            <a:srgbClr val="FF7800">
              <a:alpha val="34900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1524000" y="5853653"/>
            <a:ext cx="143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4"/>
          <p:cNvCxnSpPr/>
          <p:nvPr/>
        </p:nvCxnSpPr>
        <p:spPr>
          <a:xfrm>
            <a:off x="737458" y="2683361"/>
            <a:ext cx="33642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70" name="Google Shape;270;p14"/>
          <p:cNvCxnSpPr/>
          <p:nvPr/>
        </p:nvCxnSpPr>
        <p:spPr>
          <a:xfrm>
            <a:off x="737458" y="4016861"/>
            <a:ext cx="33642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71" name="Google Shape;271;p14"/>
          <p:cNvCxnSpPr/>
          <p:nvPr/>
        </p:nvCxnSpPr>
        <p:spPr>
          <a:xfrm>
            <a:off x="737458" y="5350361"/>
            <a:ext cx="33642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72" name="Google Shape;272;p14"/>
          <p:cNvCxnSpPr/>
          <p:nvPr/>
        </p:nvCxnSpPr>
        <p:spPr>
          <a:xfrm>
            <a:off x="2240775" y="2602956"/>
            <a:ext cx="0" cy="276300"/>
          </a:xfrm>
          <a:prstGeom prst="straightConnector1">
            <a:avLst/>
          </a:prstGeom>
          <a:noFill/>
          <a:ln cap="flat" cmpd="sng" w="25400">
            <a:solidFill>
              <a:srgbClr val="FFD7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14"/>
          <p:cNvCxnSpPr/>
          <p:nvPr/>
        </p:nvCxnSpPr>
        <p:spPr>
          <a:xfrm>
            <a:off x="2240775" y="3911006"/>
            <a:ext cx="0" cy="276300"/>
          </a:xfrm>
          <a:prstGeom prst="straightConnector1">
            <a:avLst/>
          </a:prstGeom>
          <a:noFill/>
          <a:ln cap="flat" cmpd="sng" w="25400">
            <a:solidFill>
              <a:srgbClr val="FF78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14"/>
          <p:cNvCxnSpPr/>
          <p:nvPr/>
        </p:nvCxnSpPr>
        <p:spPr>
          <a:xfrm>
            <a:off x="2240775" y="5219131"/>
            <a:ext cx="0" cy="276300"/>
          </a:xfrm>
          <a:prstGeom prst="straightConnector1">
            <a:avLst/>
          </a:prstGeom>
          <a:noFill/>
          <a:ln cap="flat" cmpd="sng" w="25400">
            <a:solidFill>
              <a:srgbClr val="FF78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14"/>
          <p:cNvSpPr txBox="1"/>
          <p:nvPr/>
        </p:nvSpPr>
        <p:spPr>
          <a:xfrm>
            <a:off x="3413760" y="3029712"/>
            <a:ext cx="2438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nodes run in parallel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reducers merge updates into State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3413760" y="4339590"/>
            <a:ext cx="2438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nodes run in parallel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reducers merge updates into State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3413760" y="5635752"/>
            <a:ext cx="2438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nodes run in parallel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reducers merge updates into State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4328160" y="2467356"/>
            <a:ext cx="195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a checkpoint after every super-step</a:t>
            </a:r>
            <a:endParaRPr sz="112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Memory and time travel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573024" y="1097280"/>
            <a:ext cx="573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 checkpointer saves a snapshot after every super-step</a:t>
            </a:r>
            <a:endParaRPr sz="135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609600" y="192024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MemorySaver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keeps checkpoints in memory; gone on restart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609600" y="267462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SqliteSaver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writes them to a file that survives restarts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609600" y="342900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thread_id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the config key that files and reloads a conversation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609600" y="418338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get_state and get_state_history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inspect every snapshot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609600" y="493776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Time travel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rerun the graph from any earlier checkpoint_id</a:t>
            </a:r>
            <a:endParaRPr sz="13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348" name="Google Shape;348;p16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LangChain</a:t>
            </a:r>
            <a:endParaRPr sz="1125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create_agent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16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57" name="Google Shape;357;p16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76" name="Google Shape;376;p17" title="04_wX_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