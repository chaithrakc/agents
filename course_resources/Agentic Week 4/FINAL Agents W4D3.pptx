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embeddedFontLst>
    <p:embeddedFont>
      <p:font typeface="Roboto Slab"/>
      <p:regular r:id="rId13"/>
      <p:bold r:id="rId14"/>
    </p:embeddedFont>
    <p:embeddedFont>
      <p:font typeface="Montserrat SemiBold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7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italic.fntdata"/><Relationship Id="rId13" Type="http://schemas.openxmlformats.org/officeDocument/2006/relationships/font" Target="fonts/RobotoSlab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5" Type="http://schemas.openxmlformats.org/officeDocument/2006/relationships/slide" Target="slides/slide1.xml"/><Relationship Id="rId19" Type="http://schemas.openxmlformats.org/officeDocument/2006/relationships/font" Target="fonts/Montserrat-regular.fntdata"/><Relationship Id="rId6" Type="http://schemas.openxmlformats.org/officeDocument/2006/relationships/slide" Target="slides/slide2.xml"/><Relationship Id="rId18" Type="http://schemas.openxmlformats.org/officeDocument/2006/relationships/font" Target="fonts/Montserrat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b9fd2f6dd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b9fd2f6dd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b9fd2f6dd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b9fd2f6dd_2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eb9fd2f6dd_2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eb9fd2f6dd_2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b9fd2f6dd_2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b9fd2f6dd_2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eb9fd2f6dd_2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w4d3_agent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w4d3_agent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w4d3_agent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w4d3_features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w4d3_features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w4d3_features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w4d3_setup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w4d3_setup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w4d3_setup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w4d3_ma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w4d3_ma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w4d3_ma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b9fd2f6dd_2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eb9fd2f6dd_2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eb9fd2f6dd_2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4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 title="05_wX_3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2" cy="6858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76" name="Google Shape;76;p4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>
              <a:alpha val="34900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LangChain</a:t>
            </a:r>
            <a:endParaRPr sz="1125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create_agent</a:t>
            </a:r>
            <a:endParaRPr sz="1125">
              <a:solidFill>
                <a:srgbClr val="FFFFFF"/>
              </a:solidFill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Deep Agents</a:t>
            </a:r>
            <a:endParaRPr sz="1125">
              <a:solidFill>
                <a:srgbClr val="FFFFFF"/>
              </a:solidFill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Recap: the abstraction layers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573024" y="1083564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Four levels: control at the bottom, convenience at the top</a:t>
            </a:r>
            <a:endParaRPr sz="130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04" name="Google Shape;104;p5"/>
          <p:cNvGrpSpPr/>
          <p:nvPr/>
        </p:nvGrpSpPr>
        <p:grpSpPr>
          <a:xfrm>
            <a:off x="573024" y="2804921"/>
            <a:ext cx="5730300" cy="3374257"/>
            <a:chOff x="573024" y="2804921"/>
            <a:chExt cx="5730300" cy="3374257"/>
          </a:xfrm>
        </p:grpSpPr>
        <p:sp>
          <p:nvSpPr>
            <p:cNvPr id="105" name="Google Shape;105;p5"/>
            <p:cNvSpPr/>
            <p:nvPr/>
          </p:nvSpPr>
          <p:spPr>
            <a:xfrm>
              <a:off x="573024" y="5081778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5"/>
            <p:cNvSpPr txBox="1"/>
            <p:nvPr/>
          </p:nvSpPr>
          <p:spPr>
            <a:xfrm>
              <a:off x="4815840" y="2804921"/>
              <a:ext cx="13410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00BFFF"/>
                  </a:solidFill>
                </a:rPr>
                <a:t>TODAY</a:t>
              </a:r>
              <a:endParaRPr sz="1125">
                <a:solidFill>
                  <a:srgbClr val="00BFFF"/>
                </a:solidFill>
              </a:endParaRPr>
            </a:p>
          </p:txBody>
        </p:sp>
        <p:sp>
          <p:nvSpPr>
            <p:cNvPr id="107" name="Google Shape;107;p5"/>
            <p:cNvSpPr txBox="1"/>
            <p:nvPr/>
          </p:nvSpPr>
          <p:spPr>
            <a:xfrm>
              <a:off x="755904" y="5150357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1  Building blocks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Models, messages and tools; you control everything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4364736" y="5218937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5"/>
            <p:cNvSpPr txBox="1"/>
            <p:nvPr/>
          </p:nvSpPr>
          <p:spPr>
            <a:xfrm>
              <a:off x="4486656" y="5081778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langchain-core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10" name="Google Shape;110;p5"/>
          <p:cNvGrpSpPr/>
          <p:nvPr/>
        </p:nvGrpSpPr>
        <p:grpSpPr>
          <a:xfrm>
            <a:off x="573024" y="3902201"/>
            <a:ext cx="5730300" cy="1097400"/>
            <a:chOff x="573024" y="3902201"/>
            <a:chExt cx="5730300" cy="1097400"/>
          </a:xfrm>
        </p:grpSpPr>
        <p:sp>
          <p:nvSpPr>
            <p:cNvPr id="111" name="Google Shape;111;p5"/>
            <p:cNvSpPr/>
            <p:nvPr/>
          </p:nvSpPr>
          <p:spPr>
            <a:xfrm>
              <a:off x="573024" y="3902201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 txBox="1"/>
            <p:nvPr/>
          </p:nvSpPr>
          <p:spPr>
            <a:xfrm>
              <a:off x="755904" y="3970781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2  Orchestration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StateGraph, nodes, edges, checkpoints; you control the flow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4364736" y="4039362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 txBox="1"/>
            <p:nvPr/>
          </p:nvSpPr>
          <p:spPr>
            <a:xfrm>
              <a:off x="4486656" y="3902201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langgraph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15" name="Google Shape;115;p5"/>
          <p:cNvGrpSpPr/>
          <p:nvPr/>
        </p:nvGrpSpPr>
        <p:grpSpPr>
          <a:xfrm>
            <a:off x="573024" y="2722626"/>
            <a:ext cx="5730300" cy="1097400"/>
            <a:chOff x="573024" y="2722626"/>
            <a:chExt cx="5730300" cy="1097400"/>
          </a:xfrm>
        </p:grpSpPr>
        <p:sp>
          <p:nvSpPr>
            <p:cNvPr id="116" name="Google Shape;116;p5"/>
            <p:cNvSpPr/>
            <p:nvPr/>
          </p:nvSpPr>
          <p:spPr>
            <a:xfrm>
              <a:off x="573024" y="2722626"/>
              <a:ext cx="5730300" cy="10974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5"/>
            <p:cNvSpPr txBox="1"/>
            <p:nvPr/>
          </p:nvSpPr>
          <p:spPr>
            <a:xfrm>
              <a:off x="755904" y="2791206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3  Agent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agent loop prebuilt; you supply model, tools and prompt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4364736" y="2859786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5"/>
            <p:cNvSpPr txBox="1"/>
            <p:nvPr/>
          </p:nvSpPr>
          <p:spPr>
            <a:xfrm>
              <a:off x="4486656" y="2722626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langchain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20" name="Google Shape;120;p5"/>
          <p:cNvGrpSpPr/>
          <p:nvPr/>
        </p:nvGrpSpPr>
        <p:grpSpPr>
          <a:xfrm>
            <a:off x="573024" y="1543050"/>
            <a:ext cx="5730300" cy="1097400"/>
            <a:chOff x="573024" y="1543050"/>
            <a:chExt cx="5730300" cy="1097400"/>
          </a:xfrm>
        </p:grpSpPr>
        <p:sp>
          <p:nvSpPr>
            <p:cNvPr id="121" name="Google Shape;121;p5"/>
            <p:cNvSpPr/>
            <p:nvPr/>
          </p:nvSpPr>
          <p:spPr>
            <a:xfrm>
              <a:off x="573024" y="1543050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5"/>
            <p:cNvSpPr txBox="1"/>
            <p:nvPr/>
          </p:nvSpPr>
          <p:spPr>
            <a:xfrm>
              <a:off x="755904" y="1611630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4  Harness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Planning, sub agents, a filesystem; you supply intent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4364736" y="1680210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5"/>
            <p:cNvSpPr txBox="1"/>
            <p:nvPr/>
          </p:nvSpPr>
          <p:spPr>
            <a:xfrm>
              <a:off x="4486656" y="1543050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deepagents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create_agent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573024" y="1083564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Layer 3: the agent loop in one function call</a:t>
            </a:r>
            <a:endParaRPr sz="180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670560" y="1920240"/>
            <a:ext cx="536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One call</a:t>
            </a:r>
            <a:r>
              <a:rPr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a model, tools and a system prompt; the agent loop arrives prebuilt</a:t>
            </a:r>
            <a:endParaRPr sz="16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670560" y="2811780"/>
            <a:ext cx="536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A LangGraph graph</a:t>
            </a:r>
            <a:r>
              <a:rPr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it returns the same compiled graph you wired by hand yesterday</a:t>
            </a:r>
            <a:endParaRPr sz="16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670560" y="3703320"/>
            <a:ext cx="536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The trade-offs</a:t>
            </a:r>
            <a:r>
              <a:rPr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climb a layer: hand control to the framework, write far less code</a:t>
            </a:r>
            <a:endParaRPr sz="16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670560" y="4594860"/>
            <a:ext cx="536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Batteries included</a:t>
            </a:r>
            <a:r>
              <a:rPr lang="en-US"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 memory, structured output, middleware and MCP, ready for projects</a:t>
            </a:r>
            <a:endParaRPr sz="16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Features we'll explore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42" name="Google Shape;142;p7"/>
          <p:cNvGrpSpPr/>
          <p:nvPr/>
        </p:nvGrpSpPr>
        <p:grpSpPr>
          <a:xfrm>
            <a:off x="896112" y="1405890"/>
            <a:ext cx="5321808" cy="617100"/>
            <a:chOff x="896112" y="1405890"/>
            <a:chExt cx="5321808" cy="617100"/>
          </a:xfrm>
        </p:grpSpPr>
        <p:sp>
          <p:nvSpPr>
            <p:cNvPr id="143" name="Google Shape;143;p7"/>
            <p:cNvSpPr txBox="1"/>
            <p:nvPr/>
          </p:nvSpPr>
          <p:spPr>
            <a:xfrm>
              <a:off x="1341120" y="140589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simplest agent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model and a prompt in one call, like OpenAI Agents SDK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44" name="Google Shape;144;p7" title="icon_d3_robo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147523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" name="Google Shape;145;p7"/>
          <p:cNvGrpSpPr/>
          <p:nvPr/>
        </p:nvGrpSpPr>
        <p:grpSpPr>
          <a:xfrm>
            <a:off x="896112" y="2914650"/>
            <a:ext cx="5321808" cy="617100"/>
            <a:chOff x="896112" y="2160270"/>
            <a:chExt cx="5321808" cy="617100"/>
          </a:xfrm>
        </p:grpSpPr>
        <p:sp>
          <p:nvSpPr>
            <p:cNvPr id="146" name="Google Shape;146;p7"/>
            <p:cNvSpPr txBox="1"/>
            <p:nvPr/>
          </p:nvSpPr>
          <p:spPr>
            <a:xfrm>
              <a:off x="1341120" y="216027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your @tool functions from Day 1; the loop runs itself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47" name="Google Shape;147;p7" title="icon_tools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222961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8" name="Google Shape;148;p7"/>
          <p:cNvGrpSpPr/>
          <p:nvPr/>
        </p:nvGrpSpPr>
        <p:grpSpPr>
          <a:xfrm>
            <a:off x="896112" y="3669030"/>
            <a:ext cx="5321808" cy="617100"/>
            <a:chOff x="896112" y="3669030"/>
            <a:chExt cx="5321808" cy="617100"/>
          </a:xfrm>
        </p:grpSpPr>
        <p:sp>
          <p:nvSpPr>
            <p:cNvPr id="149" name="Google Shape;149;p7"/>
            <p:cNvSpPr txBox="1"/>
            <p:nvPr/>
          </p:nvSpPr>
          <p:spPr>
            <a:xfrm>
              <a:off x="1341120" y="366903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Memory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 checkpointer and a thread_id, exactly like yesterday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50" name="Google Shape;150;p7" title="icon_lg_memory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373837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p7"/>
          <p:cNvGrpSpPr/>
          <p:nvPr/>
        </p:nvGrpSpPr>
        <p:grpSpPr>
          <a:xfrm>
            <a:off x="896112" y="4423410"/>
            <a:ext cx="5321808" cy="617100"/>
            <a:chOff x="896112" y="4423410"/>
            <a:chExt cx="5321808" cy="617100"/>
          </a:xfrm>
        </p:grpSpPr>
        <p:sp>
          <p:nvSpPr>
            <p:cNvPr id="152" name="Google Shape;152;p7"/>
            <p:cNvSpPr txBox="1"/>
            <p:nvPr/>
          </p:nvSpPr>
          <p:spPr>
            <a:xfrm>
              <a:off x="1341120" y="442341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Structured output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response_format returns your Pydantic object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53" name="Google Shape;153;p7" title="icon_structured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449275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" name="Google Shape;154;p7"/>
          <p:cNvGrpSpPr/>
          <p:nvPr/>
        </p:nvGrpSpPr>
        <p:grpSpPr>
          <a:xfrm>
            <a:off x="896112" y="5177790"/>
            <a:ext cx="5321808" cy="617100"/>
            <a:chOff x="896112" y="5177790"/>
            <a:chExt cx="5321808" cy="617100"/>
          </a:xfrm>
        </p:grpSpPr>
        <p:sp>
          <p:nvSpPr>
            <p:cNvPr id="155" name="Google Shape;155;p7"/>
            <p:cNvSpPr txBox="1"/>
            <p:nvPr/>
          </p:nvSpPr>
          <p:spPr>
            <a:xfrm>
              <a:off x="1341120" y="517779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Middleware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your hooks inside the loop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56" name="Google Shape;156;p7" title="icon_d3_gear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6112" y="524713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" name="Google Shape;157;p7"/>
          <p:cNvGrpSpPr/>
          <p:nvPr/>
        </p:nvGrpSpPr>
        <p:grpSpPr>
          <a:xfrm>
            <a:off x="896112" y="5932170"/>
            <a:ext cx="5321808" cy="617100"/>
            <a:chOff x="896112" y="5932170"/>
            <a:chExt cx="5321808" cy="617100"/>
          </a:xfrm>
        </p:grpSpPr>
        <p:sp>
          <p:nvSpPr>
            <p:cNvPr id="158" name="Google Shape;158;p7"/>
            <p:cNvSpPr txBox="1"/>
            <p:nvPr/>
          </p:nvSpPr>
          <p:spPr>
            <a:xfrm>
              <a:off x="1341120" y="593217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MCP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server tools drive a real browser before your eyes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59" name="Google Shape;159;p7" title="icon_d3_browser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96112" y="600151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" name="Google Shape;160;p7"/>
          <p:cNvGrpSpPr/>
          <p:nvPr/>
        </p:nvGrpSpPr>
        <p:grpSpPr>
          <a:xfrm>
            <a:off x="896112" y="2160270"/>
            <a:ext cx="5321808" cy="617100"/>
            <a:chOff x="896112" y="2160270"/>
            <a:chExt cx="5321808" cy="617100"/>
          </a:xfrm>
        </p:grpSpPr>
        <p:sp>
          <p:nvSpPr>
            <p:cNvPr id="161" name="Google Shape;161;p7"/>
            <p:cNvSpPr txBox="1"/>
            <p:nvPr/>
          </p:nvSpPr>
          <p:spPr>
            <a:xfrm>
              <a:off x="1341120" y="2160270"/>
              <a:ext cx="48768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ainvoke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invoke's async equivalent; await it, nothing else changes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62" name="Google Shape;162;p7" title="icon_d3_async.pn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96112" y="222961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Setup: Node and Playwright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573024" y="1083564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What Part 6 needs from your machine</a:t>
            </a:r>
            <a:endParaRPr sz="1800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70" name="Google Shape;170;p8"/>
          <p:cNvGrpSpPr/>
          <p:nvPr/>
        </p:nvGrpSpPr>
        <p:grpSpPr>
          <a:xfrm>
            <a:off x="792480" y="3634740"/>
            <a:ext cx="5547480" cy="2125860"/>
            <a:chOff x="792480" y="3634740"/>
            <a:chExt cx="5547480" cy="2125860"/>
          </a:xfrm>
        </p:grpSpPr>
        <p:sp>
          <p:nvSpPr>
            <p:cNvPr id="171" name="Google Shape;171;p8"/>
            <p:cNvSpPr txBox="1"/>
            <p:nvPr/>
          </p:nvSpPr>
          <p:spPr>
            <a:xfrm>
              <a:off x="1584960" y="3634740"/>
              <a:ext cx="47550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Playwright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Microsoft's browser automation; it opens and drives real Chrome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2" name="Google Shape;172;p8"/>
            <p:cNvSpPr txBox="1"/>
            <p:nvPr/>
          </p:nvSpPr>
          <p:spPr>
            <a:xfrm>
              <a:off x="1584960" y="4389120"/>
              <a:ext cx="47550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Nothing to install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npx fetches the MCP server on first run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3" name="Google Shape;173;p8"/>
            <p:cNvSpPr txBox="1"/>
            <p:nvPr/>
          </p:nvSpPr>
          <p:spPr>
            <a:xfrm>
              <a:off x="1584960" y="5143500"/>
              <a:ext cx="47550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Preflight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we screenshot a live page before any agent touches it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74" name="Google Shape;174;p8" title="icon_d3_playwright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2480" y="4389120"/>
              <a:ext cx="548608" cy="5486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5" name="Google Shape;175;p8"/>
          <p:cNvGrpSpPr/>
          <p:nvPr/>
        </p:nvGrpSpPr>
        <p:grpSpPr>
          <a:xfrm>
            <a:off x="792480" y="1714500"/>
            <a:ext cx="5547480" cy="1371480"/>
            <a:chOff x="792480" y="1714500"/>
            <a:chExt cx="5547480" cy="1371480"/>
          </a:xfrm>
        </p:grpSpPr>
        <p:sp>
          <p:nvSpPr>
            <p:cNvPr id="176" name="Google Shape;176;p8"/>
            <p:cNvSpPr txBox="1"/>
            <p:nvPr/>
          </p:nvSpPr>
          <p:spPr>
            <a:xfrm>
              <a:off x="1584960" y="1714500"/>
              <a:ext cx="47550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Node.js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JavaScript runtime; its npx command runs packages on demand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7" name="Google Shape;177;p8"/>
            <p:cNvSpPr txBox="1"/>
            <p:nvPr/>
          </p:nvSpPr>
          <p:spPr>
            <a:xfrm>
              <a:off x="1584960" y="2468880"/>
              <a:ext cx="47550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Install once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LTS from nodejs.org, then confirm with node --version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78" name="Google Shape;178;p8" title="icon_d3_node2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2480" y="2091690"/>
              <a:ext cx="548608" cy="5486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236" name="Google Shape;236;p9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240" name="Google Shape;240;p9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FFF">
              <a:alpha val="34900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Deep Agents</a:t>
            </a:r>
            <a:endParaRPr sz="1125">
              <a:solidFill>
                <a:srgbClr val="FFFFFF"/>
              </a:solidFill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" name="Google Shape;244;p9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245" name="Google Shape;245;p9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9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9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9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9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9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9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10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60%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64" name="Google Shape;264;p10" title="06_wX_3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2" cy="6858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