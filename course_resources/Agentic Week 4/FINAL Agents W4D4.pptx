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Roboto Slab"/>
      <p:regular r:id="rId13"/>
      <p:bold r:id="rId14"/>
    </p:embeddedFon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SemiBold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bc54eaa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bc54eaa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bc54eaaf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bc54eaaf4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bc54eaaf4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bc54eaaf4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c54eaaf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c54eaaf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bc54eaaf4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w4d4_dee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w4d4_dee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w4d4_dee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w4d4_features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w4d4_features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w4d4_features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w4d4_skill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w4d4_skill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w4d4_skill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w4d4_ma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w4d4_ma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w4d4_ma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bc54eaaf4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bc54eaaf4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bc54eaaf4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07_wX_4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2" cy="685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04" name="Google Shape;104;p5"/>
          <p:cNvGrpSpPr/>
          <p:nvPr/>
        </p:nvGrpSpPr>
        <p:grpSpPr>
          <a:xfrm>
            <a:off x="573024" y="1625346"/>
            <a:ext cx="5730300" cy="4553832"/>
            <a:chOff x="573024" y="1625346"/>
            <a:chExt cx="5730300" cy="4553832"/>
          </a:xfrm>
        </p:grpSpPr>
        <p:sp>
          <p:nvSpPr>
            <p:cNvPr id="105" name="Google Shape;105;p5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4815840" y="1625346"/>
              <a:ext cx="1341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TODAY</a:t>
              </a:r>
              <a:endParaRPr sz="1125">
                <a:solidFill>
                  <a:srgbClr val="00BFFF"/>
                </a:solidFill>
              </a:endParaRPr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11" name="Google Shape;111;p5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116" name="Google Shape;116;p5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121" name="Google Shape;121;p5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solidFill>
              <a:srgbClr val="00BE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Deep Agents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Layer 4: a harness around yesterday's agent</a:t>
            </a:r>
            <a:endParaRPr sz="1800">
              <a:solidFill>
                <a:srgbClr val="00BE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73024" y="192024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One call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create_deep_agent wraps create_agent in an opinionated harness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573024" y="281178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Built in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a planning todo list, a filesystem and sub-agents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73024" y="370332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The trade-off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you supply the intent, the harness supplies the structure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Our Tour of Deep Agents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896112" y="1405890"/>
            <a:ext cx="5443728" cy="617100"/>
            <a:chOff x="896112" y="1405890"/>
            <a:chExt cx="5443728" cy="617100"/>
          </a:xfrm>
        </p:grpSpPr>
        <p:sp>
          <p:nvSpPr>
            <p:cNvPr id="142" name="Google Shape;142;p7"/>
            <p:cNvSpPr txBox="1"/>
            <p:nvPr/>
          </p:nvSpPr>
          <p:spPr>
            <a:xfrm>
              <a:off x="1463040" y="140589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commercial brief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research an EV fleet switch and write it up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3" name="Google Shape;143;p7" title="icon_d4_car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4752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7"/>
          <p:cNvGrpSpPr/>
          <p:nvPr/>
        </p:nvGrpSpPr>
        <p:grpSpPr>
          <a:xfrm>
            <a:off x="896112" y="2297430"/>
            <a:ext cx="5443728" cy="617100"/>
            <a:chOff x="896112" y="2297430"/>
            <a:chExt cx="5443728" cy="617100"/>
          </a:xfrm>
        </p:grpSpPr>
        <p:sp>
          <p:nvSpPr>
            <p:cNvPr id="145" name="Google Shape;145;p7"/>
            <p:cNvSpPr txBox="1"/>
            <p:nvPr/>
          </p:nvSpPr>
          <p:spPr>
            <a:xfrm>
              <a:off x="1463040" y="229743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E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agent writes its own todo list and works through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6" name="Google Shape;146;p7" title="icon_d4_plan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3667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7"/>
          <p:cNvGrpSpPr/>
          <p:nvPr/>
        </p:nvGrpSpPr>
        <p:grpSpPr>
          <a:xfrm>
            <a:off x="896112" y="3188970"/>
            <a:ext cx="5443728" cy="617100"/>
            <a:chOff x="896112" y="3188970"/>
            <a:chExt cx="5443728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63040" y="318897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E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Filesystem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notes and briefings land as real files in a sandbox folder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9" name="Google Shape;149;p7" title="icon_d4_files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2583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7"/>
          <p:cNvGrpSpPr/>
          <p:nvPr/>
        </p:nvGrpSpPr>
        <p:grpSpPr>
          <a:xfrm>
            <a:off x="896112" y="4972050"/>
            <a:ext cx="5443728" cy="617100"/>
            <a:chOff x="896112" y="4972050"/>
            <a:chExt cx="5443728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63040" y="497205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E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Skills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SKILL.md teaches the slide-maker our house style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2" name="Google Shape;152;p7" title="icon_d4_skil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7"/>
          <p:cNvGrpSpPr/>
          <p:nvPr/>
        </p:nvGrpSpPr>
        <p:grpSpPr>
          <a:xfrm>
            <a:off x="896112" y="5863590"/>
            <a:ext cx="5443728" cy="617100"/>
            <a:chOff x="896112" y="5863590"/>
            <a:chExt cx="5443728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63040" y="586359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outcome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branded PowerPoint slide, researched and designed by agents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5" name="Google Shape;155;p7" title="icon_d4_payoff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9329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7"/>
          <p:cNvGrpSpPr/>
          <p:nvPr/>
        </p:nvGrpSpPr>
        <p:grpSpPr>
          <a:xfrm>
            <a:off x="896112" y="4080510"/>
            <a:ext cx="5443728" cy="617100"/>
            <a:chOff x="896112" y="4080510"/>
            <a:chExt cx="5443728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63040" y="408051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E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Sub-agents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focused work delegated through the task tool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8" name="Google Shape;158;p7" title="icon_lg_dependency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96112" y="41498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Skills: SKILL.md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573024" y="12359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Teach an agent a capability</a:t>
            </a:r>
            <a:endParaRPr sz="1800">
              <a:solidFill>
                <a:srgbClr val="00BE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73024" y="1695450"/>
            <a:ext cx="3779400" cy="26061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00BE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78787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endParaRPr sz="1100">
              <a:solidFill>
                <a:srgbClr val="87878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EFF"/>
                </a:solidFill>
                <a:latin typeface="Roboto Mono"/>
                <a:ea typeface="Roboto Mono"/>
                <a:cs typeface="Roboto Mono"/>
                <a:sym typeface="Roboto Mono"/>
              </a:rPr>
              <a:t>name:</a:t>
            </a: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fleet-slide</a:t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EFF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description:</a:t>
            </a: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House style for one-slide</a:t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recommendation decks</a:t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78787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endParaRPr sz="1100">
              <a:solidFill>
                <a:srgbClr val="87878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D700"/>
                </a:solidFill>
                <a:latin typeface="Roboto Mono"/>
                <a:ea typeface="Roboto Mono"/>
                <a:cs typeface="Roboto Mono"/>
                <a:sym typeface="Roboto Mono"/>
              </a:rPr>
              <a:t># Voltway Research recommendation slide</a:t>
            </a:r>
            <a:endParaRPr sz="1100">
              <a:solidFill>
                <a:srgbClr val="FFD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D700"/>
                </a:solidFill>
                <a:latin typeface="Roboto Mono"/>
                <a:ea typeface="Roboto Mono"/>
                <a:cs typeface="Roboto Mono"/>
                <a:sym typeface="Roboto Mono"/>
              </a:rPr>
              <a:t>## When to use</a:t>
            </a:r>
            <a:endParaRPr sz="1100">
              <a:solidFill>
                <a:srgbClr val="FFD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D700"/>
                </a:solidFill>
                <a:latin typeface="Roboto Mono"/>
                <a:ea typeface="Roboto Mono"/>
                <a:cs typeface="Roboto Mono"/>
                <a:sym typeface="Roboto Mono"/>
              </a:rPr>
              <a:t>## House style</a:t>
            </a:r>
            <a:endParaRPr sz="1100">
              <a:solidFill>
                <a:srgbClr val="FFD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D700"/>
                </a:solidFill>
                <a:latin typeface="Roboto Mono"/>
                <a:ea typeface="Roboto Mono"/>
                <a:cs typeface="Roboto Mono"/>
                <a:sym typeface="Roboto Mono"/>
              </a:rPr>
              <a:t>## Workflow</a:t>
            </a:r>
            <a:endParaRPr sz="1100">
              <a:solidFill>
                <a:srgbClr val="FFD7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573024" y="4423410"/>
            <a:ext cx="57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Frontmatter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name and description are all the agent sees up front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73024" y="5040630"/>
            <a:ext cx="57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EFF"/>
                </a:solidFill>
                <a:latin typeface="Roboto Slab"/>
                <a:ea typeface="Roboto Slab"/>
                <a:cs typeface="Roboto Slab"/>
                <a:sym typeface="Roboto Slab"/>
              </a:rPr>
              <a:t>Progressive disclosure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it reads the full file only when the skill is relevant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73024" y="5657850"/>
            <a:ext cx="57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An open pattern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same SKILL.md format Claude Code uses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27" name="Google Shape;227;p9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31" name="Google Shape;231;p9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33" name="Google Shape;233;p9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>
              <a:alpha val="34900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9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36" name="Google Shape;236;p9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5" name="Google Shape;255;p10" title="08_wX_4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2" cy="685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