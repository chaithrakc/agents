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Slab"/>
      <p:regular r:id="rId15"/>
      <p:bold r:id="rId16"/>
    </p:embeddedFont>
    <p:embeddedFont>
      <p:font typeface="Montserrat SemiBold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11" Type="http://schemas.openxmlformats.org/officeDocument/2006/relationships/slide" Target="slides/slide7.xml"/><Relationship Id="rId22" Type="http://schemas.openxmlformats.org/officeDocument/2006/relationships/font" Target="fonts/Montserrat-bold.fntdata"/><Relationship Id="rId10" Type="http://schemas.openxmlformats.org/officeDocument/2006/relationships/slide" Target="slides/slide6.xml"/><Relationship Id="rId21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24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MontserratSemiBold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aa3a7aa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aa3a7aa4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aa3a7aa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w4tl_slide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w4tl_slide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w4tl_slide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w4ec_slide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w4ec_slide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w4ec_slide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w4al_slide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w4al_slide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w4al_slide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w4al_slide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w4al_slide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w4al_slide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w4cc_slide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w4cc_slide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w4cc_slide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aa3a7aa4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g3eaa3a7aa4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eaa3a7aa44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4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LangChain Core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LangChain</a:t>
            </a:r>
            <a:endParaRPr sz="1125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create_agent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Deep Agents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LangChain means different things!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5" title="20_W4D1_S06_Landscape_fa8066d76695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50" y="1552572"/>
            <a:ext cx="6300077" cy="4200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LangChain story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96112" y="1645920"/>
            <a:ext cx="36600" cy="45264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6"/>
          <p:cNvGrpSpPr/>
          <p:nvPr/>
        </p:nvGrpSpPr>
        <p:grpSpPr>
          <a:xfrm>
            <a:off x="834400" y="1405890"/>
            <a:ext cx="5505320" cy="582900"/>
            <a:chOff x="834400" y="1405890"/>
            <a:chExt cx="5505320" cy="582900"/>
          </a:xfrm>
        </p:grpSpPr>
        <p:sp>
          <p:nvSpPr>
            <p:cNvPr id="112" name="Google Shape;112;p6"/>
            <p:cNvSpPr/>
            <p:nvPr/>
          </p:nvSpPr>
          <p:spPr>
            <a:xfrm>
              <a:off x="834400" y="1565920"/>
              <a:ext cx="159900" cy="1599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6"/>
            <p:cNvSpPr txBox="1"/>
            <p:nvPr/>
          </p:nvSpPr>
          <p:spPr>
            <a:xfrm>
              <a:off x="1341120" y="1405890"/>
              <a:ext cx="4998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Oct 2022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Released as open source by Harrison Chase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4" name="Google Shape;114;p6"/>
          <p:cNvGrpSpPr/>
          <p:nvPr/>
        </p:nvGrpSpPr>
        <p:grpSpPr>
          <a:xfrm>
            <a:off x="834400" y="2160270"/>
            <a:ext cx="5505320" cy="582900"/>
            <a:chOff x="834400" y="2160270"/>
            <a:chExt cx="5505320" cy="582900"/>
          </a:xfrm>
        </p:grpSpPr>
        <p:sp>
          <p:nvSpPr>
            <p:cNvPr id="115" name="Google Shape;115;p6"/>
            <p:cNvSpPr/>
            <p:nvPr/>
          </p:nvSpPr>
          <p:spPr>
            <a:xfrm>
              <a:off x="834400" y="2320300"/>
              <a:ext cx="159900" cy="1599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6"/>
            <p:cNvSpPr txBox="1"/>
            <p:nvPr/>
          </p:nvSpPr>
          <p:spPr>
            <a:xfrm>
              <a:off x="1341120" y="2160270"/>
              <a:ext cx="4998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2023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One of the first LLM abstraction layers: chains, prompt templates, RAG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17" name="Google Shape;117;p6"/>
          <p:cNvGrpSpPr/>
          <p:nvPr/>
        </p:nvGrpSpPr>
        <p:grpSpPr>
          <a:xfrm>
            <a:off x="834400" y="2914650"/>
            <a:ext cx="5505320" cy="582900"/>
            <a:chOff x="834400" y="2914650"/>
            <a:chExt cx="5505320" cy="582900"/>
          </a:xfrm>
        </p:grpSpPr>
        <p:sp>
          <p:nvSpPr>
            <p:cNvPr id="118" name="Google Shape;118;p6"/>
            <p:cNvSpPr/>
            <p:nvPr/>
          </p:nvSpPr>
          <p:spPr>
            <a:xfrm>
              <a:off x="834400" y="3074680"/>
              <a:ext cx="159900" cy="1599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6"/>
            <p:cNvSpPr txBox="1"/>
            <p:nvPr/>
          </p:nvSpPr>
          <p:spPr>
            <a:xfrm>
              <a:off x="1341120" y="2914650"/>
              <a:ext cx="4998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2023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Fastest growing repo on GitHub; $35M from Benchmark and Sequoia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0" name="Google Shape;120;p6"/>
          <p:cNvGrpSpPr/>
          <p:nvPr/>
        </p:nvGrpSpPr>
        <p:grpSpPr>
          <a:xfrm>
            <a:off x="834400" y="3669030"/>
            <a:ext cx="5505320" cy="582900"/>
            <a:chOff x="834400" y="3669030"/>
            <a:chExt cx="5505320" cy="582900"/>
          </a:xfrm>
        </p:grpSpPr>
        <p:sp>
          <p:nvSpPr>
            <p:cNvPr id="121" name="Google Shape;121;p6"/>
            <p:cNvSpPr/>
            <p:nvPr/>
          </p:nvSpPr>
          <p:spPr>
            <a:xfrm>
              <a:off x="834400" y="3829060"/>
              <a:ext cx="159900" cy="1599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 txBox="1"/>
            <p:nvPr/>
          </p:nvSpPr>
          <p:spPr>
            <a:xfrm>
              <a:off x="1341120" y="3669030"/>
              <a:ext cx="4998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Aug 2023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LCEL pipe syntax; powerful but heavyweight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3" name="Google Shape;123;p6"/>
          <p:cNvGrpSpPr/>
          <p:nvPr/>
        </p:nvGrpSpPr>
        <p:grpSpPr>
          <a:xfrm>
            <a:off x="834400" y="4423410"/>
            <a:ext cx="5505320" cy="582900"/>
            <a:chOff x="834400" y="4423410"/>
            <a:chExt cx="5505320" cy="582900"/>
          </a:xfrm>
        </p:grpSpPr>
        <p:sp>
          <p:nvSpPr>
            <p:cNvPr id="124" name="Google Shape;124;p6"/>
            <p:cNvSpPr/>
            <p:nvPr/>
          </p:nvSpPr>
          <p:spPr>
            <a:xfrm>
              <a:off x="834400" y="4583440"/>
              <a:ext cx="159900" cy="1599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1341120" y="4423410"/>
              <a:ext cx="4998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Early 2024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LangGraph orchestration; LangSmith observability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6" name="Google Shape;126;p6"/>
          <p:cNvGrpSpPr/>
          <p:nvPr/>
        </p:nvGrpSpPr>
        <p:grpSpPr>
          <a:xfrm>
            <a:off x="834400" y="5177790"/>
            <a:ext cx="5505320" cy="582900"/>
            <a:chOff x="834400" y="5177790"/>
            <a:chExt cx="5505320" cy="582900"/>
          </a:xfrm>
        </p:grpSpPr>
        <p:sp>
          <p:nvSpPr>
            <p:cNvPr id="127" name="Google Shape;127;p6"/>
            <p:cNvSpPr/>
            <p:nvPr/>
          </p:nvSpPr>
          <p:spPr>
            <a:xfrm>
              <a:off x="834400" y="5337820"/>
              <a:ext cx="159900" cy="1599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6"/>
            <p:cNvSpPr txBox="1"/>
            <p:nvPr/>
          </p:nvSpPr>
          <p:spPr>
            <a:xfrm>
              <a:off x="1341120" y="5177790"/>
              <a:ext cx="4998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Oct 2025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1.0 overhaul: create_agent, middleware; $125M at a $1.25B valuation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29" name="Google Shape;129;p6"/>
          <p:cNvGrpSpPr/>
          <p:nvPr/>
        </p:nvGrpSpPr>
        <p:grpSpPr>
          <a:xfrm>
            <a:off x="834400" y="5932170"/>
            <a:ext cx="5505320" cy="582900"/>
            <a:chOff x="834400" y="5932170"/>
            <a:chExt cx="5505320" cy="582900"/>
          </a:xfrm>
        </p:grpSpPr>
        <p:sp>
          <p:nvSpPr>
            <p:cNvPr id="130" name="Google Shape;130;p6"/>
            <p:cNvSpPr/>
            <p:nvPr/>
          </p:nvSpPr>
          <p:spPr>
            <a:xfrm>
              <a:off x="834400" y="6092200"/>
              <a:ext cx="159900" cy="159900"/>
            </a:xfrm>
            <a:prstGeom prst="ellipse">
              <a:avLst/>
            </a:prstGeom>
            <a:solidFill>
              <a:srgbClr val="00B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1341120" y="5932170"/>
              <a:ext cx="49986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Today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All in on Agents: Deep Agents, the agent engineering platform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LangChain ecosystem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38" name="Google Shape;138;p7"/>
          <p:cNvGrpSpPr/>
          <p:nvPr/>
        </p:nvGrpSpPr>
        <p:grpSpPr>
          <a:xfrm>
            <a:off x="573024" y="1474470"/>
            <a:ext cx="5730300" cy="1062900"/>
            <a:chOff x="573024" y="1474470"/>
            <a:chExt cx="5730300" cy="1062900"/>
          </a:xfrm>
        </p:grpSpPr>
        <p:sp>
          <p:nvSpPr>
            <p:cNvPr id="139" name="Google Shape;139;p7"/>
            <p:cNvSpPr/>
            <p:nvPr/>
          </p:nvSpPr>
          <p:spPr>
            <a:xfrm>
              <a:off x="573024" y="1474470"/>
              <a:ext cx="5730300" cy="1062900"/>
            </a:xfrm>
            <a:prstGeom prst="roundRect">
              <a:avLst>
                <a:gd fmla="val 16667" name="adj"/>
              </a:avLst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7"/>
            <p:cNvSpPr txBox="1"/>
            <p:nvPr/>
          </p:nvSpPr>
          <p:spPr>
            <a:xfrm>
              <a:off x="755904" y="1577340"/>
              <a:ext cx="438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</a:t>
              </a:r>
              <a:endParaRPr b="1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framework: create_agent, models, tools, middleware</a:t>
              </a:r>
              <a:endParaRPr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1" name="Google Shape;141;p7"/>
            <p:cNvSpPr txBox="1"/>
            <p:nvPr/>
          </p:nvSpPr>
          <p:spPr>
            <a:xfrm>
              <a:off x="4693920" y="1577340"/>
              <a:ext cx="1524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OPEN SOURCE</a:t>
              </a:r>
              <a:endParaRPr sz="1125">
                <a:solidFill>
                  <a:srgbClr val="00BFFF"/>
                </a:solidFill>
              </a:endParaRPr>
            </a:p>
          </p:txBody>
        </p:sp>
      </p:grpSp>
      <p:grpSp>
        <p:nvGrpSpPr>
          <p:cNvPr id="142" name="Google Shape;142;p7"/>
          <p:cNvGrpSpPr/>
          <p:nvPr/>
        </p:nvGrpSpPr>
        <p:grpSpPr>
          <a:xfrm>
            <a:off x="573024" y="2708910"/>
            <a:ext cx="5730300" cy="1062900"/>
            <a:chOff x="573024" y="2708910"/>
            <a:chExt cx="5730300" cy="1062900"/>
          </a:xfrm>
        </p:grpSpPr>
        <p:sp>
          <p:nvSpPr>
            <p:cNvPr id="143" name="Google Shape;143;p7"/>
            <p:cNvSpPr/>
            <p:nvPr/>
          </p:nvSpPr>
          <p:spPr>
            <a:xfrm>
              <a:off x="573024" y="2708910"/>
              <a:ext cx="5730300" cy="1062900"/>
            </a:xfrm>
            <a:prstGeom prst="roundRect">
              <a:avLst>
                <a:gd fmla="val 16667" name="adj"/>
              </a:avLst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7"/>
            <p:cNvSpPr txBox="1"/>
            <p:nvPr/>
          </p:nvSpPr>
          <p:spPr>
            <a:xfrm>
              <a:off x="755904" y="2811780"/>
              <a:ext cx="438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endParaRPr b="1" sz="18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Low level orchestration: graphs, state, persistence</a:t>
              </a:r>
              <a:endParaRPr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5" name="Google Shape;145;p7"/>
            <p:cNvSpPr txBox="1"/>
            <p:nvPr/>
          </p:nvSpPr>
          <p:spPr>
            <a:xfrm>
              <a:off x="4693920" y="2811780"/>
              <a:ext cx="1524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OPEN SOURCE</a:t>
              </a:r>
              <a:endParaRPr sz="1125">
                <a:solidFill>
                  <a:srgbClr val="00BFFF"/>
                </a:solidFill>
              </a:endParaRPr>
            </a:p>
          </p:txBody>
        </p:sp>
      </p:grpSp>
      <p:grpSp>
        <p:nvGrpSpPr>
          <p:cNvPr id="146" name="Google Shape;146;p7"/>
          <p:cNvGrpSpPr/>
          <p:nvPr/>
        </p:nvGrpSpPr>
        <p:grpSpPr>
          <a:xfrm>
            <a:off x="573024" y="3943349"/>
            <a:ext cx="5730300" cy="1062900"/>
            <a:chOff x="573024" y="3943349"/>
            <a:chExt cx="5730300" cy="1062900"/>
          </a:xfrm>
        </p:grpSpPr>
        <p:sp>
          <p:nvSpPr>
            <p:cNvPr id="147" name="Google Shape;147;p7"/>
            <p:cNvSpPr/>
            <p:nvPr/>
          </p:nvSpPr>
          <p:spPr>
            <a:xfrm>
              <a:off x="573024" y="3943349"/>
              <a:ext cx="5730300" cy="1062900"/>
            </a:xfrm>
            <a:prstGeom prst="roundRect">
              <a:avLst>
                <a:gd fmla="val 16667" name="adj"/>
              </a:avLst>
            </a:prstGeom>
            <a:solidFill>
              <a:srgbClr val="FFD700">
                <a:alpha val="34900"/>
              </a:srgbClr>
            </a:solidFill>
            <a:ln cap="flat" cmpd="sng" w="19050">
              <a:solidFill>
                <a:srgbClr val="FFD7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7"/>
            <p:cNvSpPr txBox="1"/>
            <p:nvPr/>
          </p:nvSpPr>
          <p:spPr>
            <a:xfrm>
              <a:off x="755904" y="4046220"/>
              <a:ext cx="438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LangSmith</a:t>
              </a:r>
              <a:endParaRPr b="1" sz="18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Observability, evals and monitoring for agents</a:t>
              </a:r>
              <a:endParaRPr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49" name="Google Shape;149;p7"/>
            <p:cNvSpPr txBox="1"/>
            <p:nvPr/>
          </p:nvSpPr>
          <p:spPr>
            <a:xfrm>
              <a:off x="4693920" y="4046220"/>
              <a:ext cx="1524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D700"/>
                  </a:solidFill>
                </a:rPr>
                <a:t>PLATFORM (FREE)</a:t>
              </a:r>
              <a:endParaRPr sz="1125">
                <a:solidFill>
                  <a:srgbClr val="FFD700"/>
                </a:solidFill>
              </a:endParaRPr>
            </a:p>
          </p:txBody>
        </p:sp>
      </p:grpSp>
      <p:grpSp>
        <p:nvGrpSpPr>
          <p:cNvPr id="150" name="Google Shape;150;p7"/>
          <p:cNvGrpSpPr/>
          <p:nvPr/>
        </p:nvGrpSpPr>
        <p:grpSpPr>
          <a:xfrm>
            <a:off x="573024" y="5177790"/>
            <a:ext cx="5730300" cy="1062900"/>
            <a:chOff x="573024" y="5177790"/>
            <a:chExt cx="5730300" cy="1062900"/>
          </a:xfrm>
        </p:grpSpPr>
        <p:sp>
          <p:nvSpPr>
            <p:cNvPr id="151" name="Google Shape;151;p7"/>
            <p:cNvSpPr/>
            <p:nvPr/>
          </p:nvSpPr>
          <p:spPr>
            <a:xfrm>
              <a:off x="573024" y="5177790"/>
              <a:ext cx="5730300" cy="1062900"/>
            </a:xfrm>
            <a:prstGeom prst="roundRect">
              <a:avLst>
                <a:gd fmla="val 16667" name="adj"/>
              </a:avLst>
            </a:prstGeom>
            <a:solidFill>
              <a:srgbClr val="FF7800">
                <a:alpha val="34900"/>
              </a:srgbClr>
            </a:solidFill>
            <a:ln cap="flat" cmpd="sng" w="19050">
              <a:solidFill>
                <a:srgbClr val="FF78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7"/>
            <p:cNvSpPr txBox="1"/>
            <p:nvPr/>
          </p:nvSpPr>
          <p:spPr>
            <a:xfrm>
              <a:off x="755904" y="5280660"/>
              <a:ext cx="4389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LangSmith Deployment</a:t>
              </a:r>
              <a:endParaRPr b="1" sz="18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Managed infrastructure for long running agents; was LangGraph Platform</a:t>
              </a:r>
              <a:endParaRPr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53" name="Google Shape;153;p7"/>
            <p:cNvSpPr txBox="1"/>
            <p:nvPr/>
          </p:nvSpPr>
          <p:spPr>
            <a:xfrm>
              <a:off x="4693920" y="5280660"/>
              <a:ext cx="1524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7800"/>
                  </a:solidFill>
                </a:rPr>
                <a:t>PLATFORM (PAID)</a:t>
              </a:r>
              <a:endParaRPr sz="1125">
                <a:solidFill>
                  <a:srgbClr val="FF78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abstraction layers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Four levels: control at the bottom, convenience at the top</a:t>
            </a:r>
            <a:endParaRPr sz="13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61" name="Google Shape;161;p8"/>
          <p:cNvGrpSpPr/>
          <p:nvPr/>
        </p:nvGrpSpPr>
        <p:grpSpPr>
          <a:xfrm>
            <a:off x="573024" y="5081778"/>
            <a:ext cx="5730300" cy="1097400"/>
            <a:chOff x="573024" y="5081778"/>
            <a:chExt cx="5730300" cy="1097400"/>
          </a:xfrm>
        </p:grpSpPr>
        <p:sp>
          <p:nvSpPr>
            <p:cNvPr id="162" name="Google Shape;162;p8"/>
            <p:cNvSpPr/>
            <p:nvPr/>
          </p:nvSpPr>
          <p:spPr>
            <a:xfrm>
              <a:off x="573024" y="5081778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8"/>
            <p:cNvSpPr txBox="1"/>
            <p:nvPr/>
          </p:nvSpPr>
          <p:spPr>
            <a:xfrm>
              <a:off x="755904" y="5150357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1  Building blocks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Models, messages and tools; you control everything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4364736" y="5218937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8"/>
            <p:cNvSpPr txBox="1"/>
            <p:nvPr/>
          </p:nvSpPr>
          <p:spPr>
            <a:xfrm>
              <a:off x="4486656" y="5081778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langchain-core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66" name="Google Shape;166;p8"/>
          <p:cNvGrpSpPr/>
          <p:nvPr/>
        </p:nvGrpSpPr>
        <p:grpSpPr>
          <a:xfrm>
            <a:off x="573024" y="3902201"/>
            <a:ext cx="5730300" cy="1097400"/>
            <a:chOff x="573024" y="3902201"/>
            <a:chExt cx="5730300" cy="1097400"/>
          </a:xfrm>
        </p:grpSpPr>
        <p:sp>
          <p:nvSpPr>
            <p:cNvPr id="167" name="Google Shape;167;p8"/>
            <p:cNvSpPr/>
            <p:nvPr/>
          </p:nvSpPr>
          <p:spPr>
            <a:xfrm>
              <a:off x="573024" y="3902201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8"/>
            <p:cNvSpPr txBox="1"/>
            <p:nvPr/>
          </p:nvSpPr>
          <p:spPr>
            <a:xfrm>
              <a:off x="755904" y="3970781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2  Orchestration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StateGraph, nodes, edges, checkpoints; you control the flow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4364736" y="4039362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4486656" y="3902201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73024" y="2722626"/>
            <a:ext cx="5730300" cy="1097400"/>
            <a:chOff x="573024" y="2722626"/>
            <a:chExt cx="5730300" cy="1097400"/>
          </a:xfrm>
        </p:grpSpPr>
        <p:sp>
          <p:nvSpPr>
            <p:cNvPr id="172" name="Google Shape;172;p8"/>
            <p:cNvSpPr/>
            <p:nvPr/>
          </p:nvSpPr>
          <p:spPr>
            <a:xfrm>
              <a:off x="573024" y="2722626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755904" y="2791206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3  Agent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loop prebuilt; you supply model, tools and prompt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4364736" y="2859786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4486656" y="2722626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76" name="Google Shape;176;p8"/>
          <p:cNvGrpSpPr/>
          <p:nvPr/>
        </p:nvGrpSpPr>
        <p:grpSpPr>
          <a:xfrm>
            <a:off x="573024" y="1543050"/>
            <a:ext cx="5730300" cy="1097400"/>
            <a:chOff x="573024" y="1543050"/>
            <a:chExt cx="5730300" cy="1097400"/>
          </a:xfrm>
        </p:grpSpPr>
        <p:sp>
          <p:nvSpPr>
            <p:cNvPr id="177" name="Google Shape;177;p8"/>
            <p:cNvSpPr/>
            <p:nvPr/>
          </p:nvSpPr>
          <p:spPr>
            <a:xfrm>
              <a:off x="573024" y="1543050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755904" y="1611630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4  Harness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Planning, sub agents, a filesystem; you supply intent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4364736" y="1680210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8"/>
            <p:cNvSpPr txBox="1"/>
            <p:nvPr/>
          </p:nvSpPr>
          <p:spPr>
            <a:xfrm>
              <a:off x="4486656" y="1543050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deepagents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The abstraction layers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573024" y="1083564"/>
            <a:ext cx="573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Four levels: control at the bottom, convenience at the top</a:t>
            </a:r>
            <a:endParaRPr sz="1300">
              <a:solidFill>
                <a:srgbClr val="00B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188" name="Google Shape;188;p9"/>
          <p:cNvGrpSpPr/>
          <p:nvPr/>
        </p:nvGrpSpPr>
        <p:grpSpPr>
          <a:xfrm>
            <a:off x="573024" y="5081778"/>
            <a:ext cx="5730300" cy="1097400"/>
            <a:chOff x="573024" y="5081778"/>
            <a:chExt cx="5730300" cy="1097400"/>
          </a:xfrm>
        </p:grpSpPr>
        <p:sp>
          <p:nvSpPr>
            <p:cNvPr id="189" name="Google Shape;189;p9"/>
            <p:cNvSpPr/>
            <p:nvPr/>
          </p:nvSpPr>
          <p:spPr>
            <a:xfrm>
              <a:off x="573024" y="5081778"/>
              <a:ext cx="5730300" cy="10974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9"/>
            <p:cNvSpPr txBox="1"/>
            <p:nvPr/>
          </p:nvSpPr>
          <p:spPr>
            <a:xfrm>
              <a:off x="4815840" y="5164074"/>
              <a:ext cx="1341000" cy="24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00BFFF"/>
                  </a:solidFill>
                </a:rPr>
                <a:t>TODAY</a:t>
              </a:r>
              <a:endParaRPr sz="1125">
                <a:solidFill>
                  <a:srgbClr val="00BFFF"/>
                </a:solidFill>
              </a:endParaRPr>
            </a:p>
          </p:txBody>
        </p:sp>
        <p:sp>
          <p:nvSpPr>
            <p:cNvPr id="191" name="Google Shape;191;p9"/>
            <p:cNvSpPr txBox="1"/>
            <p:nvPr/>
          </p:nvSpPr>
          <p:spPr>
            <a:xfrm>
              <a:off x="755904" y="5150357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1  Building blocks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Models, messages and tools; you control everything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4364736" y="5218937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9"/>
            <p:cNvSpPr txBox="1"/>
            <p:nvPr/>
          </p:nvSpPr>
          <p:spPr>
            <a:xfrm>
              <a:off x="4486656" y="5081778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langchain-core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94" name="Google Shape;194;p9"/>
          <p:cNvGrpSpPr/>
          <p:nvPr/>
        </p:nvGrpSpPr>
        <p:grpSpPr>
          <a:xfrm>
            <a:off x="573024" y="3902201"/>
            <a:ext cx="5730300" cy="1097400"/>
            <a:chOff x="573024" y="3902201"/>
            <a:chExt cx="5730300" cy="1097400"/>
          </a:xfrm>
        </p:grpSpPr>
        <p:sp>
          <p:nvSpPr>
            <p:cNvPr id="195" name="Google Shape;195;p9"/>
            <p:cNvSpPr/>
            <p:nvPr/>
          </p:nvSpPr>
          <p:spPr>
            <a:xfrm>
              <a:off x="573024" y="3902201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9"/>
            <p:cNvSpPr txBox="1"/>
            <p:nvPr/>
          </p:nvSpPr>
          <p:spPr>
            <a:xfrm>
              <a:off x="755904" y="3970781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2  Orchestration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StateGraph, nodes, edges, checkpoints; you control the flow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4364736" y="4039362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9"/>
            <p:cNvSpPr txBox="1"/>
            <p:nvPr/>
          </p:nvSpPr>
          <p:spPr>
            <a:xfrm>
              <a:off x="4486656" y="3902201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langgraph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199" name="Google Shape;199;p9"/>
          <p:cNvGrpSpPr/>
          <p:nvPr/>
        </p:nvGrpSpPr>
        <p:grpSpPr>
          <a:xfrm>
            <a:off x="573024" y="2722626"/>
            <a:ext cx="5730300" cy="1097400"/>
            <a:chOff x="573024" y="2722626"/>
            <a:chExt cx="5730300" cy="1097400"/>
          </a:xfrm>
        </p:grpSpPr>
        <p:sp>
          <p:nvSpPr>
            <p:cNvPr id="200" name="Google Shape;200;p9"/>
            <p:cNvSpPr/>
            <p:nvPr/>
          </p:nvSpPr>
          <p:spPr>
            <a:xfrm>
              <a:off x="573024" y="2722626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 txBox="1"/>
            <p:nvPr/>
          </p:nvSpPr>
          <p:spPr>
            <a:xfrm>
              <a:off x="755904" y="2791206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3  Agent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agent loop prebuilt; you supply model, tools and prompt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4364736" y="2859786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 txBox="1"/>
            <p:nvPr/>
          </p:nvSpPr>
          <p:spPr>
            <a:xfrm>
              <a:off x="4486656" y="2722626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langchain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  <p:grpSp>
        <p:nvGrpSpPr>
          <p:cNvPr id="204" name="Google Shape;204;p9"/>
          <p:cNvGrpSpPr/>
          <p:nvPr/>
        </p:nvGrpSpPr>
        <p:grpSpPr>
          <a:xfrm>
            <a:off x="573024" y="1543050"/>
            <a:ext cx="5730300" cy="1097400"/>
            <a:chOff x="573024" y="1543050"/>
            <a:chExt cx="5730300" cy="1097400"/>
          </a:xfrm>
        </p:grpSpPr>
        <p:sp>
          <p:nvSpPr>
            <p:cNvPr id="205" name="Google Shape;205;p9"/>
            <p:cNvSpPr/>
            <p:nvPr/>
          </p:nvSpPr>
          <p:spPr>
            <a:xfrm>
              <a:off x="573024" y="1543050"/>
              <a:ext cx="5730300" cy="1097400"/>
            </a:xfrm>
            <a:prstGeom prst="rect">
              <a:avLst/>
            </a:prstGeom>
            <a:noFill/>
            <a:ln cap="flat" cmpd="sng" w="19050">
              <a:solidFill>
                <a:srgbClr val="00B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 txBox="1"/>
            <p:nvPr/>
          </p:nvSpPr>
          <p:spPr>
            <a:xfrm>
              <a:off x="755904" y="1611630"/>
              <a:ext cx="3413700" cy="9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Layer 4  Harness</a:t>
              </a:r>
              <a:endParaRPr b="1" sz="16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Planning, sub agents, a filesystem; you supply intent</a:t>
              </a:r>
              <a:endParaRPr sz="1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4364736" y="1680210"/>
              <a:ext cx="21900" cy="822900"/>
            </a:xfrm>
            <a:prstGeom prst="rect">
              <a:avLst/>
            </a:prstGeom>
            <a:solidFill>
              <a:srgbClr val="00BFFF">
                <a:alpha val="349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 txBox="1"/>
            <p:nvPr/>
          </p:nvSpPr>
          <p:spPr>
            <a:xfrm>
              <a:off x="4486656" y="1543050"/>
              <a:ext cx="1707000" cy="10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deepagents</a:t>
              </a:r>
              <a:endParaRPr b="1" sz="16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"/>
          <p:cNvSpPr txBox="1"/>
          <p:nvPr/>
        </p:nvSpPr>
        <p:spPr>
          <a:xfrm>
            <a:off x="573024" y="582930"/>
            <a:ext cx="90708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For today: LangChain Core</a:t>
            </a:r>
            <a:endParaRPr sz="33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pSp>
        <p:nvGrpSpPr>
          <p:cNvPr id="215" name="Google Shape;215;p10"/>
          <p:cNvGrpSpPr/>
          <p:nvPr/>
        </p:nvGrpSpPr>
        <p:grpSpPr>
          <a:xfrm>
            <a:off x="902916" y="1543050"/>
            <a:ext cx="5375964" cy="582900"/>
            <a:chOff x="902916" y="1543050"/>
            <a:chExt cx="5375964" cy="582900"/>
          </a:xfrm>
        </p:grpSpPr>
        <p:sp>
          <p:nvSpPr>
            <p:cNvPr id="216" name="Google Shape;216;p10"/>
            <p:cNvSpPr txBox="1"/>
            <p:nvPr/>
          </p:nvSpPr>
          <p:spPr>
            <a:xfrm>
              <a:off x="1402080" y="1543050"/>
              <a:ext cx="4876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Models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ChatOpenAI as one interface to every LLM; invoke and stream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17" name="Google Shape;217;p10" title="icon_models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2916" y="1625346"/>
              <a:ext cx="315600" cy="31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10"/>
          <p:cNvGrpSpPr/>
          <p:nvPr/>
        </p:nvGrpSpPr>
        <p:grpSpPr>
          <a:xfrm>
            <a:off x="902916" y="2443163"/>
            <a:ext cx="5375964" cy="582900"/>
            <a:chOff x="902916" y="2983230"/>
            <a:chExt cx="5375964" cy="582900"/>
          </a:xfrm>
        </p:grpSpPr>
        <p:sp>
          <p:nvSpPr>
            <p:cNvPr id="219" name="Google Shape;219;p10"/>
            <p:cNvSpPr txBox="1"/>
            <p:nvPr/>
          </p:nvSpPr>
          <p:spPr>
            <a:xfrm>
              <a:off x="1402080" y="2983230"/>
              <a:ext cx="4876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Messages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Typed message objects instead of role dicts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0" name="Google Shape;220;p10" title="icon_messages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02916" y="3065526"/>
              <a:ext cx="315600" cy="31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" name="Google Shape;221;p10"/>
          <p:cNvGrpSpPr/>
          <p:nvPr/>
        </p:nvGrpSpPr>
        <p:grpSpPr>
          <a:xfrm>
            <a:off x="902916" y="3343275"/>
            <a:ext cx="5375964" cy="582900"/>
            <a:chOff x="902916" y="3703320"/>
            <a:chExt cx="5375964" cy="582900"/>
          </a:xfrm>
        </p:grpSpPr>
        <p:sp>
          <p:nvSpPr>
            <p:cNvPr id="222" name="Google Shape;222;p10"/>
            <p:cNvSpPr txBox="1"/>
            <p:nvPr/>
          </p:nvSpPr>
          <p:spPr>
            <a:xfrm>
              <a:off x="1402080" y="3703320"/>
              <a:ext cx="4876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Tools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The @tool decorator: docstring and type hints become the schema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3" name="Google Shape;223;p10" title="icon_tools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02916" y="3785616"/>
              <a:ext cx="315600" cy="31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4" name="Google Shape;224;p10"/>
          <p:cNvGrpSpPr/>
          <p:nvPr/>
        </p:nvGrpSpPr>
        <p:grpSpPr>
          <a:xfrm>
            <a:off x="902916" y="4243388"/>
            <a:ext cx="5375964" cy="582900"/>
            <a:chOff x="902916" y="4423410"/>
            <a:chExt cx="5375964" cy="582900"/>
          </a:xfrm>
        </p:grpSpPr>
        <p:sp>
          <p:nvSpPr>
            <p:cNvPr id="225" name="Google Shape;225;p10"/>
            <p:cNvSpPr txBox="1"/>
            <p:nvPr/>
          </p:nvSpPr>
          <p:spPr>
            <a:xfrm>
              <a:off x="1402080" y="4423410"/>
              <a:ext cx="4876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The loop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bind_tools, read .tool_calls, return ToolMessage by hand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6" name="Google Shape;226;p10" title="icon_loop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02916" y="4505706"/>
              <a:ext cx="315600" cy="315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7" name="Google Shape;227;p10"/>
          <p:cNvGrpSpPr/>
          <p:nvPr/>
        </p:nvGrpSpPr>
        <p:grpSpPr>
          <a:xfrm>
            <a:off x="902916" y="5143500"/>
            <a:ext cx="5375964" cy="582900"/>
            <a:chOff x="902916" y="5143500"/>
            <a:chExt cx="5375964" cy="582900"/>
          </a:xfrm>
        </p:grpSpPr>
        <p:sp>
          <p:nvSpPr>
            <p:cNvPr id="228" name="Google Shape;228;p10"/>
            <p:cNvSpPr txBox="1"/>
            <p:nvPr/>
          </p:nvSpPr>
          <p:spPr>
            <a:xfrm>
              <a:off x="1402080" y="5143500"/>
              <a:ext cx="4876800" cy="58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Structured output</a:t>
              </a:r>
              <a:r>
                <a:rPr lang="en-US" sz="16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 Pydantic models via with_structured_output</a:t>
              </a:r>
              <a:endParaRPr sz="16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id="229" name="Google Shape;229;p10" title="icon_structured.png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902916" y="5225796"/>
              <a:ext cx="315600" cy="315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>
            <a:off x="257180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257180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257180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257180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447680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47680" y="4933950"/>
            <a:ext cx="100296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47680" y="3857625"/>
            <a:ext cx="100296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47680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2676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2667000" y="4933950"/>
            <a:ext cx="1002982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2676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2676528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3819528" y="6010275"/>
            <a:ext cx="100296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3819528" y="4933950"/>
            <a:ext cx="100296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3819528" y="3857625"/>
            <a:ext cx="1002969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3819528" y="628650"/>
            <a:ext cx="100296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953000" y="6010275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953000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953000" y="3857625"/>
            <a:ext cx="1002982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4953000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257174" y="2466975"/>
            <a:ext cx="5937000" cy="10119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61950" y="2524720"/>
            <a:ext cx="20481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447674" y="2781300"/>
            <a:ext cx="1002900" cy="61020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47675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/>
              <a:t>LangChain Core</a:t>
            </a:r>
            <a:endParaRPr sz="1125"/>
          </a:p>
        </p:txBody>
      </p:sp>
      <p:sp>
        <p:nvSpPr>
          <p:cNvPr id="287" name="Google Shape;287;p11"/>
          <p:cNvSpPr/>
          <p:nvPr/>
        </p:nvSpPr>
        <p:spPr>
          <a:xfrm>
            <a:off x="1562101" y="2781300"/>
            <a:ext cx="1002900" cy="610200"/>
          </a:xfrm>
          <a:prstGeom prst="rect">
            <a:avLst/>
          </a:prstGeom>
          <a:solidFill>
            <a:srgbClr val="00BFFF">
              <a:alpha val="34900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15621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2676524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>
            <a:off x="2676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LangChain</a:t>
            </a:r>
            <a:endParaRPr sz="1125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create_agent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819524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3819525" y="2931336"/>
            <a:ext cx="100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FFFFFF"/>
                </a:solidFill>
              </a:rPr>
              <a:t>Deep Agents</a:t>
            </a:r>
            <a:endParaRPr sz="1125">
              <a:solidFill>
                <a:srgbClr val="FFFFFF"/>
              </a:solidFill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953000" y="2781300"/>
            <a:ext cx="1002900" cy="61020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1"/>
          <p:cNvSpPr/>
          <p:nvPr/>
        </p:nvSpPr>
        <p:spPr>
          <a:xfrm>
            <a:off x="4953000" y="2855136"/>
            <a:ext cx="1002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11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96" name="Google Shape;296;p11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315" name="Google Shape;31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1999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