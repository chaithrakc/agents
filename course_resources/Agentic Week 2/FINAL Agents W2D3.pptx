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y="6858000" cx="12192000"/>
  <p:notesSz cx="6858000" cy="12192000"/>
  <p:embeddedFontLst>
    <p:embeddedFont>
      <p:font typeface="Roboto Slab"/>
      <p:regular r:id="rId12"/>
      <p:bold r:id="rId13"/>
    </p:embeddedFont>
    <p:embeddedFont>
      <p:font typeface="Montserrat SemiBold"/>
      <p:regular r:id="rId14"/>
      <p:bold r:id="rId15"/>
      <p:italic r:id="rId16"/>
      <p:boldItalic r:id="rId17"/>
    </p:embeddedFont>
    <p:embeddedFont>
      <p:font typeface="Montserra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21" Type="http://schemas.openxmlformats.org/officeDocument/2006/relationships/font" Target="fonts/Montserrat-boldItalic.fntdata"/><Relationship Id="rId13" Type="http://schemas.openxmlformats.org/officeDocument/2006/relationships/font" Target="fonts/RobotoSlab-bold.fntdata"/><Relationship Id="rId12" Type="http://schemas.openxmlformats.org/officeDocument/2006/relationships/font" Target="fonts/RobotoSlab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MontserratSemiBold-bold.fntdata"/><Relationship Id="rId14" Type="http://schemas.openxmlformats.org/officeDocument/2006/relationships/font" Target="fonts/MontserratSemiBold-regular.fntdata"/><Relationship Id="rId17" Type="http://schemas.openxmlformats.org/officeDocument/2006/relationships/font" Target="fonts/MontserratSemiBold-boldItalic.fntdata"/><Relationship Id="rId16" Type="http://schemas.openxmlformats.org/officeDocument/2006/relationships/font" Target="fonts/MontserratSemiBold-italic.fntdata"/><Relationship Id="rId5" Type="http://schemas.openxmlformats.org/officeDocument/2006/relationships/slide" Target="slides/slide1.xml"/><Relationship Id="rId19" Type="http://schemas.openxmlformats.org/officeDocument/2006/relationships/font" Target="fonts/Montserrat-bold.fntdata"/><Relationship Id="rId6" Type="http://schemas.openxmlformats.org/officeDocument/2006/relationships/slide" Target="slides/slide2.xml"/><Relationship Id="rId18" Type="http://schemas.openxmlformats.org/officeDocument/2006/relationships/font" Target="fonts/Montserrat-regular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df85dd2c77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df85dd2c77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g3df85dd2c77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df85dd2c77_0_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g3df85dd2c77_0_4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g3df85dd2c77_0_4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df85dd2c77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g3df85dd2c77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g3df85dd2c77_0_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4725775" y="258325"/>
            <a:ext cx="2363100" cy="62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Week 2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Day 3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18" name="Google Shape;18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" name="Google Shape;25;p4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4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4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4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44767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4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44767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47674" y="4933950"/>
            <a:ext cx="1002979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4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44767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4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44767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4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4"/>
          <p:cNvSpPr/>
          <p:nvPr/>
        </p:nvSpPr>
        <p:spPr>
          <a:xfrm>
            <a:off x="1562101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4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4"/>
          <p:cNvSpPr/>
          <p:nvPr/>
        </p:nvSpPr>
        <p:spPr>
          <a:xfrm>
            <a:off x="1562101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4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4"/>
          <p:cNvSpPr/>
          <p:nvPr/>
        </p:nvSpPr>
        <p:spPr>
          <a:xfrm>
            <a:off x="1562101" y="4933950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4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4"/>
          <p:cNvSpPr/>
          <p:nvPr/>
        </p:nvSpPr>
        <p:spPr>
          <a:xfrm>
            <a:off x="1562101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1562101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2676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4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2676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4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2676524" y="4933950"/>
            <a:ext cx="1002979" cy="610230"/>
          </a:xfrm>
          <a:prstGeom prst="rect">
            <a:avLst/>
          </a:prstGeom>
          <a:solidFill>
            <a:srgbClr val="00BFFF">
              <a:alpha val="34902"/>
            </a:srgbClr>
          </a:solidFill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"/>
          <p:cNvSpPr/>
          <p:nvPr/>
        </p:nvSpPr>
        <p:spPr>
          <a:xfrm>
            <a:off x="2676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2676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4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2676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4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3819524" y="6010275"/>
            <a:ext cx="1002979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4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3819524" y="278130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4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819524" y="49339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3819524" y="3857625"/>
            <a:ext cx="1002979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3819524" y="628650"/>
            <a:ext cx="1002979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4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4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4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" name="Google Shape;84;p4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85" name="Google Shape;85;p4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" name="Google Shape;86;p4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4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4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" name="Google Shape;89;p4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4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p4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4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4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4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5" name="Google Shape;95;p4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4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/>
          <p:nvPr/>
        </p:nvSpPr>
        <p:spPr>
          <a:xfrm>
            <a:off x="571500" y="586160"/>
            <a:ext cx="9064800" cy="4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Recap: Orchestration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5"/>
          <p:cNvSpPr/>
          <p:nvPr/>
        </p:nvSpPr>
        <p:spPr>
          <a:xfrm>
            <a:off x="763724" y="2621750"/>
            <a:ext cx="41658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Code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5"/>
          <p:cNvSpPr/>
          <p:nvPr/>
        </p:nvSpPr>
        <p:spPr>
          <a:xfrm>
            <a:off x="762000" y="1623426"/>
            <a:ext cx="5306400" cy="39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>
                <a:solidFill>
                  <a:srgbClr val="FFFFFF"/>
                </a:solidFill>
              </a:rPr>
              <a:t>The ways that Agents can collaborate: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5"/>
          <p:cNvSpPr/>
          <p:nvPr/>
        </p:nvSpPr>
        <p:spPr>
          <a:xfrm>
            <a:off x="763724" y="3850475"/>
            <a:ext cx="52467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Tools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5"/>
          <p:cNvSpPr/>
          <p:nvPr/>
        </p:nvSpPr>
        <p:spPr>
          <a:xfrm>
            <a:off x="763724" y="5079200"/>
            <a:ext cx="5499300" cy="27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Orchestrating Agents with LLMs - Handoffs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"/>
          <p:cNvSpPr/>
          <p:nvPr/>
        </p:nvSpPr>
        <p:spPr>
          <a:xfrm>
            <a:off x="571500" y="586160"/>
            <a:ext cx="9064898" cy="4766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375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00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Adding to the mix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7700" y="3479006"/>
            <a:ext cx="1647825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Models other</a:t>
            </a:r>
            <a:b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D700"/>
                </a:solidFill>
                <a:latin typeface="Roboto Slab"/>
                <a:ea typeface="Roboto Slab"/>
                <a:cs typeface="Roboto Slab"/>
                <a:sym typeface="Roboto Slab"/>
              </a:rPr>
              <a:t>than OpenAI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2828925" y="3479006"/>
            <a:ext cx="1219200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Structured</a:t>
            </a:r>
            <a:b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</a:br>
            <a:r>
              <a:rPr b="0" i="0" lang="en-US" sz="1530" u="none" cap="none" strike="noStrike">
                <a:solidFill>
                  <a:srgbClr val="FF7800"/>
                </a:solidFill>
                <a:latin typeface="Roboto Slab"/>
                <a:ea typeface="Roboto Slab"/>
                <a:cs typeface="Roboto Slab"/>
                <a:sym typeface="Roboto Slab"/>
              </a:rPr>
              <a:t>Outputs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4933950" y="3479006"/>
            <a:ext cx="1239292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30" u="none" cap="none" strike="noStrike">
                <a:solidFill>
                  <a:srgbClr val="00BFFF"/>
                </a:solidFill>
                <a:latin typeface="Roboto Slab"/>
                <a:ea typeface="Roboto Slab"/>
                <a:cs typeface="Roboto Slab"/>
                <a:sym typeface="Roboto Slab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-a97175e.png" id="116" name="Google Shape;11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4784" y="2470845"/>
            <a:ext cx="62865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5b27ed5e.png" id="117" name="Google Shape;11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81347" y="2515493"/>
            <a:ext cx="485775" cy="5619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-504b14de.png" id="118" name="Google Shape;118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88145" y="2493170"/>
            <a:ext cx="40005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6"/>
          <p:cNvSpPr/>
          <p:nvPr/>
        </p:nvSpPr>
        <p:spPr>
          <a:xfrm>
            <a:off x="733472" y="4953025"/>
            <a:ext cx="51105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Roboto Slab"/>
                <a:ea typeface="Roboto Slab"/>
                <a:cs typeface="Roboto Slab"/>
                <a:sym typeface="Roboto Slab"/>
              </a:rPr>
              <a:t>And 2 special extras: Sandbox &amp; MCP!</a:t>
            </a:r>
            <a:endParaRPr b="0" i="0" sz="2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5" name="Google Shape;12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5750" y="247650"/>
            <a:ext cx="6229350" cy="6229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7" title="17_W2D3_S05_Square_aa10a43caba6-1_raw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5750" y="247650"/>
            <a:ext cx="6229348" cy="62293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257174" y="569595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8"/>
          <p:cNvSpPr/>
          <p:nvPr/>
        </p:nvSpPr>
        <p:spPr>
          <a:xfrm>
            <a:off x="257174" y="246697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8"/>
          <p:cNvSpPr/>
          <p:nvPr/>
        </p:nvSpPr>
        <p:spPr>
          <a:xfrm>
            <a:off x="257174" y="46196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257174" y="3543300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"/>
          <p:cNvSpPr/>
          <p:nvPr/>
        </p:nvSpPr>
        <p:spPr>
          <a:xfrm>
            <a:off x="257174" y="314325"/>
            <a:ext cx="5936927" cy="1011761"/>
          </a:xfrm>
          <a:prstGeom prst="rect">
            <a:avLst/>
          </a:prstGeom>
          <a:solidFill>
            <a:srgbClr val="0C0C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361950" y="575369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1: Foundations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61950" y="252472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4: LangGraph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8"/>
          <p:cNvSpPr/>
          <p:nvPr/>
        </p:nvSpPr>
        <p:spPr>
          <a:xfrm>
            <a:off x="361950" y="46773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2: OpenAI Agents SDK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361950" y="3601045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3: CrewAI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8"/>
          <p:cNvSpPr/>
          <p:nvPr/>
        </p:nvSpPr>
        <p:spPr>
          <a:xfrm>
            <a:off x="361950" y="372070"/>
            <a:ext cx="2048247" cy="17606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215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FFFFFF"/>
                </a:solidFill>
                <a:latin typeface="Roboto Slab"/>
                <a:ea typeface="Roboto Slab"/>
                <a:cs typeface="Roboto Slab"/>
                <a:sym typeface="Roboto Slab"/>
              </a:rPr>
              <a:t>Week 6: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447674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8"/>
          <p:cNvSpPr/>
          <p:nvPr/>
        </p:nvSpPr>
        <p:spPr>
          <a:xfrm>
            <a:off x="447675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Make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Workflow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447674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8"/>
          <p:cNvSpPr/>
          <p:nvPr/>
        </p:nvSpPr>
        <p:spPr>
          <a:xfrm>
            <a:off x="447675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447674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8"/>
          <p:cNvSpPr/>
          <p:nvPr/>
        </p:nvSpPr>
        <p:spPr>
          <a:xfrm>
            <a:off x="447675" y="50077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OpenAI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SDK 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447674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p8"/>
          <p:cNvSpPr/>
          <p:nvPr/>
        </p:nvSpPr>
        <p:spPr>
          <a:xfrm>
            <a:off x="44767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Crew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Concepts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47674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78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44767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Architecture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MCP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1562097" y="6010275"/>
            <a:ext cx="1002982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p8"/>
          <p:cNvSpPr/>
          <p:nvPr/>
        </p:nvSpPr>
        <p:spPr>
          <a:xfrm>
            <a:off x="15621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Agents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Agentic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Patterns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1562097" y="278130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8"/>
          <p:cNvSpPr/>
          <p:nvPr/>
        </p:nvSpPr>
        <p:spPr>
          <a:xfrm>
            <a:off x="15621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LangGraph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1562097" y="4933950"/>
            <a:ext cx="1002982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8"/>
          <p:cNvSpPr/>
          <p:nvPr/>
        </p:nvSpPr>
        <p:spPr>
          <a:xfrm>
            <a:off x="15621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2: an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SDR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1562097" y="3857625"/>
            <a:ext cx="1002982" cy="610231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1562100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 Crew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8"/>
          <p:cNvSpPr/>
          <p:nvPr/>
        </p:nvSpPr>
        <p:spPr>
          <a:xfrm>
            <a:off x="1562097" y="628650"/>
            <a:ext cx="1002982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"/>
          <p:cNvSpPr/>
          <p:nvPr/>
        </p:nvSpPr>
        <p:spPr>
          <a:xfrm>
            <a:off x="15621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Building an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Client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8"/>
          <p:cNvSpPr/>
          <p:nvPr/>
        </p:nvSpPr>
        <p:spPr>
          <a:xfrm>
            <a:off x="2676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8"/>
          <p:cNvSpPr/>
          <p:nvPr/>
        </p:nvSpPr>
        <p:spPr>
          <a:xfrm>
            <a:off x="2676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Orchestrating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LLMs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2676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8"/>
          <p:cNvSpPr/>
          <p:nvPr/>
        </p:nvSpPr>
        <p:spPr>
          <a:xfrm>
            <a:off x="2676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Tools, memory,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web searches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2667000" y="4933950"/>
            <a:ext cx="1002976" cy="610230"/>
          </a:xfrm>
          <a:prstGeom prst="rect">
            <a:avLst/>
          </a:prstGeom>
          <a:solidFill>
            <a:srgbClr val="00BFFF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2667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Tools vs Agents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Guardrails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8"/>
          <p:cNvSpPr/>
          <p:nvPr/>
        </p:nvSpPr>
        <p:spPr>
          <a:xfrm>
            <a:off x="2676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8"/>
          <p:cNvSpPr/>
          <p:nvPr/>
        </p:nvSpPr>
        <p:spPr>
          <a:xfrm>
            <a:off x="2676525" y="400766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4: Stock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Picker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2676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00B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8"/>
          <p:cNvSpPr/>
          <p:nvPr/>
        </p:nvSpPr>
        <p:spPr>
          <a:xfrm>
            <a:off x="2676525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Multiple Local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and Remote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MCP servers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3819528" y="6010275"/>
            <a:ext cx="1002976" cy="610230"/>
          </a:xfrm>
          <a:prstGeom prst="rect">
            <a:avLst/>
          </a:prstGeom>
          <a:solidFill>
            <a:srgbClr val="FF78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8"/>
          <p:cNvSpPr/>
          <p:nvPr/>
        </p:nvSpPr>
        <p:spPr>
          <a:xfrm>
            <a:off x="3819525" y="6160311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Autonomy and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Tools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3819528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3819525" y="293133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8"/>
          <p:cNvSpPr/>
          <p:nvPr/>
        </p:nvSpPr>
        <p:spPr>
          <a:xfrm>
            <a:off x="3819528" y="4933950"/>
            <a:ext cx="1002976" cy="610230"/>
          </a:xfrm>
          <a:prstGeom prst="rect">
            <a:avLst/>
          </a:prstGeom>
          <a:solidFill>
            <a:srgbClr val="FFD700">
              <a:alpha val="34902"/>
            </a:srgbClr>
          </a:solidFill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3819525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8"/>
          <p:cNvSpPr/>
          <p:nvPr/>
        </p:nvSpPr>
        <p:spPr>
          <a:xfrm>
            <a:off x="3819528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3819525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Developer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8"/>
          <p:cNvSpPr/>
          <p:nvPr/>
        </p:nvSpPr>
        <p:spPr>
          <a:xfrm>
            <a:off x="3819528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8"/>
          <p:cNvSpPr/>
          <p:nvPr/>
        </p:nvSpPr>
        <p:spPr>
          <a:xfrm>
            <a:off x="3819525" y="7786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8"/>
          <p:cNvSpPr/>
          <p:nvPr/>
        </p:nvSpPr>
        <p:spPr>
          <a:xfrm>
            <a:off x="4953000" y="6010275"/>
            <a:ext cx="1002976" cy="610230"/>
          </a:xfrm>
          <a:prstGeom prst="rect">
            <a:avLst/>
          </a:prstGeom>
          <a:solidFill>
            <a:srgbClr val="FFD700"/>
          </a:solidFill>
          <a:ln cap="flat" cmpd="sng" w="25400">
            <a:solidFill>
              <a:srgbClr val="000000">
                <a:alpha val="0"/>
              </a:srgbClr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"/>
          <p:cNvSpPr/>
          <p:nvPr/>
        </p:nvSpPr>
        <p:spPr>
          <a:xfrm>
            <a:off x="4953000" y="608411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Project 1: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Your personal</a:t>
            </a:r>
            <a:b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career agent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8"/>
          <p:cNvSpPr/>
          <p:nvPr/>
        </p:nvSpPr>
        <p:spPr>
          <a:xfrm>
            <a:off x="4953000" y="278130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"/>
          <p:cNvSpPr/>
          <p:nvPr/>
        </p:nvSpPr>
        <p:spPr>
          <a:xfrm>
            <a:off x="4953000" y="285513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6: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Sidekick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improvements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8"/>
          <p:cNvSpPr/>
          <p:nvPr/>
        </p:nvSpPr>
        <p:spPr>
          <a:xfrm>
            <a:off x="4953000" y="49339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8"/>
          <p:cNvSpPr/>
          <p:nvPr/>
        </p:nvSpPr>
        <p:spPr>
          <a:xfrm>
            <a:off x="4953000" y="5083986"/>
            <a:ext cx="1002953" cy="29988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3: Deep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Research app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4953000" y="3857625"/>
            <a:ext cx="1002976" cy="610231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8"/>
          <p:cNvSpPr/>
          <p:nvPr/>
        </p:nvSpPr>
        <p:spPr>
          <a:xfrm>
            <a:off x="4953000" y="3931461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5: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Engineering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Team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8"/>
          <p:cNvSpPr/>
          <p:nvPr/>
        </p:nvSpPr>
        <p:spPr>
          <a:xfrm>
            <a:off x="4953000" y="628650"/>
            <a:ext cx="1002976" cy="610230"/>
          </a:xfrm>
          <a:prstGeom prst="rect">
            <a:avLst/>
          </a:prstGeom>
          <a:noFill/>
          <a:ln cap="flat" cmpd="sng" w="25400">
            <a:solidFill>
              <a:srgbClr val="FFD7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8"/>
          <p:cNvSpPr/>
          <p:nvPr/>
        </p:nvSpPr>
        <p:spPr>
          <a:xfrm>
            <a:off x="4953000" y="702486"/>
            <a:ext cx="1002953" cy="44983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97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8: AI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Equity Traders</a:t>
            </a:r>
            <a:b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125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 Action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p8"/>
          <p:cNvGrpSpPr/>
          <p:nvPr/>
        </p:nvGrpSpPr>
        <p:grpSpPr>
          <a:xfrm>
            <a:off x="257175" y="1390650"/>
            <a:ext cx="5937000" cy="1011900"/>
            <a:chOff x="257175" y="1390650"/>
            <a:chExt cx="5937000" cy="1011900"/>
          </a:xfrm>
        </p:grpSpPr>
        <p:sp>
          <p:nvSpPr>
            <p:cNvPr id="193" name="Google Shape;193;p8"/>
            <p:cNvSpPr/>
            <p:nvPr/>
          </p:nvSpPr>
          <p:spPr>
            <a:xfrm>
              <a:off x="257175" y="1390650"/>
              <a:ext cx="5937000" cy="1011900"/>
            </a:xfrm>
            <a:prstGeom prst="rect">
              <a:avLst/>
            </a:prstGeom>
            <a:solidFill>
              <a:srgbClr val="0C0C0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" name="Google Shape;194;p8"/>
            <p:cNvSpPr/>
            <p:nvPr/>
          </p:nvSpPr>
          <p:spPr>
            <a:xfrm>
              <a:off x="361950" y="1448395"/>
              <a:ext cx="2048100" cy="176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4215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975" u="none" cap="none" strike="noStrike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Week 5: </a:t>
              </a:r>
              <a:r>
                <a:rPr lang="en-US" sz="975">
                  <a:solidFill>
                    <a:srgbClr val="FFFFFF"/>
                  </a:solidFill>
                  <a:latin typeface="Roboto Slab"/>
                  <a:ea typeface="Roboto Slab"/>
                  <a:cs typeface="Roboto Slab"/>
                  <a:sym typeface="Roboto Slab"/>
                </a:rPr>
                <a:t>Agent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" name="Google Shape;195;p8"/>
            <p:cNvSpPr/>
            <p:nvPr/>
          </p:nvSpPr>
          <p:spPr>
            <a:xfrm>
              <a:off x="447675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" name="Google Shape;196;p8"/>
            <p:cNvSpPr/>
            <p:nvPr/>
          </p:nvSpPr>
          <p:spPr>
            <a:xfrm>
              <a:off x="447675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Google ADK and A2A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7" name="Google Shape;197;p8"/>
            <p:cNvSpPr/>
            <p:nvPr/>
          </p:nvSpPr>
          <p:spPr>
            <a:xfrm>
              <a:off x="1562099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8"/>
            <p:cNvSpPr/>
            <p:nvPr/>
          </p:nvSpPr>
          <p:spPr>
            <a:xfrm>
              <a:off x="15621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AWS Strands Agents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8"/>
            <p:cNvSpPr/>
            <p:nvPr/>
          </p:nvSpPr>
          <p:spPr>
            <a:xfrm>
              <a:off x="2676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8"/>
            <p:cNvSpPr/>
            <p:nvPr/>
          </p:nvSpPr>
          <p:spPr>
            <a:xfrm>
              <a:off x="2676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Other Python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1" name="Google Shape;201;p8"/>
            <p:cNvSpPr/>
            <p:nvPr/>
          </p:nvSpPr>
          <p:spPr>
            <a:xfrm>
              <a:off x="3819526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00B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" name="Google Shape;202;p8"/>
            <p:cNvSpPr/>
            <p:nvPr/>
          </p:nvSpPr>
          <p:spPr>
            <a:xfrm>
              <a:off x="3819525" y="1855011"/>
              <a:ext cx="1002900" cy="30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125">
                  <a:solidFill>
                    <a:srgbClr val="FFFFFF"/>
                  </a:solidFill>
                </a:rPr>
                <a:t>JS/TS Frameworks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3" name="Google Shape;203;p8"/>
            <p:cNvSpPr/>
            <p:nvPr/>
          </p:nvSpPr>
          <p:spPr>
            <a:xfrm>
              <a:off x="4953000" y="1704975"/>
              <a:ext cx="1002900" cy="610200"/>
            </a:xfrm>
            <a:prstGeom prst="rect">
              <a:avLst/>
            </a:prstGeom>
            <a:noFill/>
            <a:ln cap="flat" cmpd="sng" w="25400">
              <a:solidFill>
                <a:srgbClr val="FFD7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8"/>
            <p:cNvSpPr/>
            <p:nvPr/>
          </p:nvSpPr>
          <p:spPr>
            <a:xfrm>
              <a:off x="4953000" y="1778811"/>
              <a:ext cx="1002900" cy="44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497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Project 7: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  <a:t>Agent</a:t>
              </a:r>
              <a:br>
                <a:rPr b="0" i="0" lang="en-US" sz="1125" u="none" cap="none" strike="noStrik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lang="en-US" sz="1125">
                  <a:solidFill>
                    <a:srgbClr val="FFFFFF"/>
                  </a:solidFill>
                </a:rPr>
                <a:t>Loop</a:t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"/>
          <p:cNvSpPr/>
          <p:nvPr/>
        </p:nvSpPr>
        <p:spPr>
          <a:xfrm>
            <a:off x="4572000" y="0"/>
            <a:ext cx="2609700" cy="6858000"/>
          </a:xfrm>
          <a:prstGeom prst="rect">
            <a:avLst/>
          </a:prstGeom>
          <a:solidFill>
            <a:srgbClr val="00BFFF">
              <a:alpha val="34900"/>
            </a:srgbClr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1" name="Google Shape;211;p9"/>
          <p:cNvSpPr txBox="1"/>
          <p:nvPr/>
        </p:nvSpPr>
        <p:spPr>
          <a:xfrm>
            <a:off x="4725775" y="258325"/>
            <a:ext cx="2363100" cy="5995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40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Engineer Agentic Track</a:t>
            </a:r>
            <a:endParaRPr b="1" sz="24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The Complete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Agent &amp; MCP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1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Course</a:t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1" sz="210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i="1"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sz="21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65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27%</a:t>
            </a:r>
            <a:endParaRPr sz="65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Complete</a:t>
            </a:r>
            <a:endParaRPr sz="2000">
              <a:solidFill>
                <a:srgbClr val="FFFFFF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pic>
        <p:nvPicPr>
          <p:cNvPr id="212" name="Google Shape;212;p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68579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1A9E2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