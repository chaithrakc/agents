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12192000"/>
  <p:embeddedFontLst>
    <p:embeddedFont>
      <p:font typeface="Roboto Slab"/>
      <p:regular r:id="rId22"/>
      <p:bold r:id="rId23"/>
    </p:embeddedFont>
    <p:embeddedFont>
      <p:font typeface="Montserrat SemiBold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Slab-regular.fntdata"/><Relationship Id="rId21" Type="http://schemas.openxmlformats.org/officeDocument/2006/relationships/slide" Target="slides/slide17.xml"/><Relationship Id="rId24" Type="http://schemas.openxmlformats.org/officeDocument/2006/relationships/font" Target="fonts/MontserratSemiBold-regular.fntdata"/><Relationship Id="rId23" Type="http://schemas.openxmlformats.org/officeDocument/2006/relationships/font" Target="fonts/RobotoSlab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SemiBold-italic.fntdata"/><Relationship Id="rId25" Type="http://schemas.openxmlformats.org/officeDocument/2006/relationships/font" Target="fonts/MontserratSemiBold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MontserratSemiBol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c4773add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c4773add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dc4773add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c4773add5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dc4773add5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dc4773add5_0_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c4773add5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dc4773add5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dc4773add5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dc4773add5_0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3dc4773add5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dc4773add5_0_1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dc4773add5_0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3dc4773add5_0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dc4773add5_0_1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c4773add5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dc4773add5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dc4773add5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78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1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2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9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5" y="5695950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5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5" y="4619625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5" y="3543300"/>
            <a:ext cx="5936927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5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5" y="6010276"/>
            <a:ext cx="1002978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5" y="2781300"/>
            <a:ext cx="1002978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5" y="4933950"/>
            <a:ext cx="1002978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5" y="3857625"/>
            <a:ext cx="1002978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5" y="628650"/>
            <a:ext cx="1002978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099" y="6010276"/>
            <a:ext cx="1002976" cy="610229"/>
          </a:xfrm>
          <a:prstGeom prst="rect">
            <a:avLst/>
          </a:prstGeom>
          <a:solidFill>
            <a:srgbClr val="FF7800">
              <a:alpha val="34902"/>
            </a:srgbClr>
          </a:solidFill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099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099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099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099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6" y="6010276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6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6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6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6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6" y="6010276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6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6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6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6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6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67110"/>
            <a:ext cx="9069637" cy="9533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3 definitions of an AI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71500" y="1763744"/>
            <a:ext cx="60780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Sam Altman</a:t>
            </a:r>
            <a:endParaRPr b="1" sz="190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“AI systems that can do work for you independently”</a:t>
            </a:r>
            <a:endParaRPr sz="190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71500" y="4733119"/>
            <a:ext cx="63561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Current </a:t>
            </a:r>
            <a:r>
              <a:rPr b="1" lang="en-US" sz="19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prevailing</a:t>
            </a:r>
            <a:r>
              <a:rPr b="1" lang="en-US" sz="19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 view</a:t>
            </a:r>
            <a:endParaRPr b="1" sz="1900"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An LLM with Tools in a Loop to achieve a goal</a:t>
            </a:r>
            <a:endParaRPr sz="1900"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19650" y="3297182"/>
            <a:ext cx="58332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Early 2025 consensus </a:t>
            </a:r>
            <a:r>
              <a:rPr lang="en-US" sz="19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(Anthropic, Hugging Face, ..)</a:t>
            </a:r>
            <a:endParaRPr sz="1900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AI systems where an LLM controls the workflow</a:t>
            </a:r>
            <a:endParaRPr sz="1900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571500" y="56711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Agentic Systems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47700" y="1656234"/>
            <a:ext cx="4567238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Anthropic distinguish two types: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p6"/>
          <p:cNvGrpSpPr/>
          <p:nvPr/>
        </p:nvGrpSpPr>
        <p:grpSpPr>
          <a:xfrm>
            <a:off x="388145" y="2878931"/>
            <a:ext cx="5211436" cy="828675"/>
            <a:chOff x="388145" y="2878931"/>
            <a:chExt cx="5211436" cy="828675"/>
          </a:xfrm>
        </p:grpSpPr>
        <p:sp>
          <p:nvSpPr>
            <p:cNvPr id="114" name="Google Shape;114;p6"/>
            <p:cNvSpPr/>
            <p:nvPr/>
          </p:nvSpPr>
          <p:spPr>
            <a:xfrm>
              <a:off x="1352550" y="2878931"/>
              <a:ext cx="4247031" cy="828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3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Workflows </a:t>
              </a:r>
              <a:r>
                <a:rPr b="0" i="0" lang="en-US" sz="153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are systems where LLMs and</a:t>
              </a:r>
              <a:br>
                <a:rPr b="0" i="0" lang="en-US" sz="153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tools are orchestrated through</a:t>
              </a:r>
              <a:br>
                <a:rPr b="0" i="0" lang="en-US" sz="153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predefined code paths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4e9a18e2.png" id="115" name="Google Shape;11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8145" y="2963172"/>
              <a:ext cx="609600" cy="571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" name="Google Shape;116;p6"/>
          <p:cNvGrpSpPr/>
          <p:nvPr/>
        </p:nvGrpSpPr>
        <p:grpSpPr>
          <a:xfrm>
            <a:off x="365821" y="4536281"/>
            <a:ext cx="4930228" cy="1104900"/>
            <a:chOff x="365821" y="4536281"/>
            <a:chExt cx="4930228" cy="1104900"/>
          </a:xfrm>
        </p:grpSpPr>
        <p:sp>
          <p:nvSpPr>
            <p:cNvPr id="117" name="Google Shape;117;p6"/>
            <p:cNvSpPr/>
            <p:nvPr/>
          </p:nvSpPr>
          <p:spPr>
            <a:xfrm>
              <a:off x="1352550" y="4536281"/>
              <a:ext cx="3943499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3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</a:t>
              </a:r>
              <a:r>
                <a:rPr b="0" i="0" lang="en-US" sz="153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 are dynamic systems where</a:t>
              </a:r>
              <a:br>
                <a:rPr b="0" i="0" lang="en-US" sz="153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LLMs direct their own processes and</a:t>
              </a:r>
              <a:br>
                <a:rPr b="0" i="0" lang="en-US" sz="153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tool usage, maintaining control over</a:t>
              </a:r>
              <a:br>
                <a:rPr b="0" i="0" lang="en-US" sz="153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how they accomplish tasks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1a3c3322.png" id="118" name="Google Shape;118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5821" y="4783336"/>
              <a:ext cx="647700" cy="6381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1905000" y="68141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5 workflow design 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800225" y="1794867"/>
            <a:ext cx="4459486" cy="29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7800"/>
                </a:solidFill>
                <a:latin typeface="Arial"/>
                <a:ea typeface="Arial"/>
                <a:cs typeface="Arial"/>
                <a:sym typeface="Arial"/>
              </a:rPr>
              <a:t>1. PROMPT CHAINING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800225" y="2161431"/>
            <a:ext cx="445948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Decompose into fixed sub-tasks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40dcc55e.png"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70" y="658122"/>
            <a:ext cx="609600" cy="57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7"/>
          <p:cNvGrpSpPr/>
          <p:nvPr/>
        </p:nvGrpSpPr>
        <p:grpSpPr>
          <a:xfrm>
            <a:off x="266698" y="3371850"/>
            <a:ext cx="6340770" cy="1077803"/>
            <a:chOff x="266698" y="3371850"/>
            <a:chExt cx="6340770" cy="1077803"/>
          </a:xfrm>
        </p:grpSpPr>
        <p:grpSp>
          <p:nvGrpSpPr>
            <p:cNvPr id="129" name="Google Shape;129;p7"/>
            <p:cNvGrpSpPr/>
            <p:nvPr/>
          </p:nvGrpSpPr>
          <p:grpSpPr>
            <a:xfrm>
              <a:off x="266698" y="3800475"/>
              <a:ext cx="739972" cy="649178"/>
              <a:chOff x="266698" y="3800475"/>
              <a:chExt cx="739972" cy="649178"/>
            </a:xfrm>
          </p:grpSpPr>
          <p:sp>
            <p:nvSpPr>
              <p:cNvPr id="130" name="Google Shape;130;p7"/>
              <p:cNvSpPr/>
              <p:nvPr/>
            </p:nvSpPr>
            <p:spPr>
              <a:xfrm>
                <a:off x="266698" y="3800475"/>
                <a:ext cx="739972" cy="649178"/>
              </a:xfrm>
              <a:prstGeom prst="ellipse">
                <a:avLst/>
              </a:prstGeom>
              <a:solidFill>
                <a:srgbClr val="FF7800"/>
              </a:solidFill>
              <a:ln cap="flat" cmpd="sng" w="12700">
                <a:solidFill>
                  <a:srgbClr val="000000">
                    <a:alpha val="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7"/>
              <p:cNvSpPr/>
              <p:nvPr/>
            </p:nvSpPr>
            <p:spPr>
              <a:xfrm>
                <a:off x="409575" y="4016717"/>
                <a:ext cx="454149" cy="1998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49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7"/>
            <p:cNvSpPr/>
            <p:nvPr/>
          </p:nvSpPr>
          <p:spPr>
            <a:xfrm>
              <a:off x="5876927" y="3371850"/>
              <a:ext cx="730541" cy="649178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067425" y="3594938"/>
              <a:ext cx="444773" cy="189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4" name="Google Shape;134;p7"/>
            <p:cNvGrpSpPr/>
            <p:nvPr/>
          </p:nvGrpSpPr>
          <p:grpSpPr>
            <a:xfrm>
              <a:off x="1447800" y="3838575"/>
              <a:ext cx="697483" cy="522961"/>
              <a:chOff x="1447800" y="3838575"/>
              <a:chExt cx="697483" cy="522961"/>
            </a:xfrm>
          </p:grpSpPr>
          <p:sp>
            <p:nvSpPr>
              <p:cNvPr id="135" name="Google Shape;135;p7"/>
              <p:cNvSpPr/>
              <p:nvPr/>
            </p:nvSpPr>
            <p:spPr>
              <a:xfrm>
                <a:off x="1457323" y="3838575"/>
                <a:ext cx="678497" cy="522961"/>
              </a:xfrm>
              <a:prstGeom prst="rect">
                <a:avLst/>
              </a:prstGeom>
              <a:solidFill>
                <a:srgbClr val="FFD700">
                  <a:alpha val="34902"/>
                </a:srgbClr>
              </a:solidFill>
              <a:ln cap="flat" cmpd="sng" w="25400">
                <a:solidFill>
                  <a:srgbClr val="FFD7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7"/>
              <p:cNvSpPr/>
              <p:nvPr/>
            </p:nvSpPr>
            <p:spPr>
              <a:xfrm>
                <a:off x="1447800" y="4005401"/>
                <a:ext cx="697483" cy="1799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496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35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LLM1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7"/>
            <p:cNvGrpSpPr/>
            <p:nvPr/>
          </p:nvGrpSpPr>
          <p:grpSpPr>
            <a:xfrm>
              <a:off x="2543175" y="3838575"/>
              <a:ext cx="697483" cy="522961"/>
              <a:chOff x="2543175" y="3838575"/>
              <a:chExt cx="697483" cy="522961"/>
            </a:xfrm>
          </p:grpSpPr>
          <p:sp>
            <p:nvSpPr>
              <p:cNvPr id="138" name="Google Shape;138;p7"/>
              <p:cNvSpPr/>
              <p:nvPr/>
            </p:nvSpPr>
            <p:spPr>
              <a:xfrm>
                <a:off x="2552698" y="3838575"/>
                <a:ext cx="678497" cy="522961"/>
              </a:xfrm>
              <a:prstGeom prst="rect">
                <a:avLst/>
              </a:prstGeom>
              <a:solidFill>
                <a:srgbClr val="00BFFF">
                  <a:alpha val="34902"/>
                </a:srgbClr>
              </a:solidFill>
              <a:ln cap="flat" cmpd="sng" w="25400">
                <a:solidFill>
                  <a:srgbClr val="00B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2543175" y="4005401"/>
                <a:ext cx="697483" cy="1799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496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35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Gate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0" name="Google Shape;140;p7"/>
            <p:cNvSpPr/>
            <p:nvPr/>
          </p:nvSpPr>
          <p:spPr>
            <a:xfrm>
              <a:off x="3676647" y="3467100"/>
              <a:ext cx="678497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3667125" y="363392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LLM2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4791073" y="3467100"/>
              <a:ext cx="678497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4781550" y="363392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LLM3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4" name="Google Shape;144;p7"/>
            <p:cNvGrpSpPr/>
            <p:nvPr/>
          </p:nvGrpSpPr>
          <p:grpSpPr>
            <a:xfrm>
              <a:off x="2174212" y="4029075"/>
              <a:ext cx="358826" cy="190500"/>
              <a:chOff x="2228850" y="4029075"/>
              <a:chExt cx="358826" cy="190500"/>
            </a:xfrm>
          </p:grpSpPr>
          <p:cxnSp>
            <p:nvCxnSpPr>
              <p:cNvPr id="145" name="Google Shape;145;p7"/>
              <p:cNvCxnSpPr/>
              <p:nvPr/>
            </p:nvCxnSpPr>
            <p:spPr>
              <a:xfrm>
                <a:off x="2228850" y="4124325"/>
                <a:ext cx="263700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3C3C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46" name="Google Shape;146;p7"/>
              <p:cNvSpPr/>
              <p:nvPr/>
            </p:nvSpPr>
            <p:spPr>
              <a:xfrm rot="5400000">
                <a:off x="2397176" y="4029075"/>
                <a:ext cx="190500" cy="190500"/>
              </a:xfrm>
              <a:prstGeom prst="triangle">
                <a:avLst>
                  <a:gd fmla="val 50000" name="adj"/>
                </a:avLst>
              </a:prstGeom>
              <a:solidFill>
                <a:srgbClr val="C3C3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7" name="Google Shape;147;p7"/>
            <p:cNvGrpSpPr/>
            <p:nvPr/>
          </p:nvGrpSpPr>
          <p:grpSpPr>
            <a:xfrm>
              <a:off x="1076325" y="4029075"/>
              <a:ext cx="358826" cy="190500"/>
              <a:chOff x="1076325" y="4029075"/>
              <a:chExt cx="358826" cy="190500"/>
            </a:xfrm>
          </p:grpSpPr>
          <p:cxnSp>
            <p:nvCxnSpPr>
              <p:cNvPr id="148" name="Google Shape;148;p7"/>
              <p:cNvCxnSpPr/>
              <p:nvPr/>
            </p:nvCxnSpPr>
            <p:spPr>
              <a:xfrm>
                <a:off x="1076325" y="4124325"/>
                <a:ext cx="263576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3C3C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49" name="Google Shape;149;p7"/>
              <p:cNvSpPr/>
              <p:nvPr/>
            </p:nvSpPr>
            <p:spPr>
              <a:xfrm rot="5400000">
                <a:off x="1244651" y="4029075"/>
                <a:ext cx="190500" cy="190500"/>
              </a:xfrm>
              <a:prstGeom prst="triangle">
                <a:avLst>
                  <a:gd fmla="val 50000" name="adj"/>
                </a:avLst>
              </a:prstGeom>
              <a:solidFill>
                <a:srgbClr val="C3C3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" name="Google Shape;150;p7"/>
            <p:cNvGrpSpPr/>
            <p:nvPr/>
          </p:nvGrpSpPr>
          <p:grpSpPr>
            <a:xfrm>
              <a:off x="3305175" y="3800475"/>
              <a:ext cx="358826" cy="190500"/>
              <a:chOff x="3305175" y="3800475"/>
              <a:chExt cx="358826" cy="190500"/>
            </a:xfrm>
          </p:grpSpPr>
          <p:cxnSp>
            <p:nvCxnSpPr>
              <p:cNvPr id="151" name="Google Shape;151;p7"/>
              <p:cNvCxnSpPr/>
              <p:nvPr/>
            </p:nvCxnSpPr>
            <p:spPr>
              <a:xfrm>
                <a:off x="3305175" y="3895725"/>
                <a:ext cx="263576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3C3C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52" name="Google Shape;152;p7"/>
              <p:cNvSpPr/>
              <p:nvPr/>
            </p:nvSpPr>
            <p:spPr>
              <a:xfrm rot="5400000">
                <a:off x="3473501" y="3800475"/>
                <a:ext cx="190500" cy="190500"/>
              </a:xfrm>
              <a:prstGeom prst="triangle">
                <a:avLst>
                  <a:gd fmla="val 50000" name="adj"/>
                </a:avLst>
              </a:prstGeom>
              <a:solidFill>
                <a:srgbClr val="C3C3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3" name="Google Shape;153;p7"/>
            <p:cNvCxnSpPr/>
            <p:nvPr/>
          </p:nvCxnSpPr>
          <p:spPr>
            <a:xfrm>
              <a:off x="4407563" y="3743325"/>
              <a:ext cx="26370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4" name="Google Shape;154;p7"/>
            <p:cNvSpPr/>
            <p:nvPr/>
          </p:nvSpPr>
          <p:spPr>
            <a:xfrm rot="5400000">
              <a:off x="4575889" y="36480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5" name="Google Shape;155;p7"/>
            <p:cNvCxnSpPr/>
            <p:nvPr/>
          </p:nvCxnSpPr>
          <p:spPr>
            <a:xfrm>
              <a:off x="5487193" y="3743325"/>
              <a:ext cx="26370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6" name="Google Shape;156;p7"/>
            <p:cNvSpPr/>
            <p:nvPr/>
          </p:nvSpPr>
          <p:spPr>
            <a:xfrm rot="5400000">
              <a:off x="5655519" y="36480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1905000" y="68141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5 workflow design 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800225" y="1794867"/>
            <a:ext cx="4459486" cy="29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7800"/>
                </a:solidFill>
                <a:latin typeface="Arial"/>
                <a:ea typeface="Arial"/>
                <a:cs typeface="Arial"/>
                <a:sym typeface="Arial"/>
              </a:rPr>
              <a:t>2. ROUTING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800225" y="2161431"/>
            <a:ext cx="453975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Direct an input into a specialized sub-task,</a:t>
            </a:r>
            <a:b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ensuring separation of concerns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40dcc55e.png"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70" y="658122"/>
            <a:ext cx="609600" cy="57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8"/>
          <p:cNvGrpSpPr/>
          <p:nvPr/>
        </p:nvGrpSpPr>
        <p:grpSpPr>
          <a:xfrm>
            <a:off x="1057272" y="3314700"/>
            <a:ext cx="4418175" cy="1856461"/>
            <a:chOff x="1057272" y="3314700"/>
            <a:chExt cx="4418175" cy="1856461"/>
          </a:xfrm>
        </p:grpSpPr>
        <p:sp>
          <p:nvSpPr>
            <p:cNvPr id="167" name="Google Shape;167;p8"/>
            <p:cNvSpPr/>
            <p:nvPr/>
          </p:nvSpPr>
          <p:spPr>
            <a:xfrm>
              <a:off x="3505200" y="348152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LLM1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1057272" y="3943350"/>
              <a:ext cx="724330" cy="649178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1200150" y="4159592"/>
              <a:ext cx="438522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4752978" y="3914775"/>
              <a:ext cx="722469" cy="649178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4895850" y="4137863"/>
              <a:ext cx="436662" cy="189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2228853" y="3981450"/>
              <a:ext cx="678489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2219325" y="4057788"/>
              <a:ext cx="697483" cy="359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Router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3514728" y="3314700"/>
              <a:ext cx="678489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3514728" y="3981450"/>
              <a:ext cx="678489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3505200" y="414827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LLM2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7" name="Google Shape;177;p8"/>
            <p:cNvCxnSpPr/>
            <p:nvPr/>
          </p:nvCxnSpPr>
          <p:spPr>
            <a:xfrm>
              <a:off x="3000375" y="4267200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8" name="Google Shape;178;p8"/>
            <p:cNvSpPr/>
            <p:nvPr/>
          </p:nvSpPr>
          <p:spPr>
            <a:xfrm rot="5400000">
              <a:off x="3256355" y="41719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9" name="Google Shape;179;p8"/>
            <p:cNvCxnSpPr/>
            <p:nvPr/>
          </p:nvCxnSpPr>
          <p:spPr>
            <a:xfrm>
              <a:off x="1847850" y="4267200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0" name="Google Shape;180;p8"/>
            <p:cNvSpPr/>
            <p:nvPr/>
          </p:nvSpPr>
          <p:spPr>
            <a:xfrm rot="5400000">
              <a:off x="2016176" y="41719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1" name="Google Shape;181;p8"/>
            <p:cNvCxnSpPr/>
            <p:nvPr/>
          </p:nvCxnSpPr>
          <p:spPr>
            <a:xfrm>
              <a:off x="4343400" y="4267200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2" name="Google Shape;182;p8"/>
            <p:cNvSpPr/>
            <p:nvPr/>
          </p:nvSpPr>
          <p:spPr>
            <a:xfrm rot="5400000">
              <a:off x="4511726" y="41719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3514728" y="4648200"/>
              <a:ext cx="678489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3505200" y="481502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LLM3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" name="Google Shape;185;p8"/>
            <p:cNvCxnSpPr/>
            <p:nvPr/>
          </p:nvCxnSpPr>
          <p:spPr>
            <a:xfrm rot="-2700000">
              <a:off x="2977960" y="3812452"/>
              <a:ext cx="40952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6" name="Google Shape;186;p8"/>
            <p:cNvSpPr/>
            <p:nvPr/>
          </p:nvSpPr>
          <p:spPr>
            <a:xfrm rot="2700000">
              <a:off x="3231715" y="35718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7" name="Google Shape;187;p8"/>
            <p:cNvCxnSpPr/>
            <p:nvPr/>
          </p:nvCxnSpPr>
          <p:spPr>
            <a:xfrm rot="1980000">
              <a:off x="2985536" y="4674191"/>
              <a:ext cx="40216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8" name="Google Shape;188;p8"/>
            <p:cNvSpPr/>
            <p:nvPr/>
          </p:nvSpPr>
          <p:spPr>
            <a:xfrm rot="7380000">
              <a:off x="3258557" y="4690656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/>
          <p:nvPr/>
        </p:nvSpPr>
        <p:spPr>
          <a:xfrm>
            <a:off x="1905000" y="68141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5 workflow design 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1800225" y="1794867"/>
            <a:ext cx="4459486" cy="29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7800"/>
                </a:solidFill>
                <a:latin typeface="Arial"/>
                <a:ea typeface="Arial"/>
                <a:cs typeface="Arial"/>
                <a:sym typeface="Arial"/>
              </a:rPr>
              <a:t>3. PARALLELIZATION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800225" y="2161431"/>
            <a:ext cx="454705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Breaking down tasks and running multiple</a:t>
            </a:r>
            <a:b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subtasks concurrently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40dcc55e.png"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70" y="658122"/>
            <a:ext cx="609600" cy="57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9"/>
          <p:cNvGrpSpPr/>
          <p:nvPr/>
        </p:nvGrpSpPr>
        <p:grpSpPr>
          <a:xfrm>
            <a:off x="495302" y="3429000"/>
            <a:ext cx="5653243" cy="1856462"/>
            <a:chOff x="495302" y="3429000"/>
            <a:chExt cx="5653243" cy="1856462"/>
          </a:xfrm>
        </p:grpSpPr>
        <p:sp>
          <p:nvSpPr>
            <p:cNvPr id="199" name="Google Shape;199;p9"/>
            <p:cNvSpPr/>
            <p:nvPr/>
          </p:nvSpPr>
          <p:spPr>
            <a:xfrm>
              <a:off x="495302" y="4057651"/>
              <a:ext cx="701664" cy="649177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38175" y="4273892"/>
              <a:ext cx="415900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5429250" y="4029075"/>
              <a:ext cx="719295" cy="649178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5572125" y="4259009"/>
              <a:ext cx="433536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1647823" y="4095750"/>
              <a:ext cx="678497" cy="522961"/>
            </a:xfrm>
            <a:prstGeom prst="rect">
              <a:avLst/>
            </a:prstGeom>
            <a:solidFill>
              <a:srgbClr val="00BFFF">
                <a:alpha val="34902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1657350" y="4294797"/>
              <a:ext cx="659383" cy="1169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5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7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Coordinator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4219573" y="4095750"/>
              <a:ext cx="678497" cy="522961"/>
            </a:xfrm>
            <a:prstGeom prst="rect">
              <a:avLst/>
            </a:prstGeom>
            <a:solidFill>
              <a:srgbClr val="00BFFF">
                <a:alpha val="34902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4229100" y="4286240"/>
              <a:ext cx="659383" cy="134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Aggregator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2933698" y="3429000"/>
              <a:ext cx="678497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2924175" y="359582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LLM1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2933698" y="4095750"/>
              <a:ext cx="678497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2924175" y="426257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LLM2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1" name="Google Shape;211;p9"/>
            <p:cNvCxnSpPr/>
            <p:nvPr/>
          </p:nvCxnSpPr>
          <p:spPr>
            <a:xfrm>
              <a:off x="2419350" y="4381500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2" name="Google Shape;212;p9"/>
            <p:cNvSpPr/>
            <p:nvPr/>
          </p:nvSpPr>
          <p:spPr>
            <a:xfrm rot="5400000">
              <a:off x="2675330" y="42862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3" name="Google Shape;213;p9"/>
            <p:cNvCxnSpPr/>
            <p:nvPr/>
          </p:nvCxnSpPr>
          <p:spPr>
            <a:xfrm>
              <a:off x="3705225" y="4381500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4" name="Google Shape;214;p9"/>
            <p:cNvSpPr/>
            <p:nvPr/>
          </p:nvSpPr>
          <p:spPr>
            <a:xfrm rot="5400000">
              <a:off x="3961205" y="42862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5" name="Google Shape;215;p9"/>
            <p:cNvCxnSpPr/>
            <p:nvPr/>
          </p:nvCxnSpPr>
          <p:spPr>
            <a:xfrm>
              <a:off x="1266825" y="4381500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6" name="Google Shape;216;p9"/>
            <p:cNvSpPr/>
            <p:nvPr/>
          </p:nvSpPr>
          <p:spPr>
            <a:xfrm rot="5400000">
              <a:off x="1435151" y="42862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7" name="Google Shape;217;p9"/>
            <p:cNvCxnSpPr/>
            <p:nvPr/>
          </p:nvCxnSpPr>
          <p:spPr>
            <a:xfrm>
              <a:off x="5019675" y="4381500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8" name="Google Shape;218;p9"/>
            <p:cNvSpPr/>
            <p:nvPr/>
          </p:nvSpPr>
          <p:spPr>
            <a:xfrm rot="5400000">
              <a:off x="5188001" y="42862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2933698" y="4762500"/>
              <a:ext cx="678497" cy="522962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2924175" y="492932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LLM3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1" name="Google Shape;221;p9"/>
            <p:cNvCxnSpPr/>
            <p:nvPr/>
          </p:nvCxnSpPr>
          <p:spPr>
            <a:xfrm rot="-2700000">
              <a:off x="2396935" y="3926752"/>
              <a:ext cx="40952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2" name="Google Shape;222;p9"/>
            <p:cNvSpPr/>
            <p:nvPr/>
          </p:nvSpPr>
          <p:spPr>
            <a:xfrm rot="2700000">
              <a:off x="2650690" y="36861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3" name="Google Shape;223;p9"/>
            <p:cNvCxnSpPr/>
            <p:nvPr/>
          </p:nvCxnSpPr>
          <p:spPr>
            <a:xfrm rot="-2700000">
              <a:off x="3682810" y="4822102"/>
              <a:ext cx="40952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4" name="Google Shape;224;p9"/>
            <p:cNvSpPr/>
            <p:nvPr/>
          </p:nvSpPr>
          <p:spPr>
            <a:xfrm rot="2700000">
              <a:off x="3936565" y="458152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5" name="Google Shape;225;p9"/>
            <p:cNvCxnSpPr/>
            <p:nvPr/>
          </p:nvCxnSpPr>
          <p:spPr>
            <a:xfrm rot="2220000">
              <a:off x="2395270" y="4803052"/>
              <a:ext cx="412849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6" name="Google Shape;226;p9"/>
            <p:cNvSpPr/>
            <p:nvPr/>
          </p:nvSpPr>
          <p:spPr>
            <a:xfrm rot="7620000">
              <a:off x="2669740" y="4834079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7" name="Google Shape;227;p9"/>
            <p:cNvCxnSpPr/>
            <p:nvPr/>
          </p:nvCxnSpPr>
          <p:spPr>
            <a:xfrm rot="1980000">
              <a:off x="3661811" y="3931241"/>
              <a:ext cx="40216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8" name="Google Shape;228;p9"/>
            <p:cNvSpPr/>
            <p:nvPr/>
          </p:nvSpPr>
          <p:spPr>
            <a:xfrm rot="7380000">
              <a:off x="3934832" y="3947706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1905000" y="68141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5 workflow design 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800225" y="1794867"/>
            <a:ext cx="4459486" cy="29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7800"/>
                </a:solidFill>
                <a:latin typeface="Arial"/>
                <a:ea typeface="Arial"/>
                <a:cs typeface="Arial"/>
                <a:sym typeface="Arial"/>
              </a:rPr>
              <a:t>4. ORCHESTRATOR-WORKER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1800225" y="2161431"/>
            <a:ext cx="4740973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Complex tasks are broken down dynamically</a:t>
            </a:r>
            <a:b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and combined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40dcc55e.png" id="237" name="Google Shape;2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70" y="658122"/>
            <a:ext cx="609600" cy="57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10"/>
          <p:cNvGrpSpPr/>
          <p:nvPr/>
        </p:nvGrpSpPr>
        <p:grpSpPr>
          <a:xfrm>
            <a:off x="495302" y="3429000"/>
            <a:ext cx="5653243" cy="1856462"/>
            <a:chOff x="495302" y="3429000"/>
            <a:chExt cx="5653243" cy="1856462"/>
          </a:xfrm>
        </p:grpSpPr>
        <p:sp>
          <p:nvSpPr>
            <p:cNvPr id="239" name="Google Shape;239;p10"/>
            <p:cNvSpPr/>
            <p:nvPr/>
          </p:nvSpPr>
          <p:spPr>
            <a:xfrm>
              <a:off x="495302" y="4057651"/>
              <a:ext cx="701664" cy="649177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0"/>
            <p:cNvSpPr/>
            <p:nvPr/>
          </p:nvSpPr>
          <p:spPr>
            <a:xfrm>
              <a:off x="638175" y="4273892"/>
              <a:ext cx="415900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0"/>
            <p:cNvSpPr/>
            <p:nvPr/>
          </p:nvSpPr>
          <p:spPr>
            <a:xfrm>
              <a:off x="5429250" y="4029075"/>
              <a:ext cx="719295" cy="649178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5572125" y="4259009"/>
              <a:ext cx="433536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1647823" y="4095750"/>
              <a:ext cx="678497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0"/>
            <p:cNvSpPr/>
            <p:nvPr/>
          </p:nvSpPr>
          <p:spPr>
            <a:xfrm>
              <a:off x="1657350" y="4294797"/>
              <a:ext cx="659383" cy="1169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5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7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Orchestrator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4219573" y="4095750"/>
              <a:ext cx="678497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0"/>
            <p:cNvSpPr/>
            <p:nvPr/>
          </p:nvSpPr>
          <p:spPr>
            <a:xfrm>
              <a:off x="4229100" y="4288174"/>
              <a:ext cx="659383" cy="125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4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Synthesizer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0"/>
            <p:cNvSpPr/>
            <p:nvPr/>
          </p:nvSpPr>
          <p:spPr>
            <a:xfrm>
              <a:off x="2933698" y="3429000"/>
              <a:ext cx="678497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0"/>
            <p:cNvSpPr/>
            <p:nvPr/>
          </p:nvSpPr>
          <p:spPr>
            <a:xfrm>
              <a:off x="2924175" y="359582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LLM1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0"/>
            <p:cNvSpPr/>
            <p:nvPr/>
          </p:nvSpPr>
          <p:spPr>
            <a:xfrm>
              <a:off x="2933698" y="4095750"/>
              <a:ext cx="678497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0"/>
            <p:cNvSpPr/>
            <p:nvPr/>
          </p:nvSpPr>
          <p:spPr>
            <a:xfrm>
              <a:off x="2924175" y="426257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LLM2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1" name="Google Shape;251;p10"/>
            <p:cNvCxnSpPr/>
            <p:nvPr/>
          </p:nvCxnSpPr>
          <p:spPr>
            <a:xfrm>
              <a:off x="2419350" y="4381500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2" name="Google Shape;252;p10"/>
            <p:cNvSpPr/>
            <p:nvPr/>
          </p:nvSpPr>
          <p:spPr>
            <a:xfrm rot="5400000">
              <a:off x="2675330" y="42862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3" name="Google Shape;253;p10"/>
            <p:cNvCxnSpPr/>
            <p:nvPr/>
          </p:nvCxnSpPr>
          <p:spPr>
            <a:xfrm>
              <a:off x="3705225" y="4381500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4" name="Google Shape;254;p10"/>
            <p:cNvSpPr/>
            <p:nvPr/>
          </p:nvSpPr>
          <p:spPr>
            <a:xfrm rot="5400000">
              <a:off x="3961205" y="42862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5" name="Google Shape;255;p10"/>
            <p:cNvCxnSpPr/>
            <p:nvPr/>
          </p:nvCxnSpPr>
          <p:spPr>
            <a:xfrm>
              <a:off x="1266825" y="4381500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6" name="Google Shape;256;p10"/>
            <p:cNvSpPr/>
            <p:nvPr/>
          </p:nvSpPr>
          <p:spPr>
            <a:xfrm rot="5400000">
              <a:off x="1435151" y="42862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7" name="Google Shape;257;p10"/>
            <p:cNvCxnSpPr/>
            <p:nvPr/>
          </p:nvCxnSpPr>
          <p:spPr>
            <a:xfrm>
              <a:off x="5019675" y="4381500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8" name="Google Shape;258;p10"/>
            <p:cNvSpPr/>
            <p:nvPr/>
          </p:nvSpPr>
          <p:spPr>
            <a:xfrm rot="5400000">
              <a:off x="5188001" y="42862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0"/>
            <p:cNvSpPr/>
            <p:nvPr/>
          </p:nvSpPr>
          <p:spPr>
            <a:xfrm>
              <a:off x="2933698" y="4762500"/>
              <a:ext cx="678497" cy="522962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0"/>
            <p:cNvSpPr/>
            <p:nvPr/>
          </p:nvSpPr>
          <p:spPr>
            <a:xfrm>
              <a:off x="2924175" y="4929326"/>
              <a:ext cx="6974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LLM3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1" name="Google Shape;261;p10"/>
            <p:cNvCxnSpPr/>
            <p:nvPr/>
          </p:nvCxnSpPr>
          <p:spPr>
            <a:xfrm rot="-2700000">
              <a:off x="2396935" y="3926752"/>
              <a:ext cx="40952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2" name="Google Shape;262;p10"/>
            <p:cNvSpPr/>
            <p:nvPr/>
          </p:nvSpPr>
          <p:spPr>
            <a:xfrm rot="2700000">
              <a:off x="2650690" y="36861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3" name="Google Shape;263;p10"/>
            <p:cNvCxnSpPr/>
            <p:nvPr/>
          </p:nvCxnSpPr>
          <p:spPr>
            <a:xfrm rot="-2700000">
              <a:off x="3682810" y="4822102"/>
              <a:ext cx="40952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4" name="Google Shape;264;p10"/>
            <p:cNvSpPr/>
            <p:nvPr/>
          </p:nvSpPr>
          <p:spPr>
            <a:xfrm rot="2700000">
              <a:off x="3936565" y="458152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5" name="Google Shape;265;p10"/>
            <p:cNvCxnSpPr/>
            <p:nvPr/>
          </p:nvCxnSpPr>
          <p:spPr>
            <a:xfrm rot="2220000">
              <a:off x="2395270" y="4803052"/>
              <a:ext cx="412849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6" name="Google Shape;266;p10"/>
            <p:cNvSpPr/>
            <p:nvPr/>
          </p:nvSpPr>
          <p:spPr>
            <a:xfrm rot="7620000">
              <a:off x="2669740" y="4834079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7" name="Google Shape;267;p10"/>
            <p:cNvCxnSpPr/>
            <p:nvPr/>
          </p:nvCxnSpPr>
          <p:spPr>
            <a:xfrm rot="1980000">
              <a:off x="3661811" y="3931241"/>
              <a:ext cx="40216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8" name="Google Shape;268;p10"/>
            <p:cNvSpPr/>
            <p:nvPr/>
          </p:nvSpPr>
          <p:spPr>
            <a:xfrm rot="7380000">
              <a:off x="3934832" y="3947706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"/>
          <p:cNvSpPr/>
          <p:nvPr/>
        </p:nvSpPr>
        <p:spPr>
          <a:xfrm>
            <a:off x="1905000" y="68141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5 workflow design 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800225" y="1794867"/>
            <a:ext cx="4459486" cy="29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7800"/>
                </a:solidFill>
                <a:latin typeface="Arial"/>
                <a:ea typeface="Arial"/>
                <a:cs typeface="Arial"/>
                <a:sym typeface="Arial"/>
              </a:rPr>
              <a:t>5. EVALUATOR-OPTIMIZER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1800225" y="2161431"/>
            <a:ext cx="445948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LLM output is validated by another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40dcc55e.png" id="277" name="Google Shape;2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63" y="658122"/>
            <a:ext cx="609600" cy="57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8" name="Google Shape;278;p11"/>
          <p:cNvGrpSpPr/>
          <p:nvPr/>
        </p:nvGrpSpPr>
        <p:grpSpPr>
          <a:xfrm>
            <a:off x="933456" y="3414192"/>
            <a:ext cx="4763806" cy="1297186"/>
            <a:chOff x="933456" y="3414192"/>
            <a:chExt cx="4763806" cy="1297186"/>
          </a:xfrm>
        </p:grpSpPr>
        <p:sp>
          <p:nvSpPr>
            <p:cNvPr id="279" name="Google Shape;279;p11"/>
            <p:cNvSpPr/>
            <p:nvPr/>
          </p:nvSpPr>
          <p:spPr>
            <a:xfrm>
              <a:off x="933456" y="3571875"/>
              <a:ext cx="710821" cy="649179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1"/>
            <p:cNvSpPr/>
            <p:nvPr/>
          </p:nvSpPr>
          <p:spPr>
            <a:xfrm>
              <a:off x="1076325" y="3788117"/>
              <a:ext cx="425053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1"/>
            <p:cNvSpPr/>
            <p:nvPr/>
          </p:nvSpPr>
          <p:spPr>
            <a:xfrm>
              <a:off x="4991103" y="3543300"/>
              <a:ext cx="706159" cy="649179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5133975" y="3773234"/>
              <a:ext cx="420365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2095500" y="3609975"/>
              <a:ext cx="678489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1"/>
            <p:cNvSpPr/>
            <p:nvPr/>
          </p:nvSpPr>
          <p:spPr>
            <a:xfrm>
              <a:off x="2105025" y="3722404"/>
              <a:ext cx="659383" cy="287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8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</a:t>
              </a:r>
              <a:br>
                <a:rPr b="0" i="0" lang="en-US" sz="108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08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Generator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3629022" y="3609975"/>
              <a:ext cx="678489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1"/>
            <p:cNvSpPr/>
            <p:nvPr/>
          </p:nvSpPr>
          <p:spPr>
            <a:xfrm>
              <a:off x="3638550" y="3711019"/>
              <a:ext cx="659383" cy="3058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8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48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</a:t>
              </a:r>
              <a:br>
                <a:rPr b="0" i="0" lang="en-US" sz="1148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48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Evaluator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7" name="Google Shape;287;p11"/>
            <p:cNvCxnSpPr/>
            <p:nvPr/>
          </p:nvCxnSpPr>
          <p:spPr>
            <a:xfrm>
              <a:off x="2971800" y="3714750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8" name="Google Shape;288;p11"/>
            <p:cNvSpPr/>
            <p:nvPr/>
          </p:nvSpPr>
          <p:spPr>
            <a:xfrm rot="5400000">
              <a:off x="3227780" y="361950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9" name="Google Shape;289;p11"/>
            <p:cNvCxnSpPr/>
            <p:nvPr/>
          </p:nvCxnSpPr>
          <p:spPr>
            <a:xfrm>
              <a:off x="2971800" y="4086225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D2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0" name="Google Shape;290;p11"/>
            <p:cNvSpPr/>
            <p:nvPr/>
          </p:nvSpPr>
          <p:spPr>
            <a:xfrm rot="-5400000">
              <a:off x="2876550" y="39909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D2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1" name="Google Shape;291;p11"/>
            <p:cNvCxnSpPr/>
            <p:nvPr/>
          </p:nvCxnSpPr>
          <p:spPr>
            <a:xfrm>
              <a:off x="1714500" y="3895725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2" name="Google Shape;292;p11"/>
            <p:cNvSpPr/>
            <p:nvPr/>
          </p:nvSpPr>
          <p:spPr>
            <a:xfrm rot="5400000">
              <a:off x="1882826" y="38004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3" name="Google Shape;293;p11"/>
            <p:cNvCxnSpPr/>
            <p:nvPr/>
          </p:nvCxnSpPr>
          <p:spPr>
            <a:xfrm>
              <a:off x="4533900" y="3895725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03A4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4" name="Google Shape;294;p11"/>
            <p:cNvSpPr/>
            <p:nvPr/>
          </p:nvSpPr>
          <p:spPr>
            <a:xfrm rot="5400000">
              <a:off x="4702226" y="38004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03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2905125" y="3414192"/>
              <a:ext cx="581769" cy="162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Solution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4400550" y="4052367"/>
              <a:ext cx="581769" cy="162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Accepted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2905125" y="4223817"/>
              <a:ext cx="581769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Rejected</a:t>
              </a:r>
              <a:b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with</a:t>
              </a:r>
              <a:b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feedback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"/>
          <p:cNvSpPr/>
          <p:nvPr/>
        </p:nvSpPr>
        <p:spPr>
          <a:xfrm>
            <a:off x="1905000" y="68141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By contrast, Agents: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914400" y="1656234"/>
            <a:ext cx="4459486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1. Open-ended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914400" y="2237259"/>
            <a:ext cx="3809554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2. Feedback loops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914400" y="2827809"/>
            <a:ext cx="4123655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3. No fixed path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2bf2115e.png" id="307" name="Google Shape;30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770" y="620911"/>
            <a:ext cx="647700" cy="638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12"/>
          <p:cNvGrpSpPr/>
          <p:nvPr/>
        </p:nvGrpSpPr>
        <p:grpSpPr>
          <a:xfrm>
            <a:off x="914397" y="3976167"/>
            <a:ext cx="4836686" cy="1709345"/>
            <a:chOff x="914397" y="3976167"/>
            <a:chExt cx="4836686" cy="1709345"/>
          </a:xfrm>
        </p:grpSpPr>
        <p:sp>
          <p:nvSpPr>
            <p:cNvPr id="309" name="Google Shape;309;p12"/>
            <p:cNvSpPr/>
            <p:nvPr/>
          </p:nvSpPr>
          <p:spPr>
            <a:xfrm>
              <a:off x="914397" y="4133850"/>
              <a:ext cx="1275822" cy="649178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2"/>
            <p:cNvSpPr/>
            <p:nvPr/>
          </p:nvSpPr>
          <p:spPr>
            <a:xfrm>
              <a:off x="1057275" y="4350092"/>
              <a:ext cx="990005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HUMAN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2"/>
            <p:cNvSpPr/>
            <p:nvPr/>
          </p:nvSpPr>
          <p:spPr>
            <a:xfrm>
              <a:off x="4124331" y="4133850"/>
              <a:ext cx="1626752" cy="649178"/>
            </a:xfrm>
            <a:prstGeom prst="ellipse">
              <a:avLst/>
            </a:prstGeom>
            <a:solidFill>
              <a:srgbClr val="FF7800"/>
            </a:solidFill>
            <a:ln cap="flat" cmpd="sng" w="127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2"/>
            <p:cNvSpPr/>
            <p:nvPr/>
          </p:nvSpPr>
          <p:spPr>
            <a:xfrm>
              <a:off x="4263961" y="4350092"/>
              <a:ext cx="1347420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ENVIRONMENT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2"/>
            <p:cNvSpPr/>
            <p:nvPr/>
          </p:nvSpPr>
          <p:spPr>
            <a:xfrm>
              <a:off x="2638419" y="4171950"/>
              <a:ext cx="678504" cy="522961"/>
            </a:xfrm>
            <a:prstGeom prst="rect">
              <a:avLst/>
            </a:prstGeom>
            <a:solidFill>
              <a:srgbClr val="FFD700">
                <a:alpha val="34902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2"/>
            <p:cNvSpPr/>
            <p:nvPr/>
          </p:nvSpPr>
          <p:spPr>
            <a:xfrm>
              <a:off x="2647950" y="4248288"/>
              <a:ext cx="659383" cy="359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LLM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Call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2"/>
            <p:cNvSpPr/>
            <p:nvPr/>
          </p:nvSpPr>
          <p:spPr>
            <a:xfrm>
              <a:off x="2638419" y="5162550"/>
              <a:ext cx="678504" cy="522962"/>
            </a:xfrm>
            <a:prstGeom prst="rect">
              <a:avLst/>
            </a:prstGeom>
            <a:solidFill>
              <a:srgbClr val="00BFFF">
                <a:alpha val="34902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2"/>
            <p:cNvSpPr/>
            <p:nvPr/>
          </p:nvSpPr>
          <p:spPr>
            <a:xfrm>
              <a:off x="2647950" y="5329376"/>
              <a:ext cx="659383" cy="179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STOP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7" name="Google Shape;317;p12"/>
            <p:cNvCxnSpPr/>
            <p:nvPr/>
          </p:nvCxnSpPr>
          <p:spPr>
            <a:xfrm>
              <a:off x="3514725" y="4276725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8" name="Google Shape;318;p12"/>
            <p:cNvSpPr/>
            <p:nvPr/>
          </p:nvSpPr>
          <p:spPr>
            <a:xfrm rot="5400000">
              <a:off x="3770705" y="418147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9" name="Google Shape;319;p12"/>
            <p:cNvCxnSpPr/>
            <p:nvPr/>
          </p:nvCxnSpPr>
          <p:spPr>
            <a:xfrm>
              <a:off x="2257425" y="4457700"/>
              <a:ext cx="263576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0" name="Google Shape;320;p12"/>
            <p:cNvSpPr/>
            <p:nvPr/>
          </p:nvSpPr>
          <p:spPr>
            <a:xfrm rot="5400000">
              <a:off x="2425751" y="436245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2"/>
            <p:cNvSpPr/>
            <p:nvPr/>
          </p:nvSpPr>
          <p:spPr>
            <a:xfrm>
              <a:off x="3448050" y="3976167"/>
              <a:ext cx="581769" cy="162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Action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2"/>
            <p:cNvSpPr/>
            <p:nvPr/>
          </p:nvSpPr>
          <p:spPr>
            <a:xfrm>
              <a:off x="3448050" y="4738167"/>
              <a:ext cx="588609" cy="162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Feedback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3" name="Google Shape;323;p12"/>
            <p:cNvCxnSpPr/>
            <p:nvPr/>
          </p:nvCxnSpPr>
          <p:spPr>
            <a:xfrm>
              <a:off x="3514725" y="4562475"/>
              <a:ext cx="351230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4" name="Google Shape;324;p12"/>
            <p:cNvSpPr/>
            <p:nvPr/>
          </p:nvSpPr>
          <p:spPr>
            <a:xfrm rot="-5400000">
              <a:off x="3419475" y="446722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5" name="Google Shape;325;p12"/>
            <p:cNvCxnSpPr/>
            <p:nvPr/>
          </p:nvCxnSpPr>
          <p:spPr>
            <a:xfrm rot="5400000">
              <a:off x="2835656" y="4934429"/>
              <a:ext cx="246693" cy="0"/>
            </a:xfrm>
            <a:prstGeom prst="straightConnector1">
              <a:avLst/>
            </a:prstGeom>
            <a:noFill/>
            <a:ln cap="flat" cmpd="sng" w="25400">
              <a:solidFill>
                <a:srgbClr val="C3C3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6" name="Google Shape;326;p12"/>
            <p:cNvSpPr/>
            <p:nvPr/>
          </p:nvSpPr>
          <p:spPr>
            <a:xfrm rot="10800000">
              <a:off x="2863752" y="496252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C3C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"/>
          <p:cNvSpPr/>
          <p:nvPr/>
        </p:nvSpPr>
        <p:spPr>
          <a:xfrm>
            <a:off x="762000" y="690935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Risks of Agent Frameworks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3" name="Google Shape;333;p13"/>
          <p:cNvGrpSpPr/>
          <p:nvPr/>
        </p:nvGrpSpPr>
        <p:grpSpPr>
          <a:xfrm>
            <a:off x="847424" y="1769266"/>
            <a:ext cx="5355137" cy="552450"/>
            <a:chOff x="847424" y="1769266"/>
            <a:chExt cx="5355137" cy="552450"/>
          </a:xfrm>
        </p:grpSpPr>
        <p:sp>
          <p:nvSpPr>
            <p:cNvPr id="334" name="Google Shape;334;p13"/>
            <p:cNvSpPr/>
            <p:nvPr/>
          </p:nvSpPr>
          <p:spPr>
            <a:xfrm>
              <a:off x="1743075" y="1894359"/>
              <a:ext cx="4459486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Unpredictable path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677139e.png" id="335" name="Google Shape;3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47424" y="1769266"/>
              <a:ext cx="561975" cy="552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6" name="Google Shape;336;p13"/>
          <p:cNvGrpSpPr/>
          <p:nvPr/>
        </p:nvGrpSpPr>
        <p:grpSpPr>
          <a:xfrm>
            <a:off x="832541" y="2531267"/>
            <a:ext cx="4720088" cy="609600"/>
            <a:chOff x="832541" y="2531267"/>
            <a:chExt cx="4720088" cy="609600"/>
          </a:xfrm>
        </p:grpSpPr>
        <p:sp>
          <p:nvSpPr>
            <p:cNvPr id="337" name="Google Shape;337;p13"/>
            <p:cNvSpPr/>
            <p:nvPr/>
          </p:nvSpPr>
          <p:spPr>
            <a:xfrm>
              <a:off x="1743075" y="2658740"/>
              <a:ext cx="3809554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Unpredictable output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340d0be2.png" id="338" name="Google Shape;338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2541" y="2531267"/>
              <a:ext cx="647700" cy="60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9" name="Google Shape;339;p13"/>
          <p:cNvGrpSpPr/>
          <p:nvPr/>
        </p:nvGrpSpPr>
        <p:grpSpPr>
          <a:xfrm>
            <a:off x="892073" y="3349524"/>
            <a:ext cx="4974657" cy="533400"/>
            <a:chOff x="892073" y="3349524"/>
            <a:chExt cx="4974657" cy="533400"/>
          </a:xfrm>
        </p:grpSpPr>
        <p:sp>
          <p:nvSpPr>
            <p:cNvPr id="340" name="Google Shape;340;p13"/>
            <p:cNvSpPr/>
            <p:nvPr/>
          </p:nvSpPr>
          <p:spPr>
            <a:xfrm>
              <a:off x="1743075" y="3423121"/>
              <a:ext cx="4123655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Unpredictable costs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14405f62.png" id="341" name="Google Shape;341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92073" y="3349524"/>
              <a:ext cx="533400" cy="533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2" name="Google Shape;342;p13"/>
          <p:cNvGrpSpPr/>
          <p:nvPr/>
        </p:nvGrpSpPr>
        <p:grpSpPr>
          <a:xfrm>
            <a:off x="959045" y="4951884"/>
            <a:ext cx="4986149" cy="975122"/>
            <a:chOff x="959045" y="4951884"/>
            <a:chExt cx="4986149" cy="975122"/>
          </a:xfrm>
        </p:grpSpPr>
        <p:sp>
          <p:nvSpPr>
            <p:cNvPr id="343" name="Google Shape;343;p13"/>
            <p:cNvSpPr/>
            <p:nvPr/>
          </p:nvSpPr>
          <p:spPr>
            <a:xfrm>
              <a:off x="1743075" y="4951884"/>
              <a:ext cx="4202119" cy="9751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"Guardrails ensure your agents</a:t>
              </a:r>
              <a:br>
                <a:rPr b="0" i="1" lang="en-US" sz="180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1" lang="en-US" sz="180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behave safely, consistently, and</a:t>
              </a:r>
              <a:br>
                <a:rPr b="0" i="1" lang="en-US" sz="180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1" lang="en-US" sz="180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within your intended boundaries"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04b14de.png" id="344" name="Google Shape;344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59045" y="5150645"/>
              <a:ext cx="400050" cy="60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5" name="Google Shape;345;p13"/>
          <p:cNvGrpSpPr/>
          <p:nvPr/>
        </p:nvGrpSpPr>
        <p:grpSpPr>
          <a:xfrm>
            <a:off x="839983" y="4256484"/>
            <a:ext cx="5026747" cy="523875"/>
            <a:chOff x="839983" y="4256484"/>
            <a:chExt cx="5026747" cy="523875"/>
          </a:xfrm>
        </p:grpSpPr>
        <p:sp>
          <p:nvSpPr>
            <p:cNvPr id="346" name="Google Shape;346;p13"/>
            <p:cNvSpPr/>
            <p:nvPr/>
          </p:nvSpPr>
          <p:spPr>
            <a:xfrm>
              <a:off x="1743075" y="4349428"/>
              <a:ext cx="4123655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Monitor (Observability, Evals)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1f827762.png" id="347" name="Google Shape;347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9983" y="4256484"/>
              <a:ext cx="628650" cy="523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"/>
          <p:cNvSpPr/>
          <p:nvPr/>
        </p:nvSpPr>
        <p:spPr>
          <a:xfrm>
            <a:off x="762000" y="690935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First Agent Trap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4" name="Google Shape;354;p14"/>
          <p:cNvGrpSpPr/>
          <p:nvPr/>
        </p:nvGrpSpPr>
        <p:grpSpPr>
          <a:xfrm>
            <a:off x="193498" y="2007550"/>
            <a:ext cx="8950502" cy="497145"/>
            <a:chOff x="193498" y="2007550"/>
            <a:chExt cx="8950502" cy="497145"/>
          </a:xfrm>
        </p:grpSpPr>
        <p:sp>
          <p:nvSpPr>
            <p:cNvPr id="355" name="Google Shape;355;p14"/>
            <p:cNvSpPr txBox="1"/>
            <p:nvPr/>
          </p:nvSpPr>
          <p:spPr>
            <a:xfrm>
              <a:off x="696000" y="2007550"/>
              <a:ext cx="8448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“I need an Agent for my business”</a:t>
              </a:r>
              <a:endParaRPr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grpSp>
          <p:nvGrpSpPr>
            <p:cNvPr id="356" name="Google Shape;356;p14"/>
            <p:cNvGrpSpPr/>
            <p:nvPr/>
          </p:nvGrpSpPr>
          <p:grpSpPr>
            <a:xfrm>
              <a:off x="193498" y="2042995"/>
              <a:ext cx="461700" cy="461700"/>
              <a:chOff x="193498" y="1204795"/>
              <a:chExt cx="461700" cy="461700"/>
            </a:xfrm>
          </p:grpSpPr>
          <p:sp>
            <p:nvSpPr>
              <p:cNvPr id="357" name="Google Shape;357;p14"/>
              <p:cNvSpPr/>
              <p:nvPr/>
            </p:nvSpPr>
            <p:spPr>
              <a:xfrm>
                <a:off x="193498" y="1204795"/>
                <a:ext cx="461700" cy="461700"/>
              </a:xfrm>
              <a:prstGeom prst="ellipse">
                <a:avLst/>
              </a:prstGeom>
              <a:solidFill>
                <a:srgbClr val="00BFFF"/>
              </a:solidFill>
              <a:ln>
                <a:noFill/>
              </a:ln>
            </p:spPr>
            <p:txBody>
              <a:bodyPr anchorCtr="0" anchor="ctr" bIns="29100" lIns="2900" spcFirstLastPara="1" rIns="2900" wrap="square" tIns="29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93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pic>
            <p:nvPicPr>
              <p:cNvPr id="358" name="Google Shape;358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85277" y="1268610"/>
                <a:ext cx="314575" cy="3145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59" name="Google Shape;359;p14"/>
          <p:cNvGrpSpPr/>
          <p:nvPr/>
        </p:nvGrpSpPr>
        <p:grpSpPr>
          <a:xfrm>
            <a:off x="-2682649" y="3035270"/>
            <a:ext cx="9127818" cy="499800"/>
            <a:chOff x="-2682649" y="3035270"/>
            <a:chExt cx="9127818" cy="499800"/>
          </a:xfrm>
        </p:grpSpPr>
        <p:sp>
          <p:nvSpPr>
            <p:cNvPr id="360" name="Google Shape;360;p14"/>
            <p:cNvSpPr txBox="1"/>
            <p:nvPr/>
          </p:nvSpPr>
          <p:spPr>
            <a:xfrm>
              <a:off x="-2682649" y="3054325"/>
              <a:ext cx="8581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“OK - and what business problem is that solving”</a:t>
              </a:r>
              <a:endParaRPr sz="16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grpSp>
          <p:nvGrpSpPr>
            <p:cNvPr id="361" name="Google Shape;361;p14"/>
            <p:cNvGrpSpPr/>
            <p:nvPr/>
          </p:nvGrpSpPr>
          <p:grpSpPr>
            <a:xfrm>
              <a:off x="5945070" y="3035270"/>
              <a:ext cx="500100" cy="499800"/>
              <a:chOff x="8535870" y="2197070"/>
              <a:chExt cx="500100" cy="499800"/>
            </a:xfrm>
          </p:grpSpPr>
          <p:sp>
            <p:nvSpPr>
              <p:cNvPr id="362" name="Google Shape;362;p14"/>
              <p:cNvSpPr/>
              <p:nvPr/>
            </p:nvSpPr>
            <p:spPr>
              <a:xfrm>
                <a:off x="8535870" y="2197070"/>
                <a:ext cx="500100" cy="499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29100" lIns="2900" spcFirstLastPara="1" rIns="2900" wrap="square" tIns="29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93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pic>
            <p:nvPicPr>
              <p:cNvPr id="363" name="Google Shape;363;p14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618313" y="2289675"/>
                <a:ext cx="314575" cy="3145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4" name="Google Shape;364;p14"/>
          <p:cNvGrpSpPr/>
          <p:nvPr/>
        </p:nvGrpSpPr>
        <p:grpSpPr>
          <a:xfrm>
            <a:off x="193498" y="4054500"/>
            <a:ext cx="8950502" cy="461708"/>
            <a:chOff x="193498" y="4054500"/>
            <a:chExt cx="8950502" cy="461708"/>
          </a:xfrm>
        </p:grpSpPr>
        <p:sp>
          <p:nvSpPr>
            <p:cNvPr id="365" name="Google Shape;365;p14"/>
            <p:cNvSpPr txBox="1"/>
            <p:nvPr/>
          </p:nvSpPr>
          <p:spPr>
            <a:xfrm>
              <a:off x="696000" y="4054500"/>
              <a:ext cx="8448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“I want an Strategy Agent to give me advice for my org”</a:t>
              </a:r>
              <a:endParaRPr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grpSp>
          <p:nvGrpSpPr>
            <p:cNvPr id="366" name="Google Shape;366;p14"/>
            <p:cNvGrpSpPr/>
            <p:nvPr/>
          </p:nvGrpSpPr>
          <p:grpSpPr>
            <a:xfrm>
              <a:off x="193498" y="4054508"/>
              <a:ext cx="461700" cy="461700"/>
              <a:chOff x="193498" y="1204795"/>
              <a:chExt cx="461700" cy="461700"/>
            </a:xfrm>
          </p:grpSpPr>
          <p:sp>
            <p:nvSpPr>
              <p:cNvPr id="367" name="Google Shape;367;p14"/>
              <p:cNvSpPr/>
              <p:nvPr/>
            </p:nvSpPr>
            <p:spPr>
              <a:xfrm>
                <a:off x="193498" y="1204795"/>
                <a:ext cx="461700" cy="461700"/>
              </a:xfrm>
              <a:prstGeom prst="ellipse">
                <a:avLst/>
              </a:prstGeom>
              <a:solidFill>
                <a:srgbClr val="00BFFF"/>
              </a:solidFill>
              <a:ln>
                <a:noFill/>
              </a:ln>
            </p:spPr>
            <p:txBody>
              <a:bodyPr anchorCtr="0" anchor="ctr" bIns="29100" lIns="2900" spcFirstLastPara="1" rIns="2900" wrap="square" tIns="29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93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pic>
            <p:nvPicPr>
              <p:cNvPr id="368" name="Google Shape;368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85277" y="1268610"/>
                <a:ext cx="314575" cy="3145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9" name="Google Shape;369;p14"/>
          <p:cNvGrpSpPr/>
          <p:nvPr/>
        </p:nvGrpSpPr>
        <p:grpSpPr>
          <a:xfrm>
            <a:off x="-2682649" y="5035620"/>
            <a:ext cx="9127818" cy="499800"/>
            <a:chOff x="-2682649" y="5035620"/>
            <a:chExt cx="9127818" cy="499800"/>
          </a:xfrm>
        </p:grpSpPr>
        <p:sp>
          <p:nvSpPr>
            <p:cNvPr id="370" name="Google Shape;370;p14"/>
            <p:cNvSpPr txBox="1"/>
            <p:nvPr/>
          </p:nvSpPr>
          <p:spPr>
            <a:xfrm>
              <a:off x="-2682649" y="5054700"/>
              <a:ext cx="8581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2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“OK, right, and.. what.. </a:t>
              </a:r>
              <a:r>
                <a:rPr i="1" lang="en-US" sz="1600">
                  <a:solidFill>
                    <a:schemeClr val="accent2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business problem</a:t>
              </a:r>
              <a:r>
                <a:rPr lang="en-US" sz="1600">
                  <a:solidFill>
                    <a:schemeClr val="accent2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is that solving”</a:t>
              </a:r>
              <a:endParaRPr sz="1600">
                <a:solidFill>
                  <a:schemeClr val="accent2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grpSp>
          <p:nvGrpSpPr>
            <p:cNvPr id="371" name="Google Shape;371;p14"/>
            <p:cNvGrpSpPr/>
            <p:nvPr/>
          </p:nvGrpSpPr>
          <p:grpSpPr>
            <a:xfrm>
              <a:off x="5945070" y="5035620"/>
              <a:ext cx="500100" cy="499800"/>
              <a:chOff x="8535870" y="2197070"/>
              <a:chExt cx="500100" cy="499800"/>
            </a:xfrm>
          </p:grpSpPr>
          <p:sp>
            <p:nvSpPr>
              <p:cNvPr id="372" name="Google Shape;372;p14"/>
              <p:cNvSpPr/>
              <p:nvPr/>
            </p:nvSpPr>
            <p:spPr>
              <a:xfrm>
                <a:off x="8535870" y="2197070"/>
                <a:ext cx="500100" cy="499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29100" lIns="2900" spcFirstLastPara="1" rIns="2900" wrap="square" tIns="29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93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pic>
            <p:nvPicPr>
              <p:cNvPr id="373" name="Google Shape;373;p14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618313" y="2289675"/>
                <a:ext cx="314575" cy="3145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"/>
          <p:cNvSpPr/>
          <p:nvPr/>
        </p:nvSpPr>
        <p:spPr>
          <a:xfrm>
            <a:off x="762000" y="690935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Second Agent Trap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>
            <a:off x="62262" y="1475750"/>
            <a:ext cx="652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2F2F2"/>
                </a:solidFill>
                <a:latin typeface="Roboto Slab"/>
                <a:ea typeface="Roboto Slab"/>
                <a:cs typeface="Roboto Slab"/>
                <a:sym typeface="Roboto Slab"/>
              </a:rPr>
              <a:t>Anthropomorphizing</a:t>
            </a:r>
            <a:endParaRPr sz="1900">
              <a:solidFill>
                <a:srgbClr val="75399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381" name="Google Shape;381;p15"/>
          <p:cNvGrpSpPr/>
          <p:nvPr/>
        </p:nvGrpSpPr>
        <p:grpSpPr>
          <a:xfrm>
            <a:off x="564988" y="3487300"/>
            <a:ext cx="5518650" cy="1372725"/>
            <a:chOff x="519127" y="3487300"/>
            <a:chExt cx="5518650" cy="1372725"/>
          </a:xfrm>
        </p:grpSpPr>
        <p:sp>
          <p:nvSpPr>
            <p:cNvPr id="382" name="Google Shape;382;p15"/>
            <p:cNvSpPr/>
            <p:nvPr/>
          </p:nvSpPr>
          <p:spPr>
            <a:xfrm>
              <a:off x="2425400" y="3487300"/>
              <a:ext cx="1706100" cy="6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Trading Manager</a:t>
              </a:r>
              <a:endParaRPr sz="13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</a:t>
              </a:r>
              <a:endParaRPr sz="13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519127" y="4255225"/>
              <a:ext cx="1706100" cy="6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Market Research</a:t>
              </a:r>
              <a:endParaRPr sz="13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</a:t>
              </a:r>
              <a:endParaRPr sz="13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2425402" y="4255225"/>
              <a:ext cx="1706100" cy="6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Trader</a:t>
              </a:r>
              <a:endParaRPr sz="13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</a:t>
              </a:r>
              <a:endParaRPr sz="13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4331677" y="4255225"/>
              <a:ext cx="1706100" cy="6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Risk Manager</a:t>
              </a:r>
              <a:endParaRPr sz="13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</a:t>
              </a:r>
              <a:endParaRPr sz="13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sp>
        <p:nvSpPr>
          <p:cNvPr id="386" name="Google Shape;386;p15"/>
          <p:cNvSpPr txBox="1"/>
          <p:nvPr/>
        </p:nvSpPr>
        <p:spPr>
          <a:xfrm>
            <a:off x="205962" y="2420775"/>
            <a:ext cx="6236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  <a:t>A common red flag: “Agent Architectures” that</a:t>
            </a:r>
            <a:br>
              <a:rPr lang="en-US" sz="19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lang="en-US" sz="19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  <a:t>assign human-like responsibilities to Agents</a:t>
            </a:r>
            <a:endParaRPr sz="19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87" name="Google Shape;387;p15"/>
          <p:cNvSpPr txBox="1"/>
          <p:nvPr/>
        </p:nvSpPr>
        <p:spPr>
          <a:xfrm>
            <a:off x="612" y="5163700"/>
            <a:ext cx="6647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ECAD0A"/>
                </a:solidFill>
                <a:latin typeface="Roboto Slab"/>
                <a:ea typeface="Roboto Slab"/>
                <a:cs typeface="Roboto Slab"/>
                <a:sym typeface="Roboto Slab"/>
              </a:rPr>
              <a:t>The right approach:</a:t>
            </a:r>
            <a:endParaRPr sz="2000">
              <a:solidFill>
                <a:srgbClr val="ECAD0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CAD0A"/>
                </a:solidFill>
                <a:latin typeface="Roboto Slab"/>
                <a:ea typeface="Roboto Slab"/>
                <a:cs typeface="Roboto Slab"/>
                <a:sym typeface="Roboto Slab"/>
              </a:rPr>
              <a:t>Start simple</a:t>
            </a:r>
            <a:endParaRPr sz="2000">
              <a:solidFill>
                <a:srgbClr val="ECAD0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CAD0A"/>
                </a:solidFill>
                <a:latin typeface="Roboto Slab"/>
                <a:ea typeface="Roboto Slab"/>
                <a:cs typeface="Roboto Slab"/>
                <a:sym typeface="Roboto Slab"/>
              </a:rPr>
              <a:t>Measure performance against a business objective</a:t>
            </a:r>
            <a:endParaRPr sz="2000">
              <a:solidFill>
                <a:srgbClr val="ECAD0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CAD0A"/>
                </a:solidFill>
                <a:latin typeface="Roboto Slab"/>
                <a:ea typeface="Roboto Slab"/>
                <a:cs typeface="Roboto Slab"/>
                <a:sym typeface="Roboto Slab"/>
              </a:rPr>
              <a:t>Add Agents because it improves performance</a:t>
            </a:r>
            <a:endParaRPr sz="2000">
              <a:solidFill>
                <a:srgbClr val="ECAD0A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6"/>
          <p:cNvSpPr/>
          <p:nvPr/>
        </p:nvSpPr>
        <p:spPr>
          <a:xfrm>
            <a:off x="762000" y="690935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Takeaways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 txBox="1"/>
          <p:nvPr/>
        </p:nvSpPr>
        <p:spPr>
          <a:xfrm>
            <a:off x="0" y="1615950"/>
            <a:ext cx="6418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  <a:t>Build Agent systems to solve problems</a:t>
            </a:r>
            <a:br>
              <a:rPr lang="en-US" sz="24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lang="en-US" sz="24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  <a:t>in a measurable way</a:t>
            </a:r>
            <a:endParaRPr sz="24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Decide your Agent Architecture</a:t>
            </a:r>
            <a:br>
              <a:rPr lang="en-US" sz="24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lang="en-US" sz="24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based on performance</a:t>
            </a:r>
            <a:endParaRPr sz="2400">
              <a:solidFill>
                <a:schemeClr val="accent4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4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LLMs generate plausible outputs, not necessarily accurate outputs.</a:t>
            </a:r>
            <a:endParaRPr sz="2400"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Aligning the outputs with business results? That’s your job.</a:t>
            </a:r>
            <a:endParaRPr sz="2400"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7"/>
          <p:cNvSpPr/>
          <p:nvPr/>
        </p:nvSpPr>
        <p:spPr>
          <a:xfrm>
            <a:off x="762000" y="690935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Confusing Terminology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 txBox="1"/>
          <p:nvPr/>
        </p:nvSpPr>
        <p:spPr>
          <a:xfrm>
            <a:off x="62262" y="1475750"/>
            <a:ext cx="652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2F2F2"/>
                </a:solidFill>
                <a:latin typeface="Roboto Slab"/>
                <a:ea typeface="Roboto Slab"/>
                <a:cs typeface="Roboto Slab"/>
                <a:sym typeface="Roboto Slab"/>
              </a:rPr>
              <a:t>What is an Agentic Engineer?</a:t>
            </a:r>
            <a:endParaRPr sz="1900">
              <a:solidFill>
                <a:srgbClr val="75399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02" name="Google Shape;402;p17"/>
          <p:cNvSpPr txBox="1"/>
          <p:nvPr/>
        </p:nvSpPr>
        <p:spPr>
          <a:xfrm>
            <a:off x="0" y="2439925"/>
            <a:ext cx="64188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  <a:t>Someone who uses Agents to Engineer</a:t>
            </a:r>
            <a:endParaRPr sz="19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  <a:t>or</a:t>
            </a:r>
            <a:endParaRPr sz="19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5C5EA"/>
                </a:solidFill>
                <a:latin typeface="Roboto Slab"/>
                <a:ea typeface="Roboto Slab"/>
                <a:cs typeface="Roboto Slab"/>
                <a:sym typeface="Roboto Slab"/>
              </a:rPr>
              <a:t>someone who engineers Agents?</a:t>
            </a:r>
            <a:endParaRPr sz="19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75C5E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I recommend being </a:t>
            </a:r>
            <a:r>
              <a:rPr lang="en-US" sz="19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explicit</a:t>
            </a:r>
            <a:r>
              <a:rPr lang="en-US" sz="19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:</a:t>
            </a:r>
            <a:endParaRPr sz="1900">
              <a:solidFill>
                <a:schemeClr val="accent4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4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If you’ve taken my AI Coder course, you are:</a:t>
            </a:r>
            <a:br>
              <a:rPr lang="en-US" sz="19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lang="en-US" sz="19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An engineer skilled at using Coding Agents</a:t>
            </a:r>
            <a:endParaRPr sz="1900">
              <a:solidFill>
                <a:schemeClr val="accent4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4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After this course, you will be:</a:t>
            </a:r>
            <a:br>
              <a:rPr lang="en-US" sz="19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lang="en-US" sz="19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An AI engineer skilled at building Agents</a:t>
            </a:r>
            <a:endParaRPr sz="1900"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8"/>
          <p:cNvSpPr/>
          <p:nvPr/>
        </p:nvSpPr>
        <p:spPr>
          <a:xfrm>
            <a:off x="257169" y="5695950"/>
            <a:ext cx="5936936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8"/>
          <p:cNvSpPr/>
          <p:nvPr/>
        </p:nvSpPr>
        <p:spPr>
          <a:xfrm>
            <a:off x="257169" y="2466975"/>
            <a:ext cx="5936936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257169" y="4619625"/>
            <a:ext cx="5936936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8"/>
          <p:cNvSpPr/>
          <p:nvPr/>
        </p:nvSpPr>
        <p:spPr>
          <a:xfrm>
            <a:off x="257169" y="3543300"/>
            <a:ext cx="5936936" cy="10117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>
            <a:off x="257169" y="314325"/>
            <a:ext cx="5936936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447669" y="6010276"/>
            <a:ext cx="1002980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8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447669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447669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8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447669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8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447669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8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1562103" y="6010276"/>
            <a:ext cx="1002980" cy="610229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8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1562103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8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1562103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8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1562103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8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1562103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8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2676522" y="6010276"/>
            <a:ext cx="1002980" cy="610229"/>
          </a:xfrm>
          <a:prstGeom prst="rect">
            <a:avLst/>
          </a:prstGeom>
          <a:solidFill>
            <a:srgbClr val="FF7800">
              <a:alpha val="34902"/>
            </a:srgbClr>
          </a:solidFill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8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2676522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2676522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8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2676522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2676522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3819522" y="6010276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3819522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8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3819522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8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3819522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8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3819522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8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4953000" y="6010276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8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4953000" y="278130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4953000" y="4933950"/>
            <a:ext cx="1002980" cy="610229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8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4953000" y="3857625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8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4953000" y="628650"/>
            <a:ext cx="1002980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8" name="Google Shape;468;p18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469" name="Google Shape;469;p18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8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8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8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8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8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8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8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8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8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8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8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9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78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p19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</a:t>
            </a: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488" name="Google Shape;4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