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</p:sldIdLst>
  <p:sldSz cy="6858000" cx="12192000"/>
  <p:notesSz cx="6858000" cy="12192000"/>
  <p:embeddedFontLst>
    <p:embeddedFont>
      <p:font typeface="Roboto Slab"/>
      <p:regular r:id="rId20"/>
      <p:bold r:id="rId21"/>
    </p:embeddedFont>
    <p:embeddedFont>
      <p:font typeface="Montserrat SemiBold"/>
      <p:regular r:id="rId22"/>
      <p:bold r:id="rId23"/>
      <p:italic r:id="rId24"/>
      <p:boldItalic r:id="rId25"/>
    </p:embeddedFont>
    <p:embeddedFont>
      <p:font typeface="Montserrat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Slab-regular.fntdata"/><Relationship Id="rId22" Type="http://schemas.openxmlformats.org/officeDocument/2006/relationships/font" Target="fonts/MontserratSemiBold-regular.fntdata"/><Relationship Id="rId21" Type="http://schemas.openxmlformats.org/officeDocument/2006/relationships/font" Target="fonts/RobotoSlab-bold.fntdata"/><Relationship Id="rId24" Type="http://schemas.openxmlformats.org/officeDocument/2006/relationships/font" Target="fonts/MontserratSemiBold-italic.fntdata"/><Relationship Id="rId23" Type="http://schemas.openxmlformats.org/officeDocument/2006/relationships/font" Target="fonts/MontserratSemiBold-bold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Montserrat-regular.fntdata"/><Relationship Id="rId25" Type="http://schemas.openxmlformats.org/officeDocument/2006/relationships/font" Target="fonts/MontserratSemiBold-boldItalic.fntdata"/><Relationship Id="rId28" Type="http://schemas.openxmlformats.org/officeDocument/2006/relationships/font" Target="fonts/Montserrat-italic.fntdata"/><Relationship Id="rId27" Type="http://schemas.openxmlformats.org/officeDocument/2006/relationships/font" Target="fonts/Montserrat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Montserrat-bold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g3dd7a855319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" name="Google Shape;14;g3dd7a855319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" name="Google Shape;15;g3dd7a855319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" name="Google Shape;2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" name="Google Shape;10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dd7a855319_0_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8" name="Google Shape;148;g3dd7a855319_0_4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g3dd7a855319_0_4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dd7a855319_2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9" name="Google Shape;159;g3dd7a855319_2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g3dd7a855319_2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7" name="Google Shape;18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6" name="Google Shape;19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dd7a855319_2_1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2" name="Google Shape;212;g3dd7a855319_2_12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g3dd7a855319_2_12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8" name="Google Shape;228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dd7a855319_2_1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5" name="Google Shape;235;g3dd7a855319_2_13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g3dd7a855319_2_13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dd7a855319_2_15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7" name="Google Shape;247;g3dd7a855319_2_15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g3dd7a855319_2_15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9" name="Google Shape;259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dd7a855319_2_16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5" name="Google Shape;265;g3dd7a855319_2_16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g3dd7a855319_2_16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5" name="Google Shape;275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3dd7a855319_0_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3" name="Google Shape;353;g3dd7a855319_0_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g3dd7a855319_0_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ий слайд 1">
  <p:cSld name="Титульний слайд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/>
        </p:nvSpPr>
        <p:spPr>
          <a:xfrm>
            <a:off x="4572000" y="0"/>
            <a:ext cx="2609700" cy="6858000"/>
          </a:xfrm>
          <a:prstGeom prst="rect">
            <a:avLst/>
          </a:prstGeom>
          <a:solidFill>
            <a:srgbClr val="FF7800">
              <a:alpha val="34900"/>
            </a:srgb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" name="Google Shape;18;p4"/>
          <p:cNvSpPr txBox="1"/>
          <p:nvPr/>
        </p:nvSpPr>
        <p:spPr>
          <a:xfrm>
            <a:off x="4725775" y="258325"/>
            <a:ext cx="2363100" cy="62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AI Engineer Agentic Track</a:t>
            </a:r>
            <a:endParaRPr b="1" sz="24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sz="21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1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The Complete</a:t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1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Agent &amp; MCP</a:t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1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Course</a:t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sz="21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i="1"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0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Week 1</a:t>
            </a:r>
            <a:endParaRPr sz="20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0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Day 4</a:t>
            </a:r>
            <a:endParaRPr sz="20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pic>
        <p:nvPicPr>
          <p:cNvPr id="19" name="Google Shape;19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4572001" cy="68580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/>
          <p:nvPr/>
        </p:nvSpPr>
        <p:spPr>
          <a:xfrm>
            <a:off x="257175" y="5695950"/>
            <a:ext cx="5936927" cy="1011762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5"/>
          <p:cNvSpPr/>
          <p:nvPr/>
        </p:nvSpPr>
        <p:spPr>
          <a:xfrm>
            <a:off x="257175" y="2466975"/>
            <a:ext cx="5936927" cy="101176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5"/>
          <p:cNvSpPr/>
          <p:nvPr/>
        </p:nvSpPr>
        <p:spPr>
          <a:xfrm>
            <a:off x="257175" y="4619625"/>
            <a:ext cx="5936927" cy="1011762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5"/>
          <p:cNvSpPr/>
          <p:nvPr/>
        </p:nvSpPr>
        <p:spPr>
          <a:xfrm>
            <a:off x="257175" y="3543300"/>
            <a:ext cx="5936927" cy="1011762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5"/>
          <p:cNvSpPr/>
          <p:nvPr/>
        </p:nvSpPr>
        <p:spPr>
          <a:xfrm>
            <a:off x="257175" y="314325"/>
            <a:ext cx="5936927" cy="101176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5"/>
          <p:cNvSpPr/>
          <p:nvPr/>
        </p:nvSpPr>
        <p:spPr>
          <a:xfrm>
            <a:off x="361950" y="5753695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1: Foundations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5"/>
          <p:cNvSpPr/>
          <p:nvPr/>
        </p:nvSpPr>
        <p:spPr>
          <a:xfrm>
            <a:off x="361950" y="2524720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4: LangGraph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5"/>
          <p:cNvSpPr/>
          <p:nvPr/>
        </p:nvSpPr>
        <p:spPr>
          <a:xfrm>
            <a:off x="361950" y="4677370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2: OpenAI Agents SDK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5"/>
          <p:cNvSpPr/>
          <p:nvPr/>
        </p:nvSpPr>
        <p:spPr>
          <a:xfrm>
            <a:off x="361950" y="3601045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3: CrewAI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5"/>
          <p:cNvSpPr/>
          <p:nvPr/>
        </p:nvSpPr>
        <p:spPr>
          <a:xfrm>
            <a:off x="361950" y="372070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6: MCP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5"/>
          <p:cNvSpPr/>
          <p:nvPr/>
        </p:nvSpPr>
        <p:spPr>
          <a:xfrm>
            <a:off x="447675" y="6010276"/>
            <a:ext cx="1002978" cy="610229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5"/>
          <p:cNvSpPr/>
          <p:nvPr/>
        </p:nvSpPr>
        <p:spPr>
          <a:xfrm>
            <a:off x="447675" y="608411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Make an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Agentic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Workflow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5"/>
          <p:cNvSpPr/>
          <p:nvPr/>
        </p:nvSpPr>
        <p:spPr>
          <a:xfrm>
            <a:off x="447675" y="2781300"/>
            <a:ext cx="1002978" cy="610230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5"/>
          <p:cNvSpPr/>
          <p:nvPr/>
        </p:nvSpPr>
        <p:spPr>
          <a:xfrm>
            <a:off x="447675" y="285513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Understand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LangGraph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concepts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5"/>
          <p:cNvSpPr/>
          <p:nvPr/>
        </p:nvSpPr>
        <p:spPr>
          <a:xfrm>
            <a:off x="447675" y="4933950"/>
            <a:ext cx="1002978" cy="610229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5"/>
          <p:cNvSpPr/>
          <p:nvPr/>
        </p:nvSpPr>
        <p:spPr>
          <a:xfrm>
            <a:off x="447675" y="500778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Understand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OpenAI Agents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SDK concepts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5"/>
          <p:cNvSpPr/>
          <p:nvPr/>
        </p:nvSpPr>
        <p:spPr>
          <a:xfrm>
            <a:off x="447675" y="3857625"/>
            <a:ext cx="1002978" cy="610230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5"/>
          <p:cNvSpPr/>
          <p:nvPr/>
        </p:nvSpPr>
        <p:spPr>
          <a:xfrm>
            <a:off x="447675" y="393146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Understand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Crew AI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Concepts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5"/>
          <p:cNvSpPr/>
          <p:nvPr/>
        </p:nvSpPr>
        <p:spPr>
          <a:xfrm>
            <a:off x="447675" y="628650"/>
            <a:ext cx="1002978" cy="610230"/>
          </a:xfrm>
          <a:prstGeom prst="rect">
            <a:avLst/>
          </a:prstGeom>
          <a:noFill/>
          <a:ln cap="flat" cmpd="sng" w="25400">
            <a:solidFill>
              <a:srgbClr val="FF78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5"/>
          <p:cNvSpPr/>
          <p:nvPr/>
        </p:nvSpPr>
        <p:spPr>
          <a:xfrm>
            <a:off x="447675" y="70248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Agentic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Architecture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and MCP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5"/>
          <p:cNvSpPr/>
          <p:nvPr/>
        </p:nvSpPr>
        <p:spPr>
          <a:xfrm>
            <a:off x="1562099" y="6010276"/>
            <a:ext cx="1002976" cy="610229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5"/>
          <p:cNvSpPr/>
          <p:nvPr/>
        </p:nvSpPr>
        <p:spPr>
          <a:xfrm>
            <a:off x="1562100" y="608411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Agents and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Agentic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Patterns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5"/>
          <p:cNvSpPr/>
          <p:nvPr/>
        </p:nvSpPr>
        <p:spPr>
          <a:xfrm>
            <a:off x="1562099" y="2781300"/>
            <a:ext cx="1002976" cy="610230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5"/>
          <p:cNvSpPr/>
          <p:nvPr/>
        </p:nvSpPr>
        <p:spPr>
          <a:xfrm>
            <a:off x="1562100" y="285513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Build a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LangGraph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 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5"/>
          <p:cNvSpPr/>
          <p:nvPr/>
        </p:nvSpPr>
        <p:spPr>
          <a:xfrm>
            <a:off x="1562099" y="4933950"/>
            <a:ext cx="1002976" cy="610229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5"/>
          <p:cNvSpPr/>
          <p:nvPr/>
        </p:nvSpPr>
        <p:spPr>
          <a:xfrm>
            <a:off x="1562100" y="50839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2: an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SDR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5"/>
          <p:cNvSpPr/>
          <p:nvPr/>
        </p:nvSpPr>
        <p:spPr>
          <a:xfrm>
            <a:off x="1562099" y="3857625"/>
            <a:ext cx="1002976" cy="610230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5"/>
          <p:cNvSpPr/>
          <p:nvPr/>
        </p:nvSpPr>
        <p:spPr>
          <a:xfrm>
            <a:off x="1562100" y="4007661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Build a Crew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5"/>
          <p:cNvSpPr/>
          <p:nvPr/>
        </p:nvSpPr>
        <p:spPr>
          <a:xfrm>
            <a:off x="1562099" y="628650"/>
            <a:ext cx="1002976" cy="610230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5"/>
          <p:cNvSpPr/>
          <p:nvPr/>
        </p:nvSpPr>
        <p:spPr>
          <a:xfrm>
            <a:off x="1562100" y="70248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Building an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MCP Server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and Client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5"/>
          <p:cNvSpPr/>
          <p:nvPr/>
        </p:nvSpPr>
        <p:spPr>
          <a:xfrm>
            <a:off x="2676526" y="6010276"/>
            <a:ext cx="1002976" cy="610229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5"/>
          <p:cNvSpPr/>
          <p:nvPr/>
        </p:nvSpPr>
        <p:spPr>
          <a:xfrm>
            <a:off x="2676525" y="6160311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Orchestrating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LLMs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5"/>
          <p:cNvSpPr/>
          <p:nvPr/>
        </p:nvSpPr>
        <p:spPr>
          <a:xfrm>
            <a:off x="2676526" y="2781300"/>
            <a:ext cx="1002976" cy="610230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5"/>
          <p:cNvSpPr/>
          <p:nvPr/>
        </p:nvSpPr>
        <p:spPr>
          <a:xfrm>
            <a:off x="2676525" y="293133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Tools, memory,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web searches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5"/>
          <p:cNvSpPr/>
          <p:nvPr/>
        </p:nvSpPr>
        <p:spPr>
          <a:xfrm>
            <a:off x="2676526" y="4933950"/>
            <a:ext cx="1002976" cy="610229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5"/>
          <p:cNvSpPr/>
          <p:nvPr/>
        </p:nvSpPr>
        <p:spPr>
          <a:xfrm>
            <a:off x="2676525" y="50839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Tools vs Agents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Guardrails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5"/>
          <p:cNvSpPr/>
          <p:nvPr/>
        </p:nvSpPr>
        <p:spPr>
          <a:xfrm>
            <a:off x="2676526" y="3857625"/>
            <a:ext cx="1002976" cy="610230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5"/>
          <p:cNvSpPr/>
          <p:nvPr/>
        </p:nvSpPr>
        <p:spPr>
          <a:xfrm>
            <a:off x="2676525" y="4007661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4: Stock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Picker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5"/>
          <p:cNvSpPr/>
          <p:nvPr/>
        </p:nvSpPr>
        <p:spPr>
          <a:xfrm>
            <a:off x="2676526" y="628650"/>
            <a:ext cx="1002976" cy="610230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5"/>
          <p:cNvSpPr/>
          <p:nvPr/>
        </p:nvSpPr>
        <p:spPr>
          <a:xfrm>
            <a:off x="2676525" y="70248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Multiple Local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and Remote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MCP servers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5"/>
          <p:cNvSpPr/>
          <p:nvPr/>
        </p:nvSpPr>
        <p:spPr>
          <a:xfrm>
            <a:off x="3819526" y="6010276"/>
            <a:ext cx="1002976" cy="610229"/>
          </a:xfrm>
          <a:prstGeom prst="rect">
            <a:avLst/>
          </a:prstGeom>
          <a:solidFill>
            <a:srgbClr val="FF7800">
              <a:alpha val="34902"/>
            </a:srgbClr>
          </a:solidFill>
          <a:ln cap="flat" cmpd="sng" w="25400">
            <a:solidFill>
              <a:srgbClr val="FF78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5"/>
          <p:cNvSpPr/>
          <p:nvPr/>
        </p:nvSpPr>
        <p:spPr>
          <a:xfrm>
            <a:off x="3819525" y="6160311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Autonomy and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Tools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5"/>
          <p:cNvSpPr/>
          <p:nvPr/>
        </p:nvSpPr>
        <p:spPr>
          <a:xfrm>
            <a:off x="3819526" y="2781300"/>
            <a:ext cx="1002976" cy="610230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5"/>
          <p:cNvSpPr/>
          <p:nvPr/>
        </p:nvSpPr>
        <p:spPr>
          <a:xfrm>
            <a:off x="3819525" y="293133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6: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Sidekick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5"/>
          <p:cNvSpPr/>
          <p:nvPr/>
        </p:nvSpPr>
        <p:spPr>
          <a:xfrm>
            <a:off x="3819526" y="4933950"/>
            <a:ext cx="1002976" cy="610229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5"/>
          <p:cNvSpPr/>
          <p:nvPr/>
        </p:nvSpPr>
        <p:spPr>
          <a:xfrm>
            <a:off x="3819525" y="50839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3: Deep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Research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5"/>
          <p:cNvSpPr/>
          <p:nvPr/>
        </p:nvSpPr>
        <p:spPr>
          <a:xfrm>
            <a:off x="3819526" y="3857625"/>
            <a:ext cx="1002976" cy="610230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5"/>
          <p:cNvSpPr/>
          <p:nvPr/>
        </p:nvSpPr>
        <p:spPr>
          <a:xfrm>
            <a:off x="3819525" y="393146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5: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Developer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5"/>
          <p:cNvSpPr/>
          <p:nvPr/>
        </p:nvSpPr>
        <p:spPr>
          <a:xfrm>
            <a:off x="3819526" y="628650"/>
            <a:ext cx="1002976" cy="610230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5"/>
          <p:cNvSpPr/>
          <p:nvPr/>
        </p:nvSpPr>
        <p:spPr>
          <a:xfrm>
            <a:off x="3819525" y="7786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8: AI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Equity Traders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5"/>
          <p:cNvSpPr/>
          <p:nvPr/>
        </p:nvSpPr>
        <p:spPr>
          <a:xfrm>
            <a:off x="4953000" y="6010276"/>
            <a:ext cx="1002976" cy="610229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5"/>
          <p:cNvSpPr/>
          <p:nvPr/>
        </p:nvSpPr>
        <p:spPr>
          <a:xfrm>
            <a:off x="4953000" y="608411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1: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Your personal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career agent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5"/>
          <p:cNvSpPr/>
          <p:nvPr/>
        </p:nvSpPr>
        <p:spPr>
          <a:xfrm>
            <a:off x="4953000" y="2781300"/>
            <a:ext cx="1002976" cy="610230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5"/>
          <p:cNvSpPr/>
          <p:nvPr/>
        </p:nvSpPr>
        <p:spPr>
          <a:xfrm>
            <a:off x="4953000" y="285513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6: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Sidekick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improvements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5"/>
          <p:cNvSpPr/>
          <p:nvPr/>
        </p:nvSpPr>
        <p:spPr>
          <a:xfrm>
            <a:off x="4953000" y="4933950"/>
            <a:ext cx="1002976" cy="610229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5"/>
          <p:cNvSpPr/>
          <p:nvPr/>
        </p:nvSpPr>
        <p:spPr>
          <a:xfrm>
            <a:off x="4953000" y="50839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3: Deep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Research app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5"/>
          <p:cNvSpPr/>
          <p:nvPr/>
        </p:nvSpPr>
        <p:spPr>
          <a:xfrm>
            <a:off x="4953000" y="3857625"/>
            <a:ext cx="1002976" cy="610230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5"/>
          <p:cNvSpPr/>
          <p:nvPr/>
        </p:nvSpPr>
        <p:spPr>
          <a:xfrm>
            <a:off x="4953000" y="393146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5: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Engineering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Team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5"/>
          <p:cNvSpPr/>
          <p:nvPr/>
        </p:nvSpPr>
        <p:spPr>
          <a:xfrm>
            <a:off x="4953000" y="628650"/>
            <a:ext cx="1002976" cy="610230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5"/>
          <p:cNvSpPr/>
          <p:nvPr/>
        </p:nvSpPr>
        <p:spPr>
          <a:xfrm>
            <a:off x="4953000" y="70248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8: AI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Equity Traders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 Action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5" name="Google Shape;85;p5"/>
          <p:cNvGrpSpPr/>
          <p:nvPr/>
        </p:nvGrpSpPr>
        <p:grpSpPr>
          <a:xfrm>
            <a:off x="257175" y="1390650"/>
            <a:ext cx="5937000" cy="1011900"/>
            <a:chOff x="257175" y="1390650"/>
            <a:chExt cx="5937000" cy="1011900"/>
          </a:xfrm>
        </p:grpSpPr>
        <p:sp>
          <p:nvSpPr>
            <p:cNvPr id="86" name="Google Shape;86;p5"/>
            <p:cNvSpPr/>
            <p:nvPr/>
          </p:nvSpPr>
          <p:spPr>
            <a:xfrm>
              <a:off x="257175" y="1390650"/>
              <a:ext cx="5937000" cy="1011900"/>
            </a:xfrm>
            <a:prstGeom prst="rect">
              <a:avLst/>
            </a:pr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5"/>
            <p:cNvSpPr/>
            <p:nvPr/>
          </p:nvSpPr>
          <p:spPr>
            <a:xfrm>
              <a:off x="361950" y="1448395"/>
              <a:ext cx="2048100" cy="176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215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975" u="none" cap="none" strike="noStrike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Week 5: </a:t>
              </a:r>
              <a:r>
                <a:rPr lang="en-US" sz="975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Agent Frameworks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" name="Google Shape;88;p5"/>
            <p:cNvSpPr/>
            <p:nvPr/>
          </p:nvSpPr>
          <p:spPr>
            <a:xfrm>
              <a:off x="447675" y="1704975"/>
              <a:ext cx="1002900" cy="610200"/>
            </a:xfrm>
            <a:prstGeom prst="rect">
              <a:avLst/>
            </a:prstGeom>
            <a:noFill/>
            <a:ln cap="flat" cmpd="sng" w="25400">
              <a:solidFill>
                <a:srgbClr val="00B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" name="Google Shape;89;p5"/>
            <p:cNvSpPr/>
            <p:nvPr/>
          </p:nvSpPr>
          <p:spPr>
            <a:xfrm>
              <a:off x="447675" y="1778811"/>
              <a:ext cx="1002900" cy="44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>
                  <a:solidFill>
                    <a:srgbClr val="FFFFFF"/>
                  </a:solidFill>
                </a:rPr>
                <a:t>Google ADK and A2A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" name="Google Shape;90;p5"/>
            <p:cNvSpPr/>
            <p:nvPr/>
          </p:nvSpPr>
          <p:spPr>
            <a:xfrm>
              <a:off x="1562099" y="1704975"/>
              <a:ext cx="1002900" cy="610200"/>
            </a:xfrm>
            <a:prstGeom prst="rect">
              <a:avLst/>
            </a:prstGeom>
            <a:noFill/>
            <a:ln cap="flat" cmpd="sng" w="25400">
              <a:solidFill>
                <a:srgbClr val="00B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5"/>
            <p:cNvSpPr/>
            <p:nvPr/>
          </p:nvSpPr>
          <p:spPr>
            <a:xfrm>
              <a:off x="1562100" y="1778811"/>
              <a:ext cx="1002900" cy="44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>
                  <a:solidFill>
                    <a:srgbClr val="FFFFFF"/>
                  </a:solidFill>
                </a:rPr>
                <a:t>AWS Strands Agents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" name="Google Shape;92;p5"/>
            <p:cNvSpPr/>
            <p:nvPr/>
          </p:nvSpPr>
          <p:spPr>
            <a:xfrm>
              <a:off x="2676526" y="1704975"/>
              <a:ext cx="1002900" cy="610200"/>
            </a:xfrm>
            <a:prstGeom prst="rect">
              <a:avLst/>
            </a:prstGeom>
            <a:noFill/>
            <a:ln cap="flat" cmpd="sng" w="25400">
              <a:solidFill>
                <a:srgbClr val="00B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" name="Google Shape;93;p5"/>
            <p:cNvSpPr/>
            <p:nvPr/>
          </p:nvSpPr>
          <p:spPr>
            <a:xfrm>
              <a:off x="2676525" y="1855011"/>
              <a:ext cx="1002900" cy="30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>
                  <a:solidFill>
                    <a:srgbClr val="FFFFFF"/>
                  </a:solidFill>
                </a:rPr>
                <a:t>Other Python Frameworks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" name="Google Shape;94;p5"/>
            <p:cNvSpPr/>
            <p:nvPr/>
          </p:nvSpPr>
          <p:spPr>
            <a:xfrm>
              <a:off x="3819526" y="1704975"/>
              <a:ext cx="1002900" cy="610200"/>
            </a:xfrm>
            <a:prstGeom prst="rect">
              <a:avLst/>
            </a:prstGeom>
            <a:noFill/>
            <a:ln cap="flat" cmpd="sng" w="25400">
              <a:solidFill>
                <a:srgbClr val="00B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" name="Google Shape;95;p5"/>
            <p:cNvSpPr/>
            <p:nvPr/>
          </p:nvSpPr>
          <p:spPr>
            <a:xfrm>
              <a:off x="3819525" y="1855011"/>
              <a:ext cx="1002900" cy="30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>
                  <a:solidFill>
                    <a:srgbClr val="FFFFFF"/>
                  </a:solidFill>
                </a:rPr>
                <a:t>JS/TS Frameworks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" name="Google Shape;96;p5"/>
            <p:cNvSpPr/>
            <p:nvPr/>
          </p:nvSpPr>
          <p:spPr>
            <a:xfrm>
              <a:off x="4953000" y="1704975"/>
              <a:ext cx="1002900" cy="610200"/>
            </a:xfrm>
            <a:prstGeom prst="rect">
              <a:avLst/>
            </a:prstGeom>
            <a:noFill/>
            <a:ln cap="flat" cmpd="sng" w="25400">
              <a:solidFill>
                <a:srgbClr val="FFD7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" name="Google Shape;97;p5"/>
            <p:cNvSpPr/>
            <p:nvPr/>
          </p:nvSpPr>
          <p:spPr>
            <a:xfrm>
              <a:off x="4953000" y="1778811"/>
              <a:ext cx="1002900" cy="44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125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Project 7:</a:t>
              </a:r>
              <a:br>
                <a:rPr b="0" i="0" lang="en-US" sz="1125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0" i="0" lang="en-US" sz="1125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Agent</a:t>
              </a:r>
              <a:br>
                <a:rPr b="0" i="0" lang="en-US" sz="1125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lang="en-US" sz="1125">
                  <a:solidFill>
                    <a:srgbClr val="FFFFFF"/>
                  </a:solidFill>
                </a:rPr>
                <a:t>Loop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6"/>
          <p:cNvSpPr/>
          <p:nvPr/>
        </p:nvSpPr>
        <p:spPr>
          <a:xfrm>
            <a:off x="6566550" y="6941682"/>
            <a:ext cx="1553700" cy="19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No framework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4" name="Google Shape;104;p6"/>
          <p:cNvGrpSpPr/>
          <p:nvPr/>
        </p:nvGrpSpPr>
        <p:grpSpPr>
          <a:xfrm>
            <a:off x="1828025" y="1483188"/>
            <a:ext cx="2008200" cy="3891600"/>
            <a:chOff x="2077742" y="1511888"/>
            <a:chExt cx="2008200" cy="3891600"/>
          </a:xfrm>
        </p:grpSpPr>
        <p:sp>
          <p:nvSpPr>
            <p:cNvPr id="105" name="Google Shape;105;p6"/>
            <p:cNvSpPr/>
            <p:nvPr/>
          </p:nvSpPr>
          <p:spPr>
            <a:xfrm>
              <a:off x="2153950" y="1511888"/>
              <a:ext cx="1839600" cy="3891600"/>
            </a:xfrm>
            <a:prstGeom prst="rect">
              <a:avLst/>
            </a:pr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" name="Google Shape;106;p6"/>
            <p:cNvSpPr txBox="1"/>
            <p:nvPr/>
          </p:nvSpPr>
          <p:spPr>
            <a:xfrm>
              <a:off x="2077742" y="1664275"/>
              <a:ext cx="2008200" cy="41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5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Products</a:t>
              </a:r>
              <a:endParaRPr sz="1500">
                <a:solidFill>
                  <a:schemeClr val="lt1"/>
                </a:solidFill>
              </a:endParaRPr>
            </a:p>
          </p:txBody>
        </p:sp>
        <p:sp>
          <p:nvSpPr>
            <p:cNvPr id="107" name="Google Shape;107;p6"/>
            <p:cNvSpPr txBox="1"/>
            <p:nvPr/>
          </p:nvSpPr>
          <p:spPr>
            <a:xfrm>
              <a:off x="2153950" y="2082263"/>
              <a:ext cx="18396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Non-technical people can</a:t>
              </a:r>
              <a:br>
                <a:rPr lang="en-US" sz="9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</a:br>
              <a:r>
                <a:rPr b="1" lang="en-US" sz="9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use</a:t>
              </a:r>
              <a:r>
                <a:rPr lang="en-US" sz="9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AI Agents</a:t>
              </a:r>
              <a:endParaRPr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08" name="Google Shape;108;p6"/>
            <p:cNvSpPr/>
            <p:nvPr/>
          </p:nvSpPr>
          <p:spPr>
            <a:xfrm>
              <a:off x="2284300" y="4166063"/>
              <a:ext cx="1553700" cy="479100"/>
            </a:xfrm>
            <a:prstGeom prst="rect">
              <a:avLst/>
            </a:prstGeom>
            <a:solidFill>
              <a:srgbClr val="00BFFF">
                <a:alpha val="34900"/>
              </a:srgbClr>
            </a:solidFill>
            <a:ln cap="flat" cmpd="sng" w="9525">
              <a:solidFill>
                <a:srgbClr val="209DD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OpenClaw</a:t>
              </a:r>
              <a:endParaRPr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09" name="Google Shape;109;p6"/>
            <p:cNvSpPr/>
            <p:nvPr/>
          </p:nvSpPr>
          <p:spPr>
            <a:xfrm>
              <a:off x="2282300" y="3485938"/>
              <a:ext cx="1555800" cy="479100"/>
            </a:xfrm>
            <a:prstGeom prst="rect">
              <a:avLst/>
            </a:prstGeom>
            <a:solidFill>
              <a:srgbClr val="00BFFF">
                <a:alpha val="34900"/>
              </a:srgbClr>
            </a:solidFill>
            <a:ln cap="flat" cmpd="sng" w="9525">
              <a:solidFill>
                <a:srgbClr val="209DD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Cowork</a:t>
              </a:r>
              <a:endParaRPr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10" name="Google Shape;110;p6"/>
            <p:cNvSpPr/>
            <p:nvPr/>
          </p:nvSpPr>
          <p:spPr>
            <a:xfrm>
              <a:off x="2282300" y="2834513"/>
              <a:ext cx="1555800" cy="479100"/>
            </a:xfrm>
            <a:prstGeom prst="rect">
              <a:avLst/>
            </a:prstGeom>
            <a:solidFill>
              <a:srgbClr val="00BFFF">
                <a:alpha val="34900"/>
              </a:srgbClr>
            </a:solidFill>
            <a:ln cap="flat" cmpd="sng" w="9525">
              <a:solidFill>
                <a:srgbClr val="209DD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Claude Code</a:t>
              </a:r>
              <a:endParaRPr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11" name="Google Shape;111;p6"/>
            <p:cNvSpPr/>
            <p:nvPr/>
          </p:nvSpPr>
          <p:spPr>
            <a:xfrm>
              <a:off x="2283350" y="4846188"/>
              <a:ext cx="1553700" cy="479100"/>
            </a:xfrm>
            <a:prstGeom prst="rect">
              <a:avLst/>
            </a:prstGeom>
            <a:solidFill>
              <a:srgbClr val="00BFFF">
                <a:alpha val="34900"/>
              </a:srgbClr>
            </a:solidFill>
            <a:ln cap="flat" cmpd="sng" w="9525">
              <a:solidFill>
                <a:srgbClr val="209DD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Claude Design</a:t>
              </a:r>
              <a:endParaRPr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112" name="Google Shape;112;p6"/>
          <p:cNvGrpSpPr/>
          <p:nvPr/>
        </p:nvGrpSpPr>
        <p:grpSpPr>
          <a:xfrm>
            <a:off x="-52233" y="1483188"/>
            <a:ext cx="2008200" cy="3891600"/>
            <a:chOff x="100167" y="1520900"/>
            <a:chExt cx="2008200" cy="3891600"/>
          </a:xfrm>
        </p:grpSpPr>
        <p:grpSp>
          <p:nvGrpSpPr>
            <p:cNvPr id="113" name="Google Shape;113;p6"/>
            <p:cNvGrpSpPr/>
            <p:nvPr/>
          </p:nvGrpSpPr>
          <p:grpSpPr>
            <a:xfrm>
              <a:off x="100167" y="1520900"/>
              <a:ext cx="2008200" cy="3891600"/>
              <a:chOff x="100167" y="1520900"/>
              <a:chExt cx="2008200" cy="3891600"/>
            </a:xfrm>
          </p:grpSpPr>
          <p:sp>
            <p:nvSpPr>
              <p:cNvPr id="114" name="Google Shape;114;p6"/>
              <p:cNvSpPr/>
              <p:nvPr/>
            </p:nvSpPr>
            <p:spPr>
              <a:xfrm>
                <a:off x="176375" y="1520900"/>
                <a:ext cx="1839600" cy="3891600"/>
              </a:xfrm>
              <a:prstGeom prst="rect">
                <a:avLst/>
              </a:prstGeom>
              <a:solidFill>
                <a:srgbClr val="0C0C0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" name="Google Shape;115;p6"/>
              <p:cNvSpPr txBox="1"/>
              <p:nvPr/>
            </p:nvSpPr>
            <p:spPr>
              <a:xfrm>
                <a:off x="100167" y="1673288"/>
                <a:ext cx="2008200" cy="415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500">
                    <a:solidFill>
                      <a:schemeClr val="lt1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Builders</a:t>
                </a:r>
                <a:endParaRPr sz="1500">
                  <a:solidFill>
                    <a:schemeClr val="lt1"/>
                  </a:solidFill>
                </a:endParaRPr>
              </a:p>
            </p:txBody>
          </p:sp>
          <p:sp>
            <p:nvSpPr>
              <p:cNvPr id="116" name="Google Shape;116;p6"/>
              <p:cNvSpPr txBox="1"/>
              <p:nvPr/>
            </p:nvSpPr>
            <p:spPr>
              <a:xfrm>
                <a:off x="176375" y="2091275"/>
                <a:ext cx="18396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>
                    <a:solidFill>
                      <a:schemeClr val="lt1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Non-technical people can</a:t>
                </a:r>
                <a:br>
                  <a:rPr lang="en-US" sz="900">
                    <a:solidFill>
                      <a:schemeClr val="lt1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</a:br>
                <a:r>
                  <a:rPr b="1" lang="en-US" sz="900">
                    <a:solidFill>
                      <a:schemeClr val="lt1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build</a:t>
                </a:r>
                <a:r>
                  <a:rPr lang="en-US" sz="900">
                    <a:solidFill>
                      <a:schemeClr val="lt1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 AI Agents</a:t>
                </a:r>
                <a:endParaRPr sz="900">
                  <a:solidFill>
                    <a:schemeClr val="lt1"/>
                  </a:solidFill>
                </a:endParaRPr>
              </a:p>
            </p:txBody>
          </p:sp>
          <p:sp>
            <p:nvSpPr>
              <p:cNvPr id="117" name="Google Shape;117;p6"/>
              <p:cNvSpPr/>
              <p:nvPr/>
            </p:nvSpPr>
            <p:spPr>
              <a:xfrm>
                <a:off x="306725" y="4175075"/>
                <a:ext cx="1553700" cy="479100"/>
              </a:xfrm>
              <a:prstGeom prst="rect">
                <a:avLst/>
              </a:prstGeom>
              <a:solidFill>
                <a:srgbClr val="00BFFF">
                  <a:alpha val="34900"/>
                </a:srgbClr>
              </a:solidFill>
              <a:ln cap="flat" cmpd="sng" w="9525">
                <a:solidFill>
                  <a:srgbClr val="209DD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200">
                    <a:solidFill>
                      <a:schemeClr val="lt1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OpenAI Agent Builder</a:t>
                </a:r>
                <a:endParaRPr sz="12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118" name="Google Shape;118;p6"/>
              <p:cNvSpPr/>
              <p:nvPr/>
            </p:nvSpPr>
            <p:spPr>
              <a:xfrm>
                <a:off x="304725" y="3494950"/>
                <a:ext cx="1555800" cy="479100"/>
              </a:xfrm>
              <a:prstGeom prst="rect">
                <a:avLst/>
              </a:prstGeom>
              <a:solidFill>
                <a:srgbClr val="00BFFF">
                  <a:alpha val="34900"/>
                </a:srgbClr>
              </a:solidFill>
              <a:ln cap="flat" cmpd="sng" w="9525">
                <a:solidFill>
                  <a:srgbClr val="209DD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200">
                    <a:solidFill>
                      <a:schemeClr val="lt1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ElevenLabs</a:t>
                </a:r>
                <a:endParaRPr sz="12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119" name="Google Shape;119;p6"/>
              <p:cNvSpPr/>
              <p:nvPr/>
            </p:nvSpPr>
            <p:spPr>
              <a:xfrm>
                <a:off x="304725" y="2843525"/>
                <a:ext cx="1555800" cy="479100"/>
              </a:xfrm>
              <a:prstGeom prst="rect">
                <a:avLst/>
              </a:prstGeom>
              <a:solidFill>
                <a:srgbClr val="00BFFF">
                  <a:alpha val="34900"/>
                </a:srgbClr>
              </a:solidFill>
              <a:ln cap="flat" cmpd="sng" w="9525">
                <a:solidFill>
                  <a:srgbClr val="209DD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200">
                    <a:solidFill>
                      <a:schemeClr val="lt1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n8n</a:t>
                </a:r>
                <a:endParaRPr sz="12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</p:grpSp>
        <p:sp>
          <p:nvSpPr>
            <p:cNvPr id="120" name="Google Shape;120;p6"/>
            <p:cNvSpPr/>
            <p:nvPr/>
          </p:nvSpPr>
          <p:spPr>
            <a:xfrm>
              <a:off x="327425" y="4846188"/>
              <a:ext cx="1553700" cy="479100"/>
            </a:xfrm>
            <a:prstGeom prst="rect">
              <a:avLst/>
            </a:prstGeom>
            <a:solidFill>
              <a:srgbClr val="00BFFF">
                <a:alpha val="34900"/>
              </a:srgbClr>
            </a:solidFill>
            <a:ln cap="flat" cmpd="sng" w="9525">
              <a:solidFill>
                <a:srgbClr val="209DD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CrewAI Studio</a:t>
              </a:r>
              <a:endParaRPr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121" name="Google Shape;121;p6"/>
          <p:cNvGrpSpPr/>
          <p:nvPr/>
        </p:nvGrpSpPr>
        <p:grpSpPr>
          <a:xfrm>
            <a:off x="3708283" y="1483188"/>
            <a:ext cx="2008200" cy="3891600"/>
            <a:chOff x="4099842" y="1483188"/>
            <a:chExt cx="2008200" cy="3891600"/>
          </a:xfrm>
        </p:grpSpPr>
        <p:grpSp>
          <p:nvGrpSpPr>
            <p:cNvPr id="122" name="Google Shape;122;p6"/>
            <p:cNvGrpSpPr/>
            <p:nvPr/>
          </p:nvGrpSpPr>
          <p:grpSpPr>
            <a:xfrm>
              <a:off x="4099842" y="1483188"/>
              <a:ext cx="2008200" cy="3891600"/>
              <a:chOff x="100167" y="1520900"/>
              <a:chExt cx="2008200" cy="3891600"/>
            </a:xfrm>
          </p:grpSpPr>
          <p:sp>
            <p:nvSpPr>
              <p:cNvPr id="123" name="Google Shape;123;p6"/>
              <p:cNvSpPr/>
              <p:nvPr/>
            </p:nvSpPr>
            <p:spPr>
              <a:xfrm>
                <a:off x="176375" y="1520900"/>
                <a:ext cx="1839600" cy="3891600"/>
              </a:xfrm>
              <a:prstGeom prst="rect">
                <a:avLst/>
              </a:prstGeom>
              <a:solidFill>
                <a:srgbClr val="0C0C0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" name="Google Shape;124;p6"/>
              <p:cNvSpPr txBox="1"/>
              <p:nvPr/>
            </p:nvSpPr>
            <p:spPr>
              <a:xfrm>
                <a:off x="100167" y="1673288"/>
                <a:ext cx="2008200" cy="415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500">
                    <a:solidFill>
                      <a:schemeClr val="lt1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Runtimes</a:t>
                </a:r>
                <a:endParaRPr sz="1500">
                  <a:solidFill>
                    <a:schemeClr val="lt1"/>
                  </a:solidFill>
                </a:endParaRPr>
              </a:p>
            </p:txBody>
          </p:sp>
          <p:sp>
            <p:nvSpPr>
              <p:cNvPr id="125" name="Google Shape;125;p6"/>
              <p:cNvSpPr txBox="1"/>
              <p:nvPr/>
            </p:nvSpPr>
            <p:spPr>
              <a:xfrm>
                <a:off x="176375" y="2091275"/>
                <a:ext cx="18396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>
                    <a:solidFill>
                      <a:schemeClr val="lt1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Technical people can</a:t>
                </a:r>
                <a:br>
                  <a:rPr lang="en-US" sz="900">
                    <a:solidFill>
                      <a:schemeClr val="lt1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</a:br>
                <a:r>
                  <a:rPr b="1" lang="en-US" sz="900">
                    <a:solidFill>
                      <a:schemeClr val="lt1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execute</a:t>
                </a:r>
                <a:r>
                  <a:rPr lang="en-US" sz="900">
                    <a:solidFill>
                      <a:schemeClr val="lt1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 AI Agents</a:t>
                </a:r>
                <a:endParaRPr sz="9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126" name="Google Shape;126;p6"/>
              <p:cNvSpPr/>
              <p:nvPr/>
            </p:nvSpPr>
            <p:spPr>
              <a:xfrm>
                <a:off x="320275" y="4844713"/>
                <a:ext cx="1553700" cy="479100"/>
              </a:xfrm>
              <a:prstGeom prst="rect">
                <a:avLst/>
              </a:prstGeom>
              <a:solidFill>
                <a:srgbClr val="00BFFF">
                  <a:alpha val="34900"/>
                </a:srgbClr>
              </a:solidFill>
              <a:ln cap="flat" cmpd="sng" w="9525">
                <a:solidFill>
                  <a:srgbClr val="209DD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200">
                    <a:solidFill>
                      <a:schemeClr val="lt1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Vertex AI Agent Engine</a:t>
                </a:r>
                <a:endParaRPr sz="12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127" name="Google Shape;127;p6"/>
              <p:cNvSpPr/>
              <p:nvPr/>
            </p:nvSpPr>
            <p:spPr>
              <a:xfrm>
                <a:off x="318275" y="4164588"/>
                <a:ext cx="1555800" cy="479100"/>
              </a:xfrm>
              <a:prstGeom prst="rect">
                <a:avLst/>
              </a:prstGeom>
              <a:solidFill>
                <a:srgbClr val="00BFFF">
                  <a:alpha val="34900"/>
                </a:srgbClr>
              </a:solidFill>
              <a:ln cap="flat" cmpd="sng" w="9525">
                <a:solidFill>
                  <a:srgbClr val="209DD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200">
                    <a:solidFill>
                      <a:schemeClr val="lt1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Claude Managed Agents</a:t>
                </a:r>
                <a:endParaRPr sz="12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128" name="Google Shape;128;p6"/>
              <p:cNvSpPr/>
              <p:nvPr/>
            </p:nvSpPr>
            <p:spPr>
              <a:xfrm>
                <a:off x="318275" y="3513163"/>
                <a:ext cx="1555800" cy="479100"/>
              </a:xfrm>
              <a:prstGeom prst="rect">
                <a:avLst/>
              </a:prstGeom>
              <a:solidFill>
                <a:srgbClr val="00BFFF">
                  <a:alpha val="34900"/>
                </a:srgbClr>
              </a:solidFill>
              <a:ln cap="flat" cmpd="sng" w="9525">
                <a:solidFill>
                  <a:srgbClr val="209DD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200">
                    <a:solidFill>
                      <a:schemeClr val="lt1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AWS Bedrock AgentCore</a:t>
                </a:r>
                <a:endParaRPr sz="12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</p:grpSp>
        <p:sp>
          <p:nvSpPr>
            <p:cNvPr id="129" name="Google Shape;129;p6"/>
            <p:cNvSpPr/>
            <p:nvPr/>
          </p:nvSpPr>
          <p:spPr>
            <a:xfrm>
              <a:off x="4326050" y="2834513"/>
              <a:ext cx="1555800" cy="479100"/>
            </a:xfrm>
            <a:prstGeom prst="rect">
              <a:avLst/>
            </a:prstGeom>
            <a:solidFill>
              <a:srgbClr val="00BFFF">
                <a:alpha val="34900"/>
              </a:srgbClr>
            </a:solidFill>
            <a:ln cap="flat" cmpd="sng" w="9525">
              <a:solidFill>
                <a:srgbClr val="209DD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AWS Lambda</a:t>
              </a:r>
              <a:endParaRPr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130" name="Google Shape;130;p6"/>
          <p:cNvGrpSpPr/>
          <p:nvPr/>
        </p:nvGrpSpPr>
        <p:grpSpPr>
          <a:xfrm>
            <a:off x="5588542" y="1483188"/>
            <a:ext cx="2008200" cy="3891600"/>
            <a:chOff x="6121942" y="1483188"/>
            <a:chExt cx="2008200" cy="3891600"/>
          </a:xfrm>
        </p:grpSpPr>
        <p:sp>
          <p:nvSpPr>
            <p:cNvPr id="131" name="Google Shape;131;p6"/>
            <p:cNvSpPr/>
            <p:nvPr/>
          </p:nvSpPr>
          <p:spPr>
            <a:xfrm>
              <a:off x="6566550" y="4160382"/>
              <a:ext cx="1553700" cy="199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LangGraph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32" name="Google Shape;132;p6"/>
            <p:cNvGrpSpPr/>
            <p:nvPr/>
          </p:nvGrpSpPr>
          <p:grpSpPr>
            <a:xfrm>
              <a:off x="6121942" y="1483188"/>
              <a:ext cx="2008200" cy="3891600"/>
              <a:chOff x="100167" y="1520900"/>
              <a:chExt cx="2008200" cy="3891600"/>
            </a:xfrm>
          </p:grpSpPr>
          <p:sp>
            <p:nvSpPr>
              <p:cNvPr id="133" name="Google Shape;133;p6"/>
              <p:cNvSpPr/>
              <p:nvPr/>
            </p:nvSpPr>
            <p:spPr>
              <a:xfrm>
                <a:off x="176375" y="1520900"/>
                <a:ext cx="1839600" cy="3891600"/>
              </a:xfrm>
              <a:prstGeom prst="rect">
                <a:avLst/>
              </a:prstGeom>
              <a:solidFill>
                <a:srgbClr val="0C0C0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" name="Google Shape;134;p6"/>
              <p:cNvSpPr txBox="1"/>
              <p:nvPr/>
            </p:nvSpPr>
            <p:spPr>
              <a:xfrm>
                <a:off x="100167" y="1673288"/>
                <a:ext cx="2008200" cy="415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500">
                    <a:solidFill>
                      <a:schemeClr val="lt1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Frameworks</a:t>
                </a:r>
                <a:endParaRPr sz="1500">
                  <a:solidFill>
                    <a:schemeClr val="lt1"/>
                  </a:solidFill>
                </a:endParaRPr>
              </a:p>
            </p:txBody>
          </p:sp>
          <p:sp>
            <p:nvSpPr>
              <p:cNvPr id="135" name="Google Shape;135;p6"/>
              <p:cNvSpPr txBox="1"/>
              <p:nvPr/>
            </p:nvSpPr>
            <p:spPr>
              <a:xfrm>
                <a:off x="176375" y="2091275"/>
                <a:ext cx="18396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>
                    <a:solidFill>
                      <a:schemeClr val="lt1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Technical people can</a:t>
                </a:r>
                <a:br>
                  <a:rPr lang="en-US" sz="900">
                    <a:solidFill>
                      <a:schemeClr val="lt1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</a:br>
                <a:r>
                  <a:rPr b="1" lang="en-US" sz="900">
                    <a:solidFill>
                      <a:schemeClr val="lt1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develop</a:t>
                </a:r>
                <a:r>
                  <a:rPr lang="en-US" sz="900">
                    <a:solidFill>
                      <a:schemeClr val="lt1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 AI Agents</a:t>
                </a:r>
                <a:endParaRPr sz="9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136" name="Google Shape;136;p6"/>
              <p:cNvSpPr/>
              <p:nvPr/>
            </p:nvSpPr>
            <p:spPr>
              <a:xfrm>
                <a:off x="320275" y="4844713"/>
                <a:ext cx="1553700" cy="479100"/>
              </a:xfrm>
              <a:prstGeom prst="rect">
                <a:avLst/>
              </a:prstGeom>
              <a:solidFill>
                <a:srgbClr val="00BFFF">
                  <a:alpha val="34900"/>
                </a:srgbClr>
              </a:solidFill>
              <a:ln cap="flat" cmpd="sng" w="9525">
                <a:solidFill>
                  <a:srgbClr val="209DD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200">
                    <a:solidFill>
                      <a:schemeClr val="lt1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Google ADK</a:t>
                </a:r>
                <a:endParaRPr sz="12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137" name="Google Shape;137;p6"/>
              <p:cNvSpPr/>
              <p:nvPr/>
            </p:nvSpPr>
            <p:spPr>
              <a:xfrm>
                <a:off x="318275" y="4164588"/>
                <a:ext cx="1555800" cy="479100"/>
              </a:xfrm>
              <a:prstGeom prst="rect">
                <a:avLst/>
              </a:prstGeom>
              <a:solidFill>
                <a:srgbClr val="00BFFF">
                  <a:alpha val="34900"/>
                </a:srgbClr>
              </a:solidFill>
              <a:ln cap="flat" cmpd="sng" w="9525">
                <a:solidFill>
                  <a:srgbClr val="209DD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200">
                    <a:solidFill>
                      <a:schemeClr val="lt1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LangGraph / LangChain</a:t>
                </a:r>
                <a:endParaRPr sz="12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138" name="Google Shape;138;p6"/>
              <p:cNvSpPr/>
              <p:nvPr/>
            </p:nvSpPr>
            <p:spPr>
              <a:xfrm>
                <a:off x="318275" y="3513163"/>
                <a:ext cx="1555800" cy="479100"/>
              </a:xfrm>
              <a:prstGeom prst="rect">
                <a:avLst/>
              </a:prstGeom>
              <a:solidFill>
                <a:srgbClr val="00BFFF">
                  <a:alpha val="34900"/>
                </a:srgbClr>
              </a:solidFill>
              <a:ln cap="flat" cmpd="sng" w="9525">
                <a:solidFill>
                  <a:srgbClr val="209DD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200">
                    <a:solidFill>
                      <a:schemeClr val="lt1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CrewAI</a:t>
                </a:r>
                <a:endParaRPr sz="12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</p:grpSp>
        <p:sp>
          <p:nvSpPr>
            <p:cNvPr id="139" name="Google Shape;139;p6"/>
            <p:cNvSpPr/>
            <p:nvPr/>
          </p:nvSpPr>
          <p:spPr>
            <a:xfrm>
              <a:off x="6348150" y="2834513"/>
              <a:ext cx="1555800" cy="479100"/>
            </a:xfrm>
            <a:prstGeom prst="rect">
              <a:avLst/>
            </a:prstGeom>
            <a:solidFill>
              <a:srgbClr val="00BFFF">
                <a:alpha val="34900"/>
              </a:srgbClr>
            </a:solidFill>
            <a:ln cap="flat" cmpd="sng" w="9525">
              <a:solidFill>
                <a:srgbClr val="209DD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OpenAI Agents SDK</a:t>
              </a:r>
              <a:endParaRPr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140" name="Google Shape;140;p6"/>
          <p:cNvSpPr/>
          <p:nvPr/>
        </p:nvSpPr>
        <p:spPr>
          <a:xfrm>
            <a:off x="327425" y="306925"/>
            <a:ext cx="7037100" cy="4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37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The Agent Landscape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6"/>
          <p:cNvSpPr/>
          <p:nvPr/>
        </p:nvSpPr>
        <p:spPr>
          <a:xfrm>
            <a:off x="327425" y="1003851"/>
            <a:ext cx="6072900" cy="5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Different types of offering related to AI Agents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6"/>
          <p:cNvSpPr/>
          <p:nvPr/>
        </p:nvSpPr>
        <p:spPr>
          <a:xfrm>
            <a:off x="187000" y="5600575"/>
            <a:ext cx="1496400" cy="34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2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FFD700"/>
                </a:solidFill>
                <a:latin typeface="Roboto Slab"/>
                <a:ea typeface="Roboto Slab"/>
                <a:cs typeface="Roboto Slab"/>
                <a:sym typeface="Roboto Slab"/>
              </a:rPr>
              <a:t>AI Builder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6"/>
          <p:cNvSpPr/>
          <p:nvPr/>
        </p:nvSpPr>
        <p:spPr>
          <a:xfrm>
            <a:off x="2083925" y="5600575"/>
            <a:ext cx="1496400" cy="34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2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FFD700"/>
                </a:solidFill>
                <a:latin typeface="Roboto Slab"/>
                <a:ea typeface="Roboto Slab"/>
                <a:cs typeface="Roboto Slab"/>
                <a:sym typeface="Roboto Slab"/>
              </a:rPr>
              <a:t>AI Coder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6"/>
          <p:cNvSpPr/>
          <p:nvPr/>
        </p:nvSpPr>
        <p:spPr>
          <a:xfrm>
            <a:off x="3964175" y="5600575"/>
            <a:ext cx="1496400" cy="34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2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FFD700"/>
                </a:solidFill>
                <a:latin typeface="Roboto Slab"/>
                <a:ea typeface="Roboto Slab"/>
                <a:cs typeface="Roboto Slab"/>
                <a:sym typeface="Roboto Slab"/>
              </a:rPr>
              <a:t>AI Engineer</a:t>
            </a:r>
            <a:endParaRPr b="1">
              <a:solidFill>
                <a:srgbClr val="FFD700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marR="0" rtl="0" algn="ctr">
              <a:lnSpc>
                <a:spcPct val="142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FFD700"/>
                </a:solidFill>
                <a:latin typeface="Roboto Slab"/>
                <a:ea typeface="Roboto Slab"/>
                <a:cs typeface="Roboto Slab"/>
                <a:sym typeface="Roboto Slab"/>
              </a:rPr>
              <a:t>Production Track</a:t>
            </a:r>
            <a:endParaRPr b="1">
              <a:solidFill>
                <a:srgbClr val="FFD700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145" name="Google Shape;145;p6"/>
          <p:cNvSpPr/>
          <p:nvPr/>
        </p:nvSpPr>
        <p:spPr>
          <a:xfrm>
            <a:off x="5844425" y="5600575"/>
            <a:ext cx="1496400" cy="34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2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FFD700"/>
                </a:solidFill>
                <a:latin typeface="Roboto Slab"/>
                <a:ea typeface="Roboto Slab"/>
                <a:cs typeface="Roboto Slab"/>
                <a:sym typeface="Roboto Slab"/>
              </a:rPr>
              <a:t>AI Engineer</a:t>
            </a:r>
            <a:br>
              <a:rPr b="1" lang="en-US">
                <a:solidFill>
                  <a:srgbClr val="FFD700"/>
                </a:solidFill>
                <a:latin typeface="Roboto Slab"/>
                <a:ea typeface="Roboto Slab"/>
                <a:cs typeface="Roboto Slab"/>
                <a:sym typeface="Roboto Slab"/>
              </a:rPr>
            </a:br>
            <a:r>
              <a:rPr b="1" lang="en-US">
                <a:solidFill>
                  <a:srgbClr val="FFD700"/>
                </a:solidFill>
                <a:latin typeface="Roboto Slab"/>
                <a:ea typeface="Roboto Slab"/>
                <a:cs typeface="Roboto Slab"/>
                <a:sym typeface="Roboto Slab"/>
              </a:rPr>
              <a:t>Agentic Track</a:t>
            </a:r>
            <a:endParaRPr b="1">
              <a:solidFill>
                <a:srgbClr val="FFD700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7"/>
          <p:cNvSpPr/>
          <p:nvPr/>
        </p:nvSpPr>
        <p:spPr>
          <a:xfrm>
            <a:off x="571500" y="586160"/>
            <a:ext cx="9064800" cy="4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37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Agent Frameworks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7"/>
          <p:cNvSpPr/>
          <p:nvPr/>
        </p:nvSpPr>
        <p:spPr>
          <a:xfrm>
            <a:off x="571500" y="1401817"/>
            <a:ext cx="5281800" cy="5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>
                <a:solidFill>
                  <a:srgbClr val="FFFFFF"/>
                </a:solidFill>
              </a:rPr>
              <a:t>Helper code that makes it easier to create Agents based on LLM calls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7"/>
          <p:cNvSpPr/>
          <p:nvPr/>
        </p:nvSpPr>
        <p:spPr>
          <a:xfrm>
            <a:off x="762000" y="2423543"/>
            <a:ext cx="6072900" cy="6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D700"/>
                </a:solidFill>
                <a:latin typeface="Roboto Slab"/>
                <a:ea typeface="Roboto Slab"/>
                <a:cs typeface="Roboto Slab"/>
                <a:sym typeface="Roboto Slab"/>
              </a:rPr>
              <a:t>Orchestration </a:t>
            </a:r>
            <a:r>
              <a:rPr lang="en-US" sz="1800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rPr>
              <a:t>- chaining together LLM calls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7"/>
          <p:cNvSpPr/>
          <p:nvPr/>
        </p:nvSpPr>
        <p:spPr>
          <a:xfrm>
            <a:off x="762000" y="3128393"/>
            <a:ext cx="5905200" cy="6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7800"/>
                </a:solidFill>
                <a:latin typeface="Roboto Slab"/>
                <a:ea typeface="Roboto Slab"/>
                <a:cs typeface="Roboto Slab"/>
                <a:sym typeface="Roboto Slab"/>
              </a:rPr>
              <a:t>Tool calling -</a:t>
            </a:r>
            <a:r>
              <a:rPr lang="en-US" sz="180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 equipping an LLM with abilities, including with MCP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7"/>
          <p:cNvSpPr/>
          <p:nvPr/>
        </p:nvSpPr>
        <p:spPr>
          <a:xfrm>
            <a:off x="762000" y="4195193"/>
            <a:ext cx="5320200" cy="6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BFFF"/>
                </a:solidFill>
                <a:latin typeface="Roboto Slab"/>
                <a:ea typeface="Roboto Slab"/>
                <a:cs typeface="Roboto Slab"/>
                <a:sym typeface="Roboto Slab"/>
              </a:rPr>
              <a:t>Constructing LLM </a:t>
            </a:r>
            <a:r>
              <a:rPr b="1" lang="en-US" sz="1800">
                <a:solidFill>
                  <a:srgbClr val="00BFFF"/>
                </a:solidFill>
                <a:latin typeface="Roboto Slab"/>
                <a:ea typeface="Roboto Slab"/>
                <a:cs typeface="Roboto Slab"/>
                <a:sym typeface="Roboto Slab"/>
              </a:rPr>
              <a:t>inputs and interpreting outputs - </a:t>
            </a:r>
            <a:r>
              <a:rPr lang="en-US" sz="1800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rPr>
              <a:t>including a technique called ‘Structured Outputs’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7"/>
          <p:cNvSpPr/>
          <p:nvPr/>
        </p:nvSpPr>
        <p:spPr>
          <a:xfrm>
            <a:off x="571500" y="5601575"/>
            <a:ext cx="5827500" cy="5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50">
                <a:solidFill>
                  <a:srgbClr val="FFFFFF"/>
                </a:solidFill>
              </a:rPr>
              <a:t>This allows you to easily code an ‘Agent Loop’ -</a:t>
            </a:r>
            <a:br>
              <a:rPr lang="en-US" sz="2150">
                <a:solidFill>
                  <a:srgbClr val="FFFFFF"/>
                </a:solidFill>
              </a:rPr>
            </a:br>
            <a:r>
              <a:rPr lang="en-US" sz="2150">
                <a:solidFill>
                  <a:srgbClr val="FFFFFF"/>
                </a:solidFill>
              </a:rPr>
              <a:t>an LLM in a loop with tools to achieve a goal</a:t>
            </a:r>
            <a:endParaRPr i="0" sz="1700" u="none" cap="none" strike="noStrike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8"/>
          <p:cNvSpPr/>
          <p:nvPr/>
        </p:nvSpPr>
        <p:spPr>
          <a:xfrm>
            <a:off x="571500" y="586160"/>
            <a:ext cx="9064800" cy="4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37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Agent Frameworks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8"/>
          <p:cNvSpPr/>
          <p:nvPr/>
        </p:nvSpPr>
        <p:spPr>
          <a:xfrm>
            <a:off x="714375" y="4057650"/>
            <a:ext cx="5306100" cy="11643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8"/>
          <p:cNvSpPr/>
          <p:nvPr/>
        </p:nvSpPr>
        <p:spPr>
          <a:xfrm>
            <a:off x="714375" y="2667000"/>
            <a:ext cx="5306100" cy="11643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8"/>
          <p:cNvSpPr/>
          <p:nvPr/>
        </p:nvSpPr>
        <p:spPr>
          <a:xfrm>
            <a:off x="714375" y="1276350"/>
            <a:ext cx="5306100" cy="11643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66" name="Google Shape;166;p8"/>
          <p:cNvGrpSpPr/>
          <p:nvPr/>
        </p:nvGrpSpPr>
        <p:grpSpPr>
          <a:xfrm>
            <a:off x="1200150" y="4178038"/>
            <a:ext cx="3991500" cy="801000"/>
            <a:chOff x="1200150" y="4178038"/>
            <a:chExt cx="3991500" cy="801000"/>
          </a:xfrm>
        </p:grpSpPr>
        <p:sp>
          <p:nvSpPr>
            <p:cNvPr id="167" name="Google Shape;167;p8"/>
            <p:cNvSpPr/>
            <p:nvPr/>
          </p:nvSpPr>
          <p:spPr>
            <a:xfrm>
              <a:off x="1200150" y="4178038"/>
              <a:ext cx="3991500" cy="801000"/>
            </a:xfrm>
            <a:prstGeom prst="rect">
              <a:avLst/>
            </a:prstGeom>
            <a:solidFill>
              <a:srgbClr val="00BFFF">
                <a:alpha val="34900"/>
              </a:srgbClr>
            </a:solidFill>
            <a:ln cap="flat" cmpd="sng" w="25400">
              <a:solidFill>
                <a:srgbClr val="000000">
                  <a:alpha val="0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" name="Google Shape;168;p8"/>
            <p:cNvSpPr/>
            <p:nvPr/>
          </p:nvSpPr>
          <p:spPr>
            <a:xfrm>
              <a:off x="2435181" y="4488439"/>
              <a:ext cx="1553700" cy="199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700" u="none" cap="none" strike="noStrike">
                  <a:solidFill>
                    <a:srgbClr val="FFFFFF"/>
                  </a:solidFill>
                </a:rPr>
                <a:t>No framework</a:t>
              </a:r>
              <a:endParaRPr b="1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9" name="Google Shape;169;p8"/>
          <p:cNvGrpSpPr/>
          <p:nvPr/>
        </p:nvGrpSpPr>
        <p:grpSpPr>
          <a:xfrm>
            <a:off x="1200150" y="2915093"/>
            <a:ext cx="1185000" cy="798300"/>
            <a:chOff x="1200150" y="2915093"/>
            <a:chExt cx="1185000" cy="798300"/>
          </a:xfrm>
        </p:grpSpPr>
        <p:sp>
          <p:nvSpPr>
            <p:cNvPr id="170" name="Google Shape;170;p8"/>
            <p:cNvSpPr/>
            <p:nvPr/>
          </p:nvSpPr>
          <p:spPr>
            <a:xfrm>
              <a:off x="1200150" y="2915093"/>
              <a:ext cx="1185000" cy="798300"/>
            </a:xfrm>
            <a:prstGeom prst="rect">
              <a:avLst/>
            </a:prstGeom>
            <a:solidFill>
              <a:srgbClr val="FFD700">
                <a:alpha val="34900"/>
              </a:srgbClr>
            </a:solidFill>
            <a:ln cap="flat" cmpd="sng" w="25400">
              <a:solidFill>
                <a:srgbClr val="000000">
                  <a:alpha val="0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" name="Google Shape;171;p8"/>
            <p:cNvSpPr/>
            <p:nvPr/>
          </p:nvSpPr>
          <p:spPr>
            <a:xfrm>
              <a:off x="1392062" y="3203648"/>
              <a:ext cx="809700" cy="199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6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5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OpenAI Agents SDK</a:t>
              </a:r>
              <a:endPara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2" name="Google Shape;172;p8"/>
          <p:cNvGrpSpPr/>
          <p:nvPr/>
        </p:nvGrpSpPr>
        <p:grpSpPr>
          <a:xfrm>
            <a:off x="1200150" y="1524000"/>
            <a:ext cx="1839600" cy="801000"/>
            <a:chOff x="1200150" y="1524000"/>
            <a:chExt cx="1839600" cy="801000"/>
          </a:xfrm>
        </p:grpSpPr>
        <p:sp>
          <p:nvSpPr>
            <p:cNvPr id="173" name="Google Shape;173;p8"/>
            <p:cNvSpPr/>
            <p:nvPr/>
          </p:nvSpPr>
          <p:spPr>
            <a:xfrm>
              <a:off x="1200150" y="1524000"/>
              <a:ext cx="1839600" cy="801000"/>
            </a:xfrm>
            <a:prstGeom prst="rect">
              <a:avLst/>
            </a:prstGeom>
            <a:solidFill>
              <a:srgbClr val="FF7800">
                <a:alpha val="34900"/>
              </a:srgbClr>
            </a:solidFill>
            <a:ln cap="flat" cmpd="sng" w="25400">
              <a:solidFill>
                <a:srgbClr val="000000">
                  <a:alpha val="0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" name="Google Shape;174;p8"/>
            <p:cNvSpPr/>
            <p:nvPr/>
          </p:nvSpPr>
          <p:spPr>
            <a:xfrm>
              <a:off x="1343025" y="1828682"/>
              <a:ext cx="1553700" cy="199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700">
                  <a:solidFill>
                    <a:srgbClr val="FFFFFF"/>
                  </a:solidFill>
                </a:rPr>
                <a:t>CrewAI</a:t>
              </a:r>
              <a:endPara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5" name="Google Shape;175;p8"/>
          <p:cNvGrpSpPr/>
          <p:nvPr/>
        </p:nvGrpSpPr>
        <p:grpSpPr>
          <a:xfrm>
            <a:off x="3371849" y="1524000"/>
            <a:ext cx="1839600" cy="801000"/>
            <a:chOff x="3371849" y="1524000"/>
            <a:chExt cx="1839600" cy="801000"/>
          </a:xfrm>
        </p:grpSpPr>
        <p:sp>
          <p:nvSpPr>
            <p:cNvPr id="176" name="Google Shape;176;p8"/>
            <p:cNvSpPr/>
            <p:nvPr/>
          </p:nvSpPr>
          <p:spPr>
            <a:xfrm>
              <a:off x="3371849" y="1524000"/>
              <a:ext cx="1839600" cy="801000"/>
            </a:xfrm>
            <a:prstGeom prst="rect">
              <a:avLst/>
            </a:prstGeom>
            <a:solidFill>
              <a:srgbClr val="FF7800">
                <a:alpha val="34900"/>
              </a:srgbClr>
            </a:solidFill>
            <a:ln cap="flat" cmpd="sng" w="25400">
              <a:solidFill>
                <a:srgbClr val="000000">
                  <a:alpha val="0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" name="Google Shape;177;p8"/>
            <p:cNvSpPr/>
            <p:nvPr/>
          </p:nvSpPr>
          <p:spPr>
            <a:xfrm>
              <a:off x="3514725" y="1828682"/>
              <a:ext cx="1553700" cy="199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700">
                  <a:solidFill>
                    <a:srgbClr val="FFFFFF"/>
                  </a:solidFill>
                </a:rPr>
                <a:t>LangGraph / LangChain</a:t>
              </a:r>
              <a:endPara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8" name="Google Shape;178;p8"/>
          <p:cNvSpPr/>
          <p:nvPr/>
        </p:nvSpPr>
        <p:spPr>
          <a:xfrm>
            <a:off x="360100" y="5554392"/>
            <a:ext cx="5281800" cy="5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>
                <a:solidFill>
                  <a:srgbClr val="FFFFFF"/>
                </a:solidFill>
              </a:rPr>
              <a:t>Many more! By the end, I will tell you how to pick the right one for your project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79" name="Google Shape;179;p8"/>
          <p:cNvGrpSpPr/>
          <p:nvPr/>
        </p:nvGrpSpPr>
        <p:grpSpPr>
          <a:xfrm>
            <a:off x="2635050" y="2912250"/>
            <a:ext cx="1185000" cy="798300"/>
            <a:chOff x="2635050" y="2912250"/>
            <a:chExt cx="1185000" cy="798300"/>
          </a:xfrm>
        </p:grpSpPr>
        <p:sp>
          <p:nvSpPr>
            <p:cNvPr id="180" name="Google Shape;180;p8"/>
            <p:cNvSpPr/>
            <p:nvPr/>
          </p:nvSpPr>
          <p:spPr>
            <a:xfrm>
              <a:off x="2635050" y="2912250"/>
              <a:ext cx="1185000" cy="798300"/>
            </a:xfrm>
            <a:prstGeom prst="rect">
              <a:avLst/>
            </a:prstGeom>
            <a:solidFill>
              <a:srgbClr val="FFD700">
                <a:alpha val="34900"/>
              </a:srgbClr>
            </a:solidFill>
            <a:ln cap="flat" cmpd="sng" w="25400">
              <a:solidFill>
                <a:srgbClr val="000000">
                  <a:alpha val="0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" name="Google Shape;181;p8"/>
            <p:cNvSpPr/>
            <p:nvPr/>
          </p:nvSpPr>
          <p:spPr>
            <a:xfrm>
              <a:off x="2811131" y="3203648"/>
              <a:ext cx="809700" cy="199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6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50">
                  <a:solidFill>
                    <a:srgbClr val="FFFFFF"/>
                  </a:solidFill>
                </a:rPr>
                <a:t>Google</a:t>
              </a:r>
              <a:br>
                <a:rPr lang="en-US" sz="1550">
                  <a:solidFill>
                    <a:srgbClr val="FFFFFF"/>
                  </a:solidFill>
                </a:rPr>
              </a:br>
              <a:r>
                <a:rPr lang="en-US" sz="1550">
                  <a:solidFill>
                    <a:srgbClr val="FFFFFF"/>
                  </a:solidFill>
                </a:rPr>
                <a:t>ADK</a:t>
              </a:r>
              <a:endPara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2" name="Google Shape;182;p8"/>
          <p:cNvGrpSpPr/>
          <p:nvPr/>
        </p:nvGrpSpPr>
        <p:grpSpPr>
          <a:xfrm>
            <a:off x="4006650" y="2912250"/>
            <a:ext cx="1185000" cy="798300"/>
            <a:chOff x="4006650" y="2912250"/>
            <a:chExt cx="1185000" cy="798300"/>
          </a:xfrm>
        </p:grpSpPr>
        <p:sp>
          <p:nvSpPr>
            <p:cNvPr id="183" name="Google Shape;183;p8"/>
            <p:cNvSpPr/>
            <p:nvPr/>
          </p:nvSpPr>
          <p:spPr>
            <a:xfrm>
              <a:off x="4006650" y="2912250"/>
              <a:ext cx="1185000" cy="798300"/>
            </a:xfrm>
            <a:prstGeom prst="rect">
              <a:avLst/>
            </a:prstGeom>
            <a:solidFill>
              <a:srgbClr val="FFD700">
                <a:alpha val="34900"/>
              </a:srgbClr>
            </a:solidFill>
            <a:ln cap="flat" cmpd="sng" w="25400">
              <a:solidFill>
                <a:srgbClr val="000000">
                  <a:alpha val="0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" name="Google Shape;184;p8"/>
            <p:cNvSpPr/>
            <p:nvPr/>
          </p:nvSpPr>
          <p:spPr>
            <a:xfrm>
              <a:off x="4182731" y="3203648"/>
              <a:ext cx="809700" cy="199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6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50">
                  <a:solidFill>
                    <a:srgbClr val="FFFFFF"/>
                  </a:solidFill>
                </a:rPr>
                <a:t>AWS Strands Agents</a:t>
              </a:r>
              <a:endPara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9"/>
          <p:cNvSpPr/>
          <p:nvPr/>
        </p:nvSpPr>
        <p:spPr>
          <a:xfrm>
            <a:off x="571500" y="586160"/>
            <a:ext cx="9064898" cy="4766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37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"Tools" give LLMs </a:t>
            </a:r>
            <a:r>
              <a:rPr lang="en-US" sz="330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abilities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9"/>
          <p:cNvSpPr/>
          <p:nvPr/>
        </p:nvSpPr>
        <p:spPr>
          <a:xfrm>
            <a:off x="762000" y="1675284"/>
            <a:ext cx="6072783" cy="6500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T</a:t>
            </a:r>
            <a:r>
              <a:rPr b="0" i="0" lang="en-US" sz="180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he power to carry out actions like</a:t>
            </a:r>
            <a:br>
              <a:rPr b="0" i="0" lang="en-US" sz="180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</a:br>
            <a:r>
              <a:rPr b="1" i="0" lang="en-US" sz="1800" u="none" cap="none" strike="noStrike">
                <a:solidFill>
                  <a:srgbClr val="FFD700"/>
                </a:solidFill>
                <a:latin typeface="Roboto Slab"/>
                <a:ea typeface="Roboto Slab"/>
                <a:cs typeface="Roboto Slab"/>
                <a:sym typeface="Roboto Slab"/>
              </a:rPr>
              <a:t>query a database</a:t>
            </a:r>
            <a:r>
              <a:rPr b="0" i="0" lang="en-US" sz="180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 or </a:t>
            </a:r>
            <a:r>
              <a:rPr b="1" lang="en-US" sz="1800">
                <a:solidFill>
                  <a:srgbClr val="FFD700"/>
                </a:solidFill>
                <a:latin typeface="Roboto Slab"/>
                <a:ea typeface="Roboto Slab"/>
                <a:cs typeface="Roboto Slab"/>
                <a:sym typeface="Roboto Slab"/>
              </a:rPr>
              <a:t>look up stock prices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9"/>
          <p:cNvSpPr/>
          <p:nvPr/>
        </p:nvSpPr>
        <p:spPr>
          <a:xfrm>
            <a:off x="762000" y="2761124"/>
            <a:ext cx="4954200" cy="6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Sounds </a:t>
            </a:r>
            <a:r>
              <a:rPr b="1" i="0" lang="en-US" sz="1800" u="none" cap="none" strike="noStrike">
                <a:solidFill>
                  <a:srgbClr val="FF7800"/>
                </a:solidFill>
                <a:latin typeface="Roboto Slab"/>
                <a:ea typeface="Roboto Slab"/>
                <a:cs typeface="Roboto Slab"/>
                <a:sym typeface="Roboto Slab"/>
              </a:rPr>
              <a:t>spooky</a:t>
            </a:r>
            <a:r>
              <a:rPr b="0" i="0" lang="en-US" sz="180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, right? OpenAI</a:t>
            </a:r>
            <a:br>
              <a:rPr b="0" i="0" lang="en-US" sz="180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</a:br>
            <a:r>
              <a:rPr b="0" i="0" lang="en-US" sz="180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can reach into my computer? A large language </a:t>
            </a:r>
            <a:r>
              <a:rPr lang="en-US" sz="180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model generates tokens -what makes it suddenly decide to run code on my computer?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9"/>
          <p:cNvSpPr/>
          <p:nvPr/>
        </p:nvSpPr>
        <p:spPr>
          <a:xfrm>
            <a:off x="762000" y="5144154"/>
            <a:ext cx="4123800" cy="3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The reality is a bit </a:t>
            </a:r>
            <a:r>
              <a:rPr b="1" i="0" lang="en-US" sz="1800" u="none" cap="none" strike="noStrike">
                <a:solidFill>
                  <a:srgbClr val="00BFFF"/>
                </a:solidFill>
                <a:latin typeface="Roboto Slab"/>
                <a:ea typeface="Roboto Slab"/>
                <a:cs typeface="Roboto Slab"/>
                <a:sym typeface="Roboto Slab"/>
              </a:rPr>
              <a:t>mundane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-1193979e.png" id="199" name="Google Shape;199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6250" y="912414"/>
            <a:ext cx="381000" cy="47625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10"/>
          <p:cNvSpPr/>
          <p:nvPr/>
        </p:nvSpPr>
        <p:spPr>
          <a:xfrm>
            <a:off x="476250" y="399827"/>
            <a:ext cx="11334750" cy="3656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374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31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Tool Calling - in theory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0"/>
          <p:cNvSpPr/>
          <p:nvPr/>
        </p:nvSpPr>
        <p:spPr>
          <a:xfrm>
            <a:off x="476250" y="1008906"/>
            <a:ext cx="11334750" cy="2877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94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An LLM Equiped with a tool seems magical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0"/>
          <p:cNvSpPr/>
          <p:nvPr/>
        </p:nvSpPr>
        <p:spPr>
          <a:xfrm>
            <a:off x="476250" y="1663850"/>
            <a:ext cx="1705500" cy="1705500"/>
          </a:xfrm>
          <a:prstGeom prst="ellipse">
            <a:avLst/>
          </a:prstGeom>
          <a:solidFill>
            <a:srgbClr val="75C5EA"/>
          </a:solidFill>
          <a:ln>
            <a:noFill/>
          </a:ln>
        </p:spPr>
        <p:txBody>
          <a:bodyPr anchorCtr="0" anchor="ctr" bIns="38800" lIns="3875" spcFirstLastPara="1" rIns="3875" wrap="square" tIns="388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latin typeface="Montserrat"/>
                <a:ea typeface="Montserrat"/>
                <a:cs typeface="Montserrat"/>
                <a:sym typeface="Montserrat"/>
              </a:rPr>
              <a:t>User</a:t>
            </a:r>
            <a:endParaRPr b="1" sz="20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03" name="Google Shape;203;p10"/>
          <p:cNvCxnSpPr>
            <a:endCxn id="204" idx="2"/>
          </p:cNvCxnSpPr>
          <p:nvPr/>
        </p:nvCxnSpPr>
        <p:spPr>
          <a:xfrm>
            <a:off x="2181700" y="2524775"/>
            <a:ext cx="431700" cy="0"/>
          </a:xfrm>
          <a:prstGeom prst="straightConnector1">
            <a:avLst/>
          </a:prstGeom>
          <a:noFill/>
          <a:ln cap="flat" cmpd="sng" w="28575">
            <a:solidFill>
              <a:srgbClr val="00BFFF"/>
            </a:solidFill>
            <a:prstDash val="solid"/>
            <a:round/>
            <a:headEnd len="med" w="med" type="stealth"/>
            <a:tailEnd len="med" w="med" type="stealth"/>
          </a:ln>
        </p:spPr>
      </p:cxnSp>
      <p:sp>
        <p:nvSpPr>
          <p:cNvPr id="204" name="Google Shape;204;p10"/>
          <p:cNvSpPr/>
          <p:nvPr/>
        </p:nvSpPr>
        <p:spPr>
          <a:xfrm>
            <a:off x="2613400" y="1672025"/>
            <a:ext cx="1705500" cy="1705500"/>
          </a:xfrm>
          <a:prstGeom prst="ellipse">
            <a:avLst/>
          </a:prstGeom>
          <a:solidFill>
            <a:srgbClr val="75C5EA"/>
          </a:solidFill>
          <a:ln>
            <a:noFill/>
          </a:ln>
        </p:spPr>
        <p:txBody>
          <a:bodyPr anchorCtr="0" anchor="ctr" bIns="38800" lIns="3875" spcFirstLastPara="1" rIns="3875" wrap="square" tIns="388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latin typeface="Montserrat"/>
                <a:ea typeface="Montserrat"/>
                <a:cs typeface="Montserrat"/>
                <a:sym typeface="Montserrat"/>
              </a:rPr>
              <a:t>Software</a:t>
            </a:r>
            <a:endParaRPr b="1" sz="2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5" name="Google Shape;205;p10"/>
          <p:cNvSpPr/>
          <p:nvPr/>
        </p:nvSpPr>
        <p:spPr>
          <a:xfrm>
            <a:off x="4750550" y="1672025"/>
            <a:ext cx="1705500" cy="170550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txBody>
          <a:bodyPr anchorCtr="0" anchor="ctr" bIns="38800" lIns="3875" spcFirstLastPara="1" rIns="3875" wrap="square" tIns="388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latin typeface="Montserrat"/>
                <a:ea typeface="Montserrat"/>
                <a:cs typeface="Montserrat"/>
                <a:sym typeface="Montserrat"/>
              </a:rPr>
              <a:t>LLM</a:t>
            </a:r>
            <a:endParaRPr b="1" sz="2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6" name="Google Shape;206;p10"/>
          <p:cNvSpPr/>
          <p:nvPr/>
        </p:nvSpPr>
        <p:spPr>
          <a:xfrm>
            <a:off x="4750562" y="3752875"/>
            <a:ext cx="1705500" cy="1705500"/>
          </a:xfrm>
          <a:prstGeom prst="ellipse">
            <a:avLst/>
          </a:prstGeom>
          <a:solidFill>
            <a:srgbClr val="FF7800"/>
          </a:solidFill>
          <a:ln>
            <a:noFill/>
          </a:ln>
        </p:spPr>
        <p:txBody>
          <a:bodyPr anchorCtr="0" anchor="ctr" bIns="38800" lIns="3875" spcFirstLastPara="1" rIns="3875" wrap="square" tIns="388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Tools</a:t>
            </a:r>
            <a:endParaRPr b="1" sz="2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7" name="Google Shape;207;p10"/>
          <p:cNvSpPr txBox="1"/>
          <p:nvPr/>
        </p:nvSpPr>
        <p:spPr>
          <a:xfrm>
            <a:off x="4132899" y="5449025"/>
            <a:ext cx="3000000" cy="14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42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rPr>
              <a:t>Search the internet</a:t>
            </a:r>
            <a:endParaRPr sz="1500">
              <a:solidFill>
                <a:schemeClr val="lt1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ctr">
              <a:lnSpc>
                <a:spcPct val="142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rPr>
              <a:t>Query a database</a:t>
            </a:r>
            <a:endParaRPr sz="1500">
              <a:solidFill>
                <a:schemeClr val="lt1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ctr">
              <a:lnSpc>
                <a:spcPct val="142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rPr>
              <a:t>Edit a Google Sheet</a:t>
            </a:r>
            <a:endParaRPr sz="1500">
              <a:solidFill>
                <a:schemeClr val="lt1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ctr">
              <a:lnSpc>
                <a:spcPct val="142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rPr>
              <a:t>Look up stock prices</a:t>
            </a:r>
            <a:endParaRPr sz="1500">
              <a:solidFill>
                <a:schemeClr val="lt1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cxnSp>
        <p:nvCxnSpPr>
          <p:cNvPr id="208" name="Google Shape;208;p10"/>
          <p:cNvCxnSpPr>
            <a:stCxn id="204" idx="6"/>
            <a:endCxn id="205" idx="2"/>
          </p:cNvCxnSpPr>
          <p:nvPr/>
        </p:nvCxnSpPr>
        <p:spPr>
          <a:xfrm>
            <a:off x="4318900" y="2524775"/>
            <a:ext cx="431700" cy="0"/>
          </a:xfrm>
          <a:prstGeom prst="straightConnector1">
            <a:avLst/>
          </a:prstGeom>
          <a:noFill/>
          <a:ln cap="flat" cmpd="sng" w="28575">
            <a:solidFill>
              <a:srgbClr val="FFD700"/>
            </a:solidFill>
            <a:prstDash val="solid"/>
            <a:round/>
            <a:headEnd len="med" w="med" type="stealth"/>
            <a:tailEnd len="med" w="med" type="stealth"/>
          </a:ln>
        </p:spPr>
      </p:cxnSp>
      <p:cxnSp>
        <p:nvCxnSpPr>
          <p:cNvPr id="209" name="Google Shape;209;p10"/>
          <p:cNvCxnSpPr>
            <a:stCxn id="206" idx="0"/>
            <a:endCxn id="205" idx="4"/>
          </p:cNvCxnSpPr>
          <p:nvPr/>
        </p:nvCxnSpPr>
        <p:spPr>
          <a:xfrm rot="10800000">
            <a:off x="5603312" y="3377575"/>
            <a:ext cx="0" cy="375300"/>
          </a:xfrm>
          <a:prstGeom prst="straightConnector1">
            <a:avLst/>
          </a:prstGeom>
          <a:noFill/>
          <a:ln cap="flat" cmpd="sng" w="28575">
            <a:solidFill>
              <a:srgbClr val="FF7800"/>
            </a:solidFill>
            <a:prstDash val="solid"/>
            <a:round/>
            <a:headEnd len="med" w="med" type="stealth"/>
            <a:tailEnd len="med" w="med" type="stealth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-1193979e.png" id="215" name="Google Shape;215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6250" y="912414"/>
            <a:ext cx="381000" cy="47625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11"/>
          <p:cNvSpPr/>
          <p:nvPr/>
        </p:nvSpPr>
        <p:spPr>
          <a:xfrm>
            <a:off x="476250" y="399827"/>
            <a:ext cx="113349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374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31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Tool Calling - in </a:t>
            </a:r>
            <a:r>
              <a:rPr lang="en-US" sz="2531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practice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1"/>
          <p:cNvSpPr/>
          <p:nvPr/>
        </p:nvSpPr>
        <p:spPr>
          <a:xfrm>
            <a:off x="476250" y="1008906"/>
            <a:ext cx="11334900" cy="2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94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The reality is more mundane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1"/>
          <p:cNvSpPr/>
          <p:nvPr/>
        </p:nvSpPr>
        <p:spPr>
          <a:xfrm>
            <a:off x="476250" y="1663850"/>
            <a:ext cx="1705500" cy="1705500"/>
          </a:xfrm>
          <a:prstGeom prst="ellipse">
            <a:avLst/>
          </a:prstGeom>
          <a:solidFill>
            <a:srgbClr val="75C5EA"/>
          </a:solidFill>
          <a:ln>
            <a:noFill/>
          </a:ln>
        </p:spPr>
        <p:txBody>
          <a:bodyPr anchorCtr="0" anchor="ctr" bIns="38800" lIns="3875" spcFirstLastPara="1" rIns="3875" wrap="square" tIns="388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latin typeface="Montserrat"/>
                <a:ea typeface="Montserrat"/>
                <a:cs typeface="Montserrat"/>
                <a:sym typeface="Montserrat"/>
              </a:rPr>
              <a:t>User</a:t>
            </a:r>
            <a:endParaRPr b="1" sz="20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19" name="Google Shape;219;p11"/>
          <p:cNvCxnSpPr>
            <a:endCxn id="220" idx="2"/>
          </p:cNvCxnSpPr>
          <p:nvPr/>
        </p:nvCxnSpPr>
        <p:spPr>
          <a:xfrm>
            <a:off x="2181700" y="2524775"/>
            <a:ext cx="431700" cy="0"/>
          </a:xfrm>
          <a:prstGeom prst="straightConnector1">
            <a:avLst/>
          </a:prstGeom>
          <a:noFill/>
          <a:ln cap="flat" cmpd="sng" w="28575">
            <a:solidFill>
              <a:srgbClr val="00BFFF"/>
            </a:solidFill>
            <a:prstDash val="solid"/>
            <a:round/>
            <a:headEnd len="med" w="med" type="stealth"/>
            <a:tailEnd len="med" w="med" type="stealth"/>
          </a:ln>
        </p:spPr>
      </p:cxnSp>
      <p:sp>
        <p:nvSpPr>
          <p:cNvPr id="220" name="Google Shape;220;p11"/>
          <p:cNvSpPr/>
          <p:nvPr/>
        </p:nvSpPr>
        <p:spPr>
          <a:xfrm>
            <a:off x="2613400" y="1672025"/>
            <a:ext cx="1705500" cy="1705500"/>
          </a:xfrm>
          <a:prstGeom prst="ellipse">
            <a:avLst/>
          </a:prstGeom>
          <a:solidFill>
            <a:srgbClr val="75C5EA"/>
          </a:solidFill>
          <a:ln>
            <a:noFill/>
          </a:ln>
        </p:spPr>
        <p:txBody>
          <a:bodyPr anchorCtr="0" anchor="ctr" bIns="38800" lIns="3875" spcFirstLastPara="1" rIns="3875" wrap="square" tIns="388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latin typeface="Montserrat"/>
                <a:ea typeface="Montserrat"/>
                <a:cs typeface="Montserrat"/>
                <a:sym typeface="Montserrat"/>
              </a:rPr>
              <a:t>Software</a:t>
            </a:r>
            <a:endParaRPr b="1" sz="2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1" name="Google Shape;221;p11"/>
          <p:cNvSpPr/>
          <p:nvPr/>
        </p:nvSpPr>
        <p:spPr>
          <a:xfrm>
            <a:off x="4750550" y="1672025"/>
            <a:ext cx="1705500" cy="170550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txBody>
          <a:bodyPr anchorCtr="0" anchor="ctr" bIns="38800" lIns="3875" spcFirstLastPara="1" rIns="3875" wrap="square" tIns="388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latin typeface="Montserrat"/>
                <a:ea typeface="Montserrat"/>
                <a:cs typeface="Montserrat"/>
                <a:sym typeface="Montserrat"/>
              </a:rPr>
              <a:t>LLM</a:t>
            </a:r>
            <a:endParaRPr b="1" sz="2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2" name="Google Shape;222;p11"/>
          <p:cNvSpPr/>
          <p:nvPr/>
        </p:nvSpPr>
        <p:spPr>
          <a:xfrm>
            <a:off x="2668595" y="3752875"/>
            <a:ext cx="1705500" cy="1705500"/>
          </a:xfrm>
          <a:prstGeom prst="ellipse">
            <a:avLst/>
          </a:prstGeom>
          <a:solidFill>
            <a:srgbClr val="FF7800"/>
          </a:solidFill>
          <a:ln>
            <a:noFill/>
          </a:ln>
        </p:spPr>
        <p:txBody>
          <a:bodyPr anchorCtr="0" anchor="ctr" bIns="38800" lIns="3875" spcFirstLastPara="1" rIns="3875" wrap="square" tIns="388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Tools</a:t>
            </a:r>
            <a:endParaRPr b="1" sz="2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3" name="Google Shape;223;p11"/>
          <p:cNvSpPr txBox="1"/>
          <p:nvPr/>
        </p:nvSpPr>
        <p:spPr>
          <a:xfrm>
            <a:off x="2050932" y="5449025"/>
            <a:ext cx="3000000" cy="14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42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rPr>
              <a:t>Search the internet</a:t>
            </a:r>
            <a:endParaRPr sz="1500">
              <a:solidFill>
                <a:schemeClr val="lt1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ctr">
              <a:lnSpc>
                <a:spcPct val="142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rPr>
              <a:t>Query a database</a:t>
            </a:r>
            <a:endParaRPr sz="1500">
              <a:solidFill>
                <a:schemeClr val="lt1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ctr">
              <a:lnSpc>
                <a:spcPct val="142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rPr>
              <a:t>Edit a Google Sheet</a:t>
            </a:r>
            <a:endParaRPr sz="1500">
              <a:solidFill>
                <a:schemeClr val="lt1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ctr">
              <a:lnSpc>
                <a:spcPct val="142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rPr>
              <a:t>Look up stock prices</a:t>
            </a:r>
            <a:endParaRPr sz="1500">
              <a:solidFill>
                <a:schemeClr val="lt1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cxnSp>
        <p:nvCxnSpPr>
          <p:cNvPr id="224" name="Google Shape;224;p11"/>
          <p:cNvCxnSpPr>
            <a:stCxn id="220" idx="6"/>
            <a:endCxn id="221" idx="2"/>
          </p:cNvCxnSpPr>
          <p:nvPr/>
        </p:nvCxnSpPr>
        <p:spPr>
          <a:xfrm>
            <a:off x="4318900" y="2524775"/>
            <a:ext cx="431700" cy="0"/>
          </a:xfrm>
          <a:prstGeom prst="straightConnector1">
            <a:avLst/>
          </a:prstGeom>
          <a:noFill/>
          <a:ln cap="flat" cmpd="sng" w="28575">
            <a:solidFill>
              <a:srgbClr val="FFD700"/>
            </a:solidFill>
            <a:prstDash val="solid"/>
            <a:round/>
            <a:headEnd len="med" w="med" type="stealth"/>
            <a:tailEnd len="med" w="med" type="stealth"/>
          </a:ln>
        </p:spPr>
      </p:cxnSp>
      <p:cxnSp>
        <p:nvCxnSpPr>
          <p:cNvPr id="225" name="Google Shape;225;p11"/>
          <p:cNvCxnSpPr>
            <a:stCxn id="222" idx="0"/>
            <a:endCxn id="221" idx="4"/>
          </p:cNvCxnSpPr>
          <p:nvPr/>
        </p:nvCxnSpPr>
        <p:spPr>
          <a:xfrm flipH="1" rot="10800000">
            <a:off x="3521345" y="3377575"/>
            <a:ext cx="2082000" cy="375300"/>
          </a:xfrm>
          <a:prstGeom prst="straightConnector1">
            <a:avLst/>
          </a:prstGeom>
          <a:noFill/>
          <a:ln cap="flat" cmpd="sng" w="28575">
            <a:solidFill>
              <a:srgbClr val="FF7800"/>
            </a:solidFill>
            <a:prstDash val="solid"/>
            <a:round/>
            <a:headEnd len="med" w="med" type="stealth"/>
            <a:tailEnd len="med" w="med" type="stealth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2"/>
          <p:cNvSpPr/>
          <p:nvPr/>
        </p:nvSpPr>
        <p:spPr>
          <a:xfrm>
            <a:off x="409575" y="281360"/>
            <a:ext cx="9064898" cy="4766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37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Behold Tool use.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32" name="Google Shape;232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47625" y="676275"/>
            <a:ext cx="7345940" cy="63007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3"/>
          <p:cNvSpPr/>
          <p:nvPr/>
        </p:nvSpPr>
        <p:spPr>
          <a:xfrm>
            <a:off x="476250" y="399827"/>
            <a:ext cx="113349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374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31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The Agent Loop Feels Like This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3"/>
          <p:cNvSpPr/>
          <p:nvPr/>
        </p:nvSpPr>
        <p:spPr>
          <a:xfrm>
            <a:off x="662925" y="1564811"/>
            <a:ext cx="1776600" cy="1751400"/>
          </a:xfrm>
          <a:prstGeom prst="ellipse">
            <a:avLst/>
          </a:prstGeom>
          <a:solidFill>
            <a:srgbClr val="00BFFF"/>
          </a:solidFill>
          <a:ln>
            <a:noFill/>
          </a:ln>
        </p:spPr>
        <p:txBody>
          <a:bodyPr anchorCtr="0" anchor="ctr" bIns="29100" lIns="2900" spcFirstLastPara="1" rIns="2900" wrap="square" tIns="29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latin typeface="Montserrat"/>
                <a:ea typeface="Montserrat"/>
                <a:cs typeface="Montserrat"/>
                <a:sym typeface="Montserrat"/>
              </a:rPr>
              <a:t>Software</a:t>
            </a:r>
            <a:endParaRPr b="1" sz="2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0" name="Google Shape;240;p13"/>
          <p:cNvSpPr/>
          <p:nvPr/>
        </p:nvSpPr>
        <p:spPr>
          <a:xfrm>
            <a:off x="3177225" y="1564811"/>
            <a:ext cx="1776600" cy="175140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txBody>
          <a:bodyPr anchorCtr="0" anchor="ctr" bIns="29100" lIns="2900" spcFirstLastPara="1" rIns="2900" wrap="square" tIns="29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latin typeface="Montserrat"/>
                <a:ea typeface="Montserrat"/>
                <a:cs typeface="Montserrat"/>
                <a:sym typeface="Montserrat"/>
              </a:rPr>
              <a:t>LLM</a:t>
            </a:r>
            <a:endParaRPr b="1" sz="2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1" name="Google Shape;241;p13"/>
          <p:cNvSpPr/>
          <p:nvPr/>
        </p:nvSpPr>
        <p:spPr>
          <a:xfrm>
            <a:off x="3180375" y="3717086"/>
            <a:ext cx="1776600" cy="1751400"/>
          </a:xfrm>
          <a:prstGeom prst="ellipse">
            <a:avLst/>
          </a:prstGeom>
          <a:solidFill>
            <a:srgbClr val="FF7800"/>
          </a:solidFill>
          <a:ln>
            <a:noFill/>
          </a:ln>
        </p:spPr>
        <p:txBody>
          <a:bodyPr anchorCtr="0" anchor="ctr" bIns="29100" lIns="2900" spcFirstLastPara="1" rIns="2900" wrap="square" tIns="29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latin typeface="Montserrat"/>
                <a:ea typeface="Montserrat"/>
                <a:cs typeface="Montserrat"/>
                <a:sym typeface="Montserrat"/>
              </a:rPr>
              <a:t>Tools</a:t>
            </a:r>
            <a:br>
              <a:rPr b="1" lang="en-US" sz="1293">
                <a:latin typeface="Montserrat"/>
                <a:ea typeface="Montserrat"/>
                <a:cs typeface="Montserrat"/>
                <a:sym typeface="Montserrat"/>
              </a:rPr>
            </a:br>
            <a:endParaRPr b="1" sz="11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Montserrat"/>
                <a:ea typeface="Montserrat"/>
                <a:cs typeface="Montserrat"/>
                <a:sym typeface="Montserrat"/>
              </a:rPr>
              <a:t>• Search the internet</a:t>
            </a:r>
            <a:endParaRPr sz="11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Montserrat"/>
                <a:ea typeface="Montserrat"/>
                <a:cs typeface="Montserrat"/>
                <a:sym typeface="Montserrat"/>
              </a:rPr>
              <a:t>• Query the database</a:t>
            </a:r>
            <a:endParaRPr sz="11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Montserrat"/>
                <a:ea typeface="Montserrat"/>
                <a:cs typeface="Montserrat"/>
                <a:sym typeface="Montserrat"/>
              </a:rPr>
              <a:t>• Run some code</a:t>
            </a:r>
            <a:endParaRPr b="1" sz="11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2" name="Google Shape;242;p13"/>
          <p:cNvSpPr/>
          <p:nvPr/>
        </p:nvSpPr>
        <p:spPr>
          <a:xfrm rot="2485420">
            <a:off x="2556724" y="1671300"/>
            <a:ext cx="503309" cy="479715"/>
          </a:xfrm>
          <a:prstGeom prst="bentArrow">
            <a:avLst>
              <a:gd fmla="val 25000" name="adj1"/>
              <a:gd fmla="val 25000" name="adj2"/>
              <a:gd fmla="val 25000" name="adj3"/>
              <a:gd fmla="val 43750" name="adj4"/>
            </a:avLst>
          </a:prstGeom>
          <a:solidFill>
            <a:srgbClr val="FFD700"/>
          </a:solidFill>
          <a:ln cap="flat" cmpd="sng" w="9525">
            <a:solidFill>
              <a:srgbClr val="0321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3" name="Google Shape;243;p13"/>
          <p:cNvSpPr/>
          <p:nvPr/>
        </p:nvSpPr>
        <p:spPr>
          <a:xfrm rot="-8314580">
            <a:off x="2535274" y="2656875"/>
            <a:ext cx="503309" cy="479715"/>
          </a:xfrm>
          <a:prstGeom prst="bentArrow">
            <a:avLst>
              <a:gd fmla="val 25000" name="adj1"/>
              <a:gd fmla="val 25000" name="adj2"/>
              <a:gd fmla="val 25000" name="adj3"/>
              <a:gd fmla="val 43750" name="adj4"/>
            </a:avLst>
          </a:prstGeom>
          <a:solidFill>
            <a:srgbClr val="00BFFF"/>
          </a:solidFill>
          <a:ln cap="flat" cmpd="sng" w="9525">
            <a:solidFill>
              <a:srgbClr val="0321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44" name="Google Shape;244;p13"/>
          <p:cNvCxnSpPr>
            <a:endCxn id="241" idx="0"/>
          </p:cNvCxnSpPr>
          <p:nvPr/>
        </p:nvCxnSpPr>
        <p:spPr>
          <a:xfrm>
            <a:off x="4065375" y="3316286"/>
            <a:ext cx="3300" cy="400800"/>
          </a:xfrm>
          <a:prstGeom prst="straightConnector1">
            <a:avLst/>
          </a:prstGeom>
          <a:noFill/>
          <a:ln cap="flat" cmpd="sng" w="28575">
            <a:solidFill>
              <a:srgbClr val="FF7800"/>
            </a:solidFill>
            <a:prstDash val="solid"/>
            <a:round/>
            <a:headEnd len="med" w="med" type="stealth"/>
            <a:tailEnd len="med" w="med" type="stealth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4"/>
          <p:cNvSpPr/>
          <p:nvPr/>
        </p:nvSpPr>
        <p:spPr>
          <a:xfrm>
            <a:off x="476250" y="399827"/>
            <a:ext cx="113349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374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31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The Agent Loop Is Actually This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4"/>
          <p:cNvSpPr/>
          <p:nvPr/>
        </p:nvSpPr>
        <p:spPr>
          <a:xfrm>
            <a:off x="662925" y="1564811"/>
            <a:ext cx="1776600" cy="1751400"/>
          </a:xfrm>
          <a:prstGeom prst="ellipse">
            <a:avLst/>
          </a:prstGeom>
          <a:solidFill>
            <a:srgbClr val="00BFFF"/>
          </a:solidFill>
          <a:ln>
            <a:noFill/>
          </a:ln>
        </p:spPr>
        <p:txBody>
          <a:bodyPr anchorCtr="0" anchor="ctr" bIns="29100" lIns="2900" spcFirstLastPara="1" rIns="2900" wrap="square" tIns="29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latin typeface="Montserrat"/>
                <a:ea typeface="Montserrat"/>
                <a:cs typeface="Montserrat"/>
                <a:sym typeface="Montserrat"/>
              </a:rPr>
              <a:t>Software</a:t>
            </a:r>
            <a:endParaRPr b="1" sz="2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2" name="Google Shape;252;p14"/>
          <p:cNvSpPr/>
          <p:nvPr/>
        </p:nvSpPr>
        <p:spPr>
          <a:xfrm>
            <a:off x="3177225" y="1564811"/>
            <a:ext cx="1776600" cy="175140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txBody>
          <a:bodyPr anchorCtr="0" anchor="ctr" bIns="29100" lIns="2900" spcFirstLastPara="1" rIns="2900" wrap="square" tIns="29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latin typeface="Montserrat"/>
                <a:ea typeface="Montserrat"/>
                <a:cs typeface="Montserrat"/>
                <a:sym typeface="Montserrat"/>
              </a:rPr>
              <a:t>LLM</a:t>
            </a:r>
            <a:endParaRPr b="1" sz="2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3" name="Google Shape;253;p14"/>
          <p:cNvSpPr/>
          <p:nvPr/>
        </p:nvSpPr>
        <p:spPr>
          <a:xfrm>
            <a:off x="662925" y="3717011"/>
            <a:ext cx="1776600" cy="1751400"/>
          </a:xfrm>
          <a:prstGeom prst="ellipse">
            <a:avLst/>
          </a:prstGeom>
          <a:solidFill>
            <a:srgbClr val="FF7800"/>
          </a:solidFill>
          <a:ln>
            <a:noFill/>
          </a:ln>
        </p:spPr>
        <p:txBody>
          <a:bodyPr anchorCtr="0" anchor="ctr" bIns="29100" lIns="2900" spcFirstLastPara="1" rIns="2900" wrap="square" tIns="29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latin typeface="Montserrat"/>
                <a:ea typeface="Montserrat"/>
                <a:cs typeface="Montserrat"/>
                <a:sym typeface="Montserrat"/>
              </a:rPr>
              <a:t>Tools</a:t>
            </a:r>
            <a:br>
              <a:rPr b="1" lang="en-US" sz="1293">
                <a:latin typeface="Montserrat"/>
                <a:ea typeface="Montserrat"/>
                <a:cs typeface="Montserrat"/>
                <a:sym typeface="Montserrat"/>
              </a:rPr>
            </a:br>
            <a:endParaRPr b="1" sz="11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Montserrat"/>
                <a:ea typeface="Montserrat"/>
                <a:cs typeface="Montserrat"/>
                <a:sym typeface="Montserrat"/>
              </a:rPr>
              <a:t>• Search the internet</a:t>
            </a:r>
            <a:endParaRPr sz="11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Montserrat"/>
                <a:ea typeface="Montserrat"/>
                <a:cs typeface="Montserrat"/>
                <a:sym typeface="Montserrat"/>
              </a:rPr>
              <a:t>• Query the database</a:t>
            </a:r>
            <a:endParaRPr sz="11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Montserrat"/>
                <a:ea typeface="Montserrat"/>
                <a:cs typeface="Montserrat"/>
                <a:sym typeface="Montserrat"/>
              </a:rPr>
              <a:t>• Run some code</a:t>
            </a:r>
            <a:endParaRPr b="1" sz="11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4" name="Google Shape;254;p14"/>
          <p:cNvSpPr/>
          <p:nvPr/>
        </p:nvSpPr>
        <p:spPr>
          <a:xfrm rot="2485420">
            <a:off x="2556724" y="1671300"/>
            <a:ext cx="503309" cy="479715"/>
          </a:xfrm>
          <a:prstGeom prst="bentArrow">
            <a:avLst>
              <a:gd fmla="val 25000" name="adj1"/>
              <a:gd fmla="val 25000" name="adj2"/>
              <a:gd fmla="val 25000" name="adj3"/>
              <a:gd fmla="val 43750" name="adj4"/>
            </a:avLst>
          </a:prstGeom>
          <a:solidFill>
            <a:srgbClr val="FFD700"/>
          </a:solidFill>
          <a:ln cap="flat" cmpd="sng" w="9525">
            <a:solidFill>
              <a:srgbClr val="0321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5" name="Google Shape;255;p14"/>
          <p:cNvSpPr/>
          <p:nvPr/>
        </p:nvSpPr>
        <p:spPr>
          <a:xfrm rot="-8314580">
            <a:off x="2535274" y="2656875"/>
            <a:ext cx="503309" cy="479715"/>
          </a:xfrm>
          <a:prstGeom prst="bentArrow">
            <a:avLst>
              <a:gd fmla="val 25000" name="adj1"/>
              <a:gd fmla="val 25000" name="adj2"/>
              <a:gd fmla="val 25000" name="adj3"/>
              <a:gd fmla="val 43750" name="adj4"/>
            </a:avLst>
          </a:prstGeom>
          <a:solidFill>
            <a:srgbClr val="00BFFF"/>
          </a:solidFill>
          <a:ln cap="flat" cmpd="sng" w="9525">
            <a:solidFill>
              <a:srgbClr val="0321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56" name="Google Shape;256;p14"/>
          <p:cNvCxnSpPr>
            <a:endCxn id="253" idx="0"/>
          </p:cNvCxnSpPr>
          <p:nvPr/>
        </p:nvCxnSpPr>
        <p:spPr>
          <a:xfrm>
            <a:off x="1547925" y="3316211"/>
            <a:ext cx="3300" cy="400800"/>
          </a:xfrm>
          <a:prstGeom prst="straightConnector1">
            <a:avLst/>
          </a:prstGeom>
          <a:noFill/>
          <a:ln cap="flat" cmpd="sng" w="28575">
            <a:solidFill>
              <a:srgbClr val="FF7800"/>
            </a:solidFill>
            <a:prstDash val="solid"/>
            <a:round/>
            <a:headEnd len="med" w="med" type="stealth"/>
            <a:tailEnd len="med" w="med" type="stealth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2" name="Google Shape;262;p15" title="11_W1D4_S12_Square_aa10a43caba6-1_ra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7350" y="152400"/>
            <a:ext cx="6553200" cy="655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6"/>
          <p:cNvSpPr/>
          <p:nvPr/>
        </p:nvSpPr>
        <p:spPr>
          <a:xfrm>
            <a:off x="571500" y="586160"/>
            <a:ext cx="9064800" cy="4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37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Summary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6"/>
          <p:cNvSpPr/>
          <p:nvPr/>
        </p:nvSpPr>
        <p:spPr>
          <a:xfrm>
            <a:off x="571500" y="1401817"/>
            <a:ext cx="5281800" cy="5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6"/>
          <p:cNvSpPr/>
          <p:nvPr/>
        </p:nvSpPr>
        <p:spPr>
          <a:xfrm>
            <a:off x="678150" y="1890543"/>
            <a:ext cx="6072900" cy="6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rPr>
              <a:t>Agentic AI involves building a harness around LLMs, crafting the inputs and interpreting the outputs, in a loop, so that they can ‘</a:t>
            </a:r>
            <a:r>
              <a:rPr b="1" lang="en-US" sz="1800">
                <a:solidFill>
                  <a:srgbClr val="FFD700"/>
                </a:solidFill>
                <a:latin typeface="Roboto Slab"/>
                <a:ea typeface="Roboto Slab"/>
                <a:cs typeface="Roboto Slab"/>
                <a:sym typeface="Roboto Slab"/>
              </a:rPr>
              <a:t>use tools</a:t>
            </a:r>
            <a:r>
              <a:rPr lang="en-US" sz="1800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rPr>
              <a:t>’ and ‘</a:t>
            </a:r>
            <a:r>
              <a:rPr b="1" lang="en-US" sz="1800">
                <a:solidFill>
                  <a:srgbClr val="FFD700"/>
                </a:solidFill>
                <a:latin typeface="Roboto Slab"/>
                <a:ea typeface="Roboto Slab"/>
                <a:cs typeface="Roboto Slab"/>
                <a:sym typeface="Roboto Slab"/>
              </a:rPr>
              <a:t>be autonomous</a:t>
            </a:r>
            <a:r>
              <a:rPr lang="en-US" sz="1800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rPr>
              <a:t>’</a:t>
            </a:r>
            <a:endParaRPr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6"/>
          <p:cNvSpPr/>
          <p:nvPr/>
        </p:nvSpPr>
        <p:spPr>
          <a:xfrm>
            <a:off x="678150" y="3368351"/>
            <a:ext cx="6369900" cy="7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7800"/>
                </a:solidFill>
                <a:latin typeface="Roboto Slab"/>
                <a:ea typeface="Roboto Slab"/>
                <a:cs typeface="Roboto Slab"/>
                <a:sym typeface="Roboto Slab"/>
              </a:rPr>
              <a:t>Agent Frameworks</a:t>
            </a:r>
            <a:r>
              <a:rPr lang="en-US" sz="1800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rPr>
              <a:t> are </a:t>
            </a:r>
            <a:r>
              <a:rPr b="1" lang="en-US" sz="1800">
                <a:solidFill>
                  <a:srgbClr val="FF7800"/>
                </a:solidFill>
                <a:latin typeface="Roboto Slab"/>
                <a:ea typeface="Roboto Slab"/>
                <a:cs typeface="Roboto Slab"/>
                <a:sym typeface="Roboto Slab"/>
              </a:rPr>
              <a:t>helper code</a:t>
            </a:r>
            <a:r>
              <a:rPr lang="en-US" sz="1800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rPr>
              <a:t> that make it faster to implement these techniques, but they’re not required</a:t>
            </a:r>
            <a:endParaRPr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6"/>
          <p:cNvSpPr/>
          <p:nvPr/>
        </p:nvSpPr>
        <p:spPr>
          <a:xfrm>
            <a:off x="678150" y="4428373"/>
            <a:ext cx="5320200" cy="6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rPr>
              <a:t>By the end of this course, you will be able to deliver significant commercial value by building </a:t>
            </a:r>
            <a:r>
              <a:rPr b="1" lang="en-US" sz="1800">
                <a:solidFill>
                  <a:srgbClr val="00BFFF"/>
                </a:solidFill>
                <a:latin typeface="Roboto Slab"/>
                <a:ea typeface="Roboto Slab"/>
                <a:cs typeface="Roboto Slab"/>
                <a:sym typeface="Roboto Slab"/>
              </a:rPr>
              <a:t>autonomous AI Agents</a:t>
            </a:r>
            <a:endParaRPr b="1" i="0" sz="1800" u="none" cap="none" strike="noStrike">
              <a:solidFill>
                <a:srgbClr val="00B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7"/>
          <p:cNvSpPr/>
          <p:nvPr/>
        </p:nvSpPr>
        <p:spPr>
          <a:xfrm>
            <a:off x="257169" y="5695950"/>
            <a:ext cx="5936936" cy="1011762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17"/>
          <p:cNvSpPr/>
          <p:nvPr/>
        </p:nvSpPr>
        <p:spPr>
          <a:xfrm>
            <a:off x="257169" y="2466975"/>
            <a:ext cx="5936936" cy="101176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17"/>
          <p:cNvSpPr/>
          <p:nvPr/>
        </p:nvSpPr>
        <p:spPr>
          <a:xfrm>
            <a:off x="257169" y="4619625"/>
            <a:ext cx="5936936" cy="1011762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17"/>
          <p:cNvSpPr/>
          <p:nvPr/>
        </p:nvSpPr>
        <p:spPr>
          <a:xfrm>
            <a:off x="257169" y="3543300"/>
            <a:ext cx="5936936" cy="1011762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17"/>
          <p:cNvSpPr/>
          <p:nvPr/>
        </p:nvSpPr>
        <p:spPr>
          <a:xfrm>
            <a:off x="257169" y="314325"/>
            <a:ext cx="5936936" cy="101176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17"/>
          <p:cNvSpPr/>
          <p:nvPr/>
        </p:nvSpPr>
        <p:spPr>
          <a:xfrm>
            <a:off x="361950" y="5753695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1: Foundations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7"/>
          <p:cNvSpPr/>
          <p:nvPr/>
        </p:nvSpPr>
        <p:spPr>
          <a:xfrm>
            <a:off x="361950" y="2524720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4: LangGraph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7"/>
          <p:cNvSpPr/>
          <p:nvPr/>
        </p:nvSpPr>
        <p:spPr>
          <a:xfrm>
            <a:off x="361950" y="4677370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2: OpenAI Agents SDK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7"/>
          <p:cNvSpPr/>
          <p:nvPr/>
        </p:nvSpPr>
        <p:spPr>
          <a:xfrm>
            <a:off x="361950" y="3601045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3: CrewAI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7"/>
          <p:cNvSpPr/>
          <p:nvPr/>
        </p:nvSpPr>
        <p:spPr>
          <a:xfrm>
            <a:off x="361950" y="372070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6: MCP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7"/>
          <p:cNvSpPr/>
          <p:nvPr/>
        </p:nvSpPr>
        <p:spPr>
          <a:xfrm>
            <a:off x="447669" y="6010276"/>
            <a:ext cx="1002980" cy="610229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17"/>
          <p:cNvSpPr/>
          <p:nvPr/>
        </p:nvSpPr>
        <p:spPr>
          <a:xfrm>
            <a:off x="447675" y="608411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Make an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Agentic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Workflow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7"/>
          <p:cNvSpPr/>
          <p:nvPr/>
        </p:nvSpPr>
        <p:spPr>
          <a:xfrm>
            <a:off x="447669" y="2781300"/>
            <a:ext cx="1002980" cy="610230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17"/>
          <p:cNvSpPr/>
          <p:nvPr/>
        </p:nvSpPr>
        <p:spPr>
          <a:xfrm>
            <a:off x="447675" y="285513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Understand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LangGraph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concepts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7"/>
          <p:cNvSpPr/>
          <p:nvPr/>
        </p:nvSpPr>
        <p:spPr>
          <a:xfrm>
            <a:off x="447669" y="4933950"/>
            <a:ext cx="1002980" cy="610229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17"/>
          <p:cNvSpPr/>
          <p:nvPr/>
        </p:nvSpPr>
        <p:spPr>
          <a:xfrm>
            <a:off x="447675" y="500778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Understand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OpenAI Agents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SDK concepts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7"/>
          <p:cNvSpPr/>
          <p:nvPr/>
        </p:nvSpPr>
        <p:spPr>
          <a:xfrm>
            <a:off x="447669" y="3857625"/>
            <a:ext cx="1002980" cy="610230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17"/>
          <p:cNvSpPr/>
          <p:nvPr/>
        </p:nvSpPr>
        <p:spPr>
          <a:xfrm>
            <a:off x="447675" y="393146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Understand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Crew AI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Concepts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7"/>
          <p:cNvSpPr/>
          <p:nvPr/>
        </p:nvSpPr>
        <p:spPr>
          <a:xfrm>
            <a:off x="447669" y="628650"/>
            <a:ext cx="1002980" cy="610230"/>
          </a:xfrm>
          <a:prstGeom prst="rect">
            <a:avLst/>
          </a:prstGeom>
          <a:noFill/>
          <a:ln cap="flat" cmpd="sng" w="25400">
            <a:solidFill>
              <a:srgbClr val="FF78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17"/>
          <p:cNvSpPr/>
          <p:nvPr/>
        </p:nvSpPr>
        <p:spPr>
          <a:xfrm>
            <a:off x="447675" y="70248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Agentic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Architecture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and MCP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7"/>
          <p:cNvSpPr/>
          <p:nvPr/>
        </p:nvSpPr>
        <p:spPr>
          <a:xfrm>
            <a:off x="1562103" y="6010276"/>
            <a:ext cx="1002980" cy="610229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17"/>
          <p:cNvSpPr/>
          <p:nvPr/>
        </p:nvSpPr>
        <p:spPr>
          <a:xfrm>
            <a:off x="1562100" y="608411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Agents and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Agentic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Patterns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7"/>
          <p:cNvSpPr/>
          <p:nvPr/>
        </p:nvSpPr>
        <p:spPr>
          <a:xfrm>
            <a:off x="1562103" y="2781300"/>
            <a:ext cx="1002980" cy="610230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17"/>
          <p:cNvSpPr/>
          <p:nvPr/>
        </p:nvSpPr>
        <p:spPr>
          <a:xfrm>
            <a:off x="1562100" y="285513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Build a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LangGraph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 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7"/>
          <p:cNvSpPr/>
          <p:nvPr/>
        </p:nvSpPr>
        <p:spPr>
          <a:xfrm>
            <a:off x="1562103" y="4933950"/>
            <a:ext cx="1002980" cy="610229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17"/>
          <p:cNvSpPr/>
          <p:nvPr/>
        </p:nvSpPr>
        <p:spPr>
          <a:xfrm>
            <a:off x="1562100" y="50839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2: an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SDR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7"/>
          <p:cNvSpPr/>
          <p:nvPr/>
        </p:nvSpPr>
        <p:spPr>
          <a:xfrm>
            <a:off x="1562103" y="3857625"/>
            <a:ext cx="1002980" cy="610230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17"/>
          <p:cNvSpPr/>
          <p:nvPr/>
        </p:nvSpPr>
        <p:spPr>
          <a:xfrm>
            <a:off x="1562100" y="4007661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Build a Crew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7"/>
          <p:cNvSpPr/>
          <p:nvPr/>
        </p:nvSpPr>
        <p:spPr>
          <a:xfrm>
            <a:off x="1562103" y="628650"/>
            <a:ext cx="1002980" cy="610230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17"/>
          <p:cNvSpPr/>
          <p:nvPr/>
        </p:nvSpPr>
        <p:spPr>
          <a:xfrm>
            <a:off x="1562100" y="70248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Building an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MCP Server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and Client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7"/>
          <p:cNvSpPr/>
          <p:nvPr/>
        </p:nvSpPr>
        <p:spPr>
          <a:xfrm>
            <a:off x="2676522" y="6010276"/>
            <a:ext cx="1002980" cy="610229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17"/>
          <p:cNvSpPr/>
          <p:nvPr/>
        </p:nvSpPr>
        <p:spPr>
          <a:xfrm>
            <a:off x="2676525" y="6160311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Orchestrating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LLMs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7"/>
          <p:cNvSpPr/>
          <p:nvPr/>
        </p:nvSpPr>
        <p:spPr>
          <a:xfrm>
            <a:off x="2676522" y="2781300"/>
            <a:ext cx="1002980" cy="610230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17"/>
          <p:cNvSpPr/>
          <p:nvPr/>
        </p:nvSpPr>
        <p:spPr>
          <a:xfrm>
            <a:off x="2676525" y="293133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Tools, memory,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web searches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7"/>
          <p:cNvSpPr/>
          <p:nvPr/>
        </p:nvSpPr>
        <p:spPr>
          <a:xfrm>
            <a:off x="2676522" y="4933950"/>
            <a:ext cx="1002980" cy="610229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17"/>
          <p:cNvSpPr/>
          <p:nvPr/>
        </p:nvSpPr>
        <p:spPr>
          <a:xfrm>
            <a:off x="2676525" y="50839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Tools vs Agents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Guardrails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7"/>
          <p:cNvSpPr/>
          <p:nvPr/>
        </p:nvSpPr>
        <p:spPr>
          <a:xfrm>
            <a:off x="2676522" y="3857625"/>
            <a:ext cx="1002980" cy="610230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17"/>
          <p:cNvSpPr/>
          <p:nvPr/>
        </p:nvSpPr>
        <p:spPr>
          <a:xfrm>
            <a:off x="2676525" y="4007661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4: Stock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Picker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7"/>
          <p:cNvSpPr/>
          <p:nvPr/>
        </p:nvSpPr>
        <p:spPr>
          <a:xfrm>
            <a:off x="2676522" y="628650"/>
            <a:ext cx="1002980" cy="610230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17"/>
          <p:cNvSpPr/>
          <p:nvPr/>
        </p:nvSpPr>
        <p:spPr>
          <a:xfrm>
            <a:off x="2676525" y="70248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Multiple Local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and Remote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MCP servers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7"/>
          <p:cNvSpPr/>
          <p:nvPr/>
        </p:nvSpPr>
        <p:spPr>
          <a:xfrm>
            <a:off x="3819522" y="6010276"/>
            <a:ext cx="1002980" cy="610229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17"/>
          <p:cNvSpPr/>
          <p:nvPr/>
        </p:nvSpPr>
        <p:spPr>
          <a:xfrm>
            <a:off x="3819525" y="6160311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Autonomy and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Tools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7"/>
          <p:cNvSpPr/>
          <p:nvPr/>
        </p:nvSpPr>
        <p:spPr>
          <a:xfrm>
            <a:off x="3819522" y="2781300"/>
            <a:ext cx="1002980" cy="610230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17"/>
          <p:cNvSpPr/>
          <p:nvPr/>
        </p:nvSpPr>
        <p:spPr>
          <a:xfrm>
            <a:off x="3819525" y="293133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6: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Sidekick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7"/>
          <p:cNvSpPr/>
          <p:nvPr/>
        </p:nvSpPr>
        <p:spPr>
          <a:xfrm>
            <a:off x="3819522" y="4933950"/>
            <a:ext cx="1002980" cy="610229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17"/>
          <p:cNvSpPr/>
          <p:nvPr/>
        </p:nvSpPr>
        <p:spPr>
          <a:xfrm>
            <a:off x="3819525" y="50839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3: Deep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Research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7"/>
          <p:cNvSpPr/>
          <p:nvPr/>
        </p:nvSpPr>
        <p:spPr>
          <a:xfrm>
            <a:off x="3819522" y="3857625"/>
            <a:ext cx="1002980" cy="610230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17"/>
          <p:cNvSpPr/>
          <p:nvPr/>
        </p:nvSpPr>
        <p:spPr>
          <a:xfrm>
            <a:off x="3819525" y="393146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5: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Developer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7"/>
          <p:cNvSpPr/>
          <p:nvPr/>
        </p:nvSpPr>
        <p:spPr>
          <a:xfrm>
            <a:off x="3819522" y="628650"/>
            <a:ext cx="1002980" cy="610230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17"/>
          <p:cNvSpPr/>
          <p:nvPr/>
        </p:nvSpPr>
        <p:spPr>
          <a:xfrm>
            <a:off x="3819525" y="7786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8: AI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Equity Traders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7"/>
          <p:cNvSpPr/>
          <p:nvPr/>
        </p:nvSpPr>
        <p:spPr>
          <a:xfrm>
            <a:off x="4953000" y="6010276"/>
            <a:ext cx="1002980" cy="610229"/>
          </a:xfrm>
          <a:prstGeom prst="rect">
            <a:avLst/>
          </a:prstGeom>
          <a:solidFill>
            <a:srgbClr val="FFD700">
              <a:alpha val="34902"/>
            </a:srgbClr>
          </a:solidFill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17"/>
          <p:cNvSpPr/>
          <p:nvPr/>
        </p:nvSpPr>
        <p:spPr>
          <a:xfrm>
            <a:off x="4953000" y="608411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1: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Your personal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career agent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7"/>
          <p:cNvSpPr/>
          <p:nvPr/>
        </p:nvSpPr>
        <p:spPr>
          <a:xfrm>
            <a:off x="4953000" y="2781300"/>
            <a:ext cx="1002980" cy="610230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17"/>
          <p:cNvSpPr/>
          <p:nvPr/>
        </p:nvSpPr>
        <p:spPr>
          <a:xfrm>
            <a:off x="4953000" y="285513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6: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Sidekick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improvements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7"/>
          <p:cNvSpPr/>
          <p:nvPr/>
        </p:nvSpPr>
        <p:spPr>
          <a:xfrm>
            <a:off x="4953000" y="4933950"/>
            <a:ext cx="1002980" cy="610229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17"/>
          <p:cNvSpPr/>
          <p:nvPr/>
        </p:nvSpPr>
        <p:spPr>
          <a:xfrm>
            <a:off x="4953000" y="50839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3: Deep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Research app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7"/>
          <p:cNvSpPr/>
          <p:nvPr/>
        </p:nvSpPr>
        <p:spPr>
          <a:xfrm>
            <a:off x="4953000" y="3857625"/>
            <a:ext cx="1002980" cy="610230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17"/>
          <p:cNvSpPr/>
          <p:nvPr/>
        </p:nvSpPr>
        <p:spPr>
          <a:xfrm>
            <a:off x="4953000" y="393146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5: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Engineering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Team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7"/>
          <p:cNvSpPr/>
          <p:nvPr/>
        </p:nvSpPr>
        <p:spPr>
          <a:xfrm>
            <a:off x="4953000" y="628650"/>
            <a:ext cx="1002980" cy="610230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17"/>
          <p:cNvSpPr/>
          <p:nvPr/>
        </p:nvSpPr>
        <p:spPr>
          <a:xfrm>
            <a:off x="4953000" y="70248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8: AI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Equity Traders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 Action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38" name="Google Shape;338;p17"/>
          <p:cNvGrpSpPr/>
          <p:nvPr/>
        </p:nvGrpSpPr>
        <p:grpSpPr>
          <a:xfrm>
            <a:off x="257175" y="1390650"/>
            <a:ext cx="5937000" cy="1011900"/>
            <a:chOff x="257175" y="1390650"/>
            <a:chExt cx="5937000" cy="1011900"/>
          </a:xfrm>
        </p:grpSpPr>
        <p:sp>
          <p:nvSpPr>
            <p:cNvPr id="339" name="Google Shape;339;p17"/>
            <p:cNvSpPr/>
            <p:nvPr/>
          </p:nvSpPr>
          <p:spPr>
            <a:xfrm>
              <a:off x="257175" y="1390650"/>
              <a:ext cx="5937000" cy="1011900"/>
            </a:xfrm>
            <a:prstGeom prst="rect">
              <a:avLst/>
            </a:pr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" name="Google Shape;340;p17"/>
            <p:cNvSpPr/>
            <p:nvPr/>
          </p:nvSpPr>
          <p:spPr>
            <a:xfrm>
              <a:off x="361950" y="1448395"/>
              <a:ext cx="2048100" cy="176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215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975" u="none" cap="none" strike="noStrike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Week 5: </a:t>
              </a:r>
              <a:r>
                <a:rPr lang="en-US" sz="975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Agent Frameworks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1" name="Google Shape;341;p17"/>
            <p:cNvSpPr/>
            <p:nvPr/>
          </p:nvSpPr>
          <p:spPr>
            <a:xfrm>
              <a:off x="447675" y="1704975"/>
              <a:ext cx="1002900" cy="610200"/>
            </a:xfrm>
            <a:prstGeom prst="rect">
              <a:avLst/>
            </a:prstGeom>
            <a:noFill/>
            <a:ln cap="flat" cmpd="sng" w="25400">
              <a:solidFill>
                <a:srgbClr val="00B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" name="Google Shape;342;p17"/>
            <p:cNvSpPr/>
            <p:nvPr/>
          </p:nvSpPr>
          <p:spPr>
            <a:xfrm>
              <a:off x="447675" y="1778811"/>
              <a:ext cx="1002900" cy="44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>
                  <a:solidFill>
                    <a:srgbClr val="FFFFFF"/>
                  </a:solidFill>
                </a:rPr>
                <a:t>Google ADK and A2A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3" name="Google Shape;343;p17"/>
            <p:cNvSpPr/>
            <p:nvPr/>
          </p:nvSpPr>
          <p:spPr>
            <a:xfrm>
              <a:off x="1562099" y="1704975"/>
              <a:ext cx="1002900" cy="610200"/>
            </a:xfrm>
            <a:prstGeom prst="rect">
              <a:avLst/>
            </a:prstGeom>
            <a:noFill/>
            <a:ln cap="flat" cmpd="sng" w="25400">
              <a:solidFill>
                <a:srgbClr val="00B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" name="Google Shape;344;p17"/>
            <p:cNvSpPr/>
            <p:nvPr/>
          </p:nvSpPr>
          <p:spPr>
            <a:xfrm>
              <a:off x="1562100" y="1778811"/>
              <a:ext cx="1002900" cy="44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>
                  <a:solidFill>
                    <a:srgbClr val="FFFFFF"/>
                  </a:solidFill>
                </a:rPr>
                <a:t>AWS Strands Agents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5" name="Google Shape;345;p17"/>
            <p:cNvSpPr/>
            <p:nvPr/>
          </p:nvSpPr>
          <p:spPr>
            <a:xfrm>
              <a:off x="2676526" y="1704975"/>
              <a:ext cx="1002900" cy="610200"/>
            </a:xfrm>
            <a:prstGeom prst="rect">
              <a:avLst/>
            </a:prstGeom>
            <a:noFill/>
            <a:ln cap="flat" cmpd="sng" w="25400">
              <a:solidFill>
                <a:srgbClr val="00B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" name="Google Shape;346;p17"/>
            <p:cNvSpPr/>
            <p:nvPr/>
          </p:nvSpPr>
          <p:spPr>
            <a:xfrm>
              <a:off x="2676525" y="1855011"/>
              <a:ext cx="1002900" cy="30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>
                  <a:solidFill>
                    <a:srgbClr val="FFFFFF"/>
                  </a:solidFill>
                </a:rPr>
                <a:t>Other Python Frameworks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7" name="Google Shape;347;p17"/>
            <p:cNvSpPr/>
            <p:nvPr/>
          </p:nvSpPr>
          <p:spPr>
            <a:xfrm>
              <a:off x="3819526" y="1704975"/>
              <a:ext cx="1002900" cy="610200"/>
            </a:xfrm>
            <a:prstGeom prst="rect">
              <a:avLst/>
            </a:prstGeom>
            <a:noFill/>
            <a:ln cap="flat" cmpd="sng" w="25400">
              <a:solidFill>
                <a:srgbClr val="00B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" name="Google Shape;348;p17"/>
            <p:cNvSpPr/>
            <p:nvPr/>
          </p:nvSpPr>
          <p:spPr>
            <a:xfrm>
              <a:off x="3819525" y="1855011"/>
              <a:ext cx="1002900" cy="30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>
                  <a:solidFill>
                    <a:srgbClr val="FFFFFF"/>
                  </a:solidFill>
                </a:rPr>
                <a:t>JS/TS Frameworks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9" name="Google Shape;349;p17"/>
            <p:cNvSpPr/>
            <p:nvPr/>
          </p:nvSpPr>
          <p:spPr>
            <a:xfrm>
              <a:off x="4953000" y="1704975"/>
              <a:ext cx="1002900" cy="610200"/>
            </a:xfrm>
            <a:prstGeom prst="rect">
              <a:avLst/>
            </a:prstGeom>
            <a:noFill/>
            <a:ln cap="flat" cmpd="sng" w="25400">
              <a:solidFill>
                <a:srgbClr val="FFD7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" name="Google Shape;350;p17"/>
            <p:cNvSpPr/>
            <p:nvPr/>
          </p:nvSpPr>
          <p:spPr>
            <a:xfrm>
              <a:off x="4953000" y="1778811"/>
              <a:ext cx="1002900" cy="44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125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Project 7:</a:t>
              </a:r>
              <a:br>
                <a:rPr b="0" i="0" lang="en-US" sz="1125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0" i="0" lang="en-US" sz="1125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Agent</a:t>
              </a:r>
              <a:br>
                <a:rPr b="0" i="0" lang="en-US" sz="1125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lang="en-US" sz="1125">
                  <a:solidFill>
                    <a:srgbClr val="FFFFFF"/>
                  </a:solidFill>
                </a:rPr>
                <a:t>Loop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18"/>
          <p:cNvSpPr/>
          <p:nvPr/>
        </p:nvSpPr>
        <p:spPr>
          <a:xfrm>
            <a:off x="4572000" y="0"/>
            <a:ext cx="2609700" cy="6858000"/>
          </a:xfrm>
          <a:prstGeom prst="rect">
            <a:avLst/>
          </a:prstGeom>
          <a:solidFill>
            <a:srgbClr val="FF7800">
              <a:alpha val="34900"/>
            </a:srgb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57" name="Google Shape;357;p18"/>
          <p:cNvSpPr txBox="1"/>
          <p:nvPr/>
        </p:nvSpPr>
        <p:spPr>
          <a:xfrm>
            <a:off x="4725775" y="258325"/>
            <a:ext cx="2363100" cy="59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AI Engineer Agentic Track</a:t>
            </a:r>
            <a:endParaRPr b="1" sz="24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sz="21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1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The Complete</a:t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1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Agent &amp; MCP</a:t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1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Course</a:t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sz="21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i="1"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65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13%</a:t>
            </a:r>
            <a:endParaRPr sz="65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0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Complete</a:t>
            </a:r>
            <a:endParaRPr sz="20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pic>
        <p:nvPicPr>
          <p:cNvPr id="358" name="Google Shape;35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4572001" cy="68580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11A9E2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11A9E2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