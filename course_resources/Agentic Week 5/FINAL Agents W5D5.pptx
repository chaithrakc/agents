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embeddedFontLst>
    <p:embeddedFont>
      <p:font typeface="Roboto Slab"/>
      <p:regular r:id="rId15"/>
      <p:bold r:id="rId16"/>
    </p:embeddedFon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6DE213-93E2-48A6-A0A8-20F54B464A37}">
  <a:tblStyle styleId="{936DE213-93E2-48A6-A0A8-20F54B464A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SemiBold-regular.fntdata"/><Relationship Id="rId16" Type="http://schemas.openxmlformats.org/officeDocument/2006/relationships/font" Target="fonts/RobotoSlab-bold.fntdata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w5d5_slide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w5d5_slide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w5d5_slide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w5d5_slide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w5d5_slide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w5d5_slide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w5d5_proj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w5d5_proj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w5d5_proj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w5d5_arch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w5d5_arch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w5d5_arch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w5d5_slide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w5d5_slide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w5d5_slide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5_in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Mastra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5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{936DE213-93E2-48A6-A0A8-20F54B464A37}</a:tableStyleId>
              </a:tblPr>
              <a:tblGrid>
                <a:gridCol w="1463050"/>
                <a:gridCol w="1463050"/>
                <a:gridCol w="1463050"/>
                <a:gridCol w="1463050"/>
              </a:tblGrid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B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Framework</a:t>
                      </a:r>
                      <a:endParaRPr b="1" sz="1200">
                        <a:solidFill>
                          <a:srgbClr val="00B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B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Create</a:t>
                      </a:r>
                      <a:endParaRPr b="1" sz="1200">
                        <a:solidFill>
                          <a:srgbClr val="00B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B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Add a tool</a:t>
                      </a:r>
                      <a:endParaRPr b="1" sz="1200">
                        <a:solidFill>
                          <a:srgbClr val="00B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B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Run</a:t>
                      </a:r>
                      <a:endParaRPr b="1" sz="1200">
                        <a:solidFill>
                          <a:srgbClr val="00B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Google ADK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LlmAgent(...)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plain fn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run_async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AWS Strands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@tool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invoke_async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Pydantic AI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plain fn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agent.run()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MS Agent Framework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plain fn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agent.run()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Agno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plain fn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agent.arun()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Mastra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new Agent({...})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createTool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agent.generate()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Six frameworks, one shape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Know one, know them all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What actually differs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small print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963168" y="1957959"/>
            <a:ext cx="36600" cy="3429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6"/>
          <p:cNvGrpSpPr/>
          <p:nvPr/>
        </p:nvGrpSpPr>
        <p:grpSpPr>
          <a:xfrm>
            <a:off x="890016" y="1714500"/>
            <a:ext cx="5510664" cy="617100"/>
            <a:chOff x="890016" y="1714500"/>
            <a:chExt cx="5510664" cy="617100"/>
          </a:xfrm>
        </p:grpSpPr>
        <p:sp>
          <p:nvSpPr>
            <p:cNvPr id="114" name="Google Shape;114;p6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Default model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ADK runs on Gemini, the other five on OpenAI gpt-5.4-mini in our labs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890016" y="187223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890016" y="2571750"/>
            <a:ext cx="5510664" cy="617100"/>
            <a:chOff x="890016" y="2571750"/>
            <a:chExt cx="5510664" cy="617100"/>
          </a:xfrm>
        </p:grpSpPr>
        <p:sp>
          <p:nvSpPr>
            <p:cNvPr id="117" name="Google Shape;117;p6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Dev runtime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adk web, Mastra Studio and Agno AgentOS each give a live trace UI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890016" y="272948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6"/>
          <p:cNvGrpSpPr/>
          <p:nvPr/>
        </p:nvGrpSpPr>
        <p:grpSpPr>
          <a:xfrm>
            <a:off x="890016" y="3429000"/>
            <a:ext cx="5510664" cy="617100"/>
            <a:chOff x="890016" y="3429000"/>
            <a:chExt cx="5510664" cy="617100"/>
          </a:xfrm>
        </p:grpSpPr>
        <p:sp>
          <p:nvSpPr>
            <p:cNvPr id="120" name="Google Shape;120;p6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Typed output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all six return validated results, cleanest in Pydantic AI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890016" y="358673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" name="Google Shape;122;p6"/>
          <p:cNvGrpSpPr/>
          <p:nvPr/>
        </p:nvGrpSpPr>
        <p:grpSpPr>
          <a:xfrm>
            <a:off x="890016" y="4286250"/>
            <a:ext cx="5510664" cy="617100"/>
            <a:chOff x="890016" y="4286250"/>
            <a:chExt cx="5510664" cy="617100"/>
          </a:xfrm>
        </p:grpSpPr>
        <p:sp>
          <p:nvSpPr>
            <p:cNvPr id="123" name="Google Shape;123;p6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Language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five are Python, Mastra is TypeScript on Node, same idioms either way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890016" y="444398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6"/>
          <p:cNvGrpSpPr/>
          <p:nvPr/>
        </p:nvGrpSpPr>
        <p:grpSpPr>
          <a:xfrm>
            <a:off x="890016" y="5143500"/>
            <a:ext cx="5510664" cy="617100"/>
            <a:chOff x="890016" y="5143500"/>
            <a:chExt cx="5510664" cy="617100"/>
          </a:xfrm>
        </p:grpSpPr>
        <p:sp>
          <p:nvSpPr>
            <p:cNvPr id="126" name="Google Shape;126;p6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Orchestration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ADK and MAF ship workflow graphs, the lighter ones leave it to you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890016" y="530123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Project 7: the Agent Loop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Five frameworks build it, one agent runs the show</a:t>
            </a:r>
            <a:endParaRPr sz="1800">
              <a:solidFill>
                <a:srgbClr val="FFD7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5" name="Google Shape;135;p7"/>
          <p:cNvGrpSpPr/>
          <p:nvPr/>
        </p:nvGrpSpPr>
        <p:grpSpPr>
          <a:xfrm>
            <a:off x="896112" y="4457700"/>
            <a:ext cx="5504568" cy="617100"/>
            <a:chOff x="896112" y="4457700"/>
            <a:chExt cx="5504568" cy="617100"/>
          </a:xfrm>
        </p:grpSpPr>
        <p:sp>
          <p:nvSpPr>
            <p:cNvPr id="136" name="Google Shape;136;p7"/>
            <p:cNvSpPr txBox="1"/>
            <p:nvPr/>
          </p:nvSpPr>
          <p:spPr>
            <a:xfrm>
              <a:off x="1402080" y="44577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 outer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orchestrator judges each game in a real browser and sends one fix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7" name="Google Shape;137;p7" title="loop_g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45270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7"/>
          <p:cNvGrpSpPr/>
          <p:nvPr/>
        </p:nvGrpSpPr>
        <p:grpSpPr>
          <a:xfrm>
            <a:off x="896112" y="3326130"/>
            <a:ext cx="5504568" cy="617100"/>
            <a:chOff x="896112" y="3326130"/>
            <a:chExt cx="5504568" cy="617100"/>
          </a:xfrm>
        </p:grpSpPr>
        <p:sp>
          <p:nvSpPr>
            <p:cNvPr id="139" name="Google Shape;139;p7"/>
            <p:cNvSpPr txBox="1"/>
            <p:nvPr/>
          </p:nvSpPr>
          <p:spPr>
            <a:xfrm>
              <a:off x="1402080" y="33261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Five builders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each builds a mini-game in parallel, all writing to one shared board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0" name="Google Shape;140;p7" title="team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3954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7"/>
          <p:cNvGrpSpPr/>
          <p:nvPr/>
        </p:nvGrpSpPr>
        <p:grpSpPr>
          <a:xfrm>
            <a:off x="896112" y="2194560"/>
            <a:ext cx="5504568" cy="617100"/>
            <a:chOff x="896112" y="2194560"/>
            <a:chExt cx="5504568" cy="617100"/>
          </a:xfrm>
        </p:grpSpPr>
        <p:sp>
          <p:nvSpPr>
            <p:cNvPr id="142" name="Google Shape;142;p7"/>
            <p:cNvSpPr txBox="1"/>
            <p:nvPr/>
          </p:nvSpPr>
          <p:spPr>
            <a:xfrm>
              <a:off x="1402080" y="21945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brief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name a language, the team builds a playable arcade that teaches it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3" name="Google Shape;143;p7" title="target_g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226390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How it fits together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Nested loops: outer Agent loop runs the inner agent loops</a:t>
            </a:r>
            <a:endParaRPr sz="1800">
              <a:solidFill>
                <a:srgbClr val="FFD7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962912" y="1714500"/>
            <a:ext cx="2682300" cy="548700"/>
          </a:xfrm>
          <a:prstGeom prst="roundRect">
            <a:avLst>
              <a:gd fmla="val 16667" name="adj"/>
            </a:avLst>
          </a:prstGeom>
          <a:solidFill>
            <a:srgbClr val="FFD700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Roboto Slab"/>
                <a:ea typeface="Roboto Slab"/>
                <a:cs typeface="Roboto Slab"/>
                <a:sym typeface="Roboto Slab"/>
              </a:rPr>
              <a:t>ADK orchestrator</a:t>
            </a:r>
            <a:endParaRPr b="1"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Roboto Slab"/>
                <a:ea typeface="Roboto Slab"/>
                <a:cs typeface="Roboto Slab"/>
                <a:sym typeface="Roboto Slab"/>
              </a:rPr>
              <a:t>decides, launches, judges, repairs</a:t>
            </a:r>
            <a:endParaRPr sz="950"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52" name="Google Shape;152;p8"/>
          <p:cNvGrpSpPr/>
          <p:nvPr/>
        </p:nvGrpSpPr>
        <p:grpSpPr>
          <a:xfrm>
            <a:off x="573024" y="2811780"/>
            <a:ext cx="5462124" cy="617100"/>
            <a:chOff x="573024" y="2811780"/>
            <a:chExt cx="5462124" cy="617100"/>
          </a:xfrm>
        </p:grpSpPr>
        <p:sp>
          <p:nvSpPr>
            <p:cNvPr id="153" name="Google Shape;153;p8"/>
            <p:cNvSpPr/>
            <p:nvPr/>
          </p:nvSpPr>
          <p:spPr>
            <a:xfrm>
              <a:off x="573024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Strands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1706880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Pydantic AI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2840736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MAF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3974592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Agno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5108448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Mastra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sp>
        <p:nvSpPr>
          <p:cNvPr id="158" name="Google Shape;158;p8"/>
          <p:cNvSpPr/>
          <p:nvPr/>
        </p:nvSpPr>
        <p:spPr>
          <a:xfrm>
            <a:off x="1962912" y="4800600"/>
            <a:ext cx="2682300" cy="548700"/>
          </a:xfrm>
          <a:prstGeom prst="roundRect">
            <a:avLst>
              <a:gd fmla="val 16667" name="adj"/>
            </a:avLst>
          </a:prstGeom>
          <a:solidFill>
            <a:srgbClr val="00BFFF">
              <a:alpha val="34900"/>
            </a:srgbClr>
          </a:solidFill>
          <a:ln cap="flat" cmpd="sng" w="1905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Browser QA agent</a:t>
            </a:r>
            <a:endParaRPr b="1" sz="1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plays each game in real Chrome via Playwright</a:t>
            </a:r>
            <a:endParaRPr sz="9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3535680" y="4354830"/>
            <a:ext cx="2438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opens each game to judge</a:t>
            </a:r>
            <a:endParaRPr sz="10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573024" y="576072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Agent Architecture was driven by outcomes…</a:t>
            </a:r>
            <a:endParaRPr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61" name="Google Shape;161;p8"/>
          <p:cNvGrpSpPr/>
          <p:nvPr/>
        </p:nvGrpSpPr>
        <p:grpSpPr>
          <a:xfrm>
            <a:off x="1029970" y="2223337"/>
            <a:ext cx="4944170" cy="588533"/>
            <a:chOff x="1029970" y="2223337"/>
            <a:chExt cx="4944170" cy="588533"/>
          </a:xfrm>
        </p:grpSpPr>
        <p:sp>
          <p:nvSpPr>
            <p:cNvPr id="162" name="Google Shape;162;p8"/>
            <p:cNvSpPr txBox="1"/>
            <p:nvPr/>
          </p:nvSpPr>
          <p:spPr>
            <a:xfrm>
              <a:off x="3596640" y="2223337"/>
              <a:ext cx="23775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launches in parallel</a:t>
              </a:r>
              <a:endParaRPr sz="1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163" name="Google Shape;163;p8"/>
            <p:cNvGrpSpPr/>
            <p:nvPr/>
          </p:nvGrpSpPr>
          <p:grpSpPr>
            <a:xfrm>
              <a:off x="1029970" y="2263140"/>
              <a:ext cx="4541750" cy="548730"/>
              <a:chOff x="1029970" y="2263140"/>
              <a:chExt cx="4541750" cy="548730"/>
            </a:xfrm>
          </p:grpSpPr>
          <p:cxnSp>
            <p:nvCxnSpPr>
              <p:cNvPr id="164" name="Google Shape;164;p8"/>
              <p:cNvCxnSpPr/>
              <p:nvPr/>
            </p:nvCxnSpPr>
            <p:spPr>
              <a:xfrm>
                <a:off x="3297682" y="2263140"/>
                <a:ext cx="12600" cy="240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8"/>
              <p:cNvCxnSpPr/>
              <p:nvPr/>
            </p:nvCxnSpPr>
            <p:spPr>
              <a:xfrm>
                <a:off x="1036320" y="2496820"/>
                <a:ext cx="4535400" cy="12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8"/>
              <p:cNvCxnSpPr/>
              <p:nvPr/>
            </p:nvCxnSpPr>
            <p:spPr>
              <a:xfrm>
                <a:off x="1029970" y="2503170"/>
                <a:ext cx="12600" cy="308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7" name="Google Shape;167;p8"/>
              <p:cNvCxnSpPr/>
              <p:nvPr/>
            </p:nvCxnSpPr>
            <p:spPr>
              <a:xfrm>
                <a:off x="2163826" y="2503170"/>
                <a:ext cx="12600" cy="308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8" name="Google Shape;168;p8"/>
              <p:cNvCxnSpPr/>
              <p:nvPr/>
            </p:nvCxnSpPr>
            <p:spPr>
              <a:xfrm>
                <a:off x="3297682" y="2503170"/>
                <a:ext cx="12600" cy="308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9" name="Google Shape;169;p8"/>
              <p:cNvCxnSpPr/>
              <p:nvPr/>
            </p:nvCxnSpPr>
            <p:spPr>
              <a:xfrm>
                <a:off x="4431538" y="2503170"/>
                <a:ext cx="12600" cy="308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cxnSp>
        <p:nvCxnSpPr>
          <p:cNvPr id="170" name="Google Shape;170;p8"/>
          <p:cNvCxnSpPr/>
          <p:nvPr/>
        </p:nvCxnSpPr>
        <p:spPr>
          <a:xfrm>
            <a:off x="5565394" y="2503170"/>
            <a:ext cx="12600" cy="308700"/>
          </a:xfrm>
          <a:prstGeom prst="straightConnector1">
            <a:avLst/>
          </a:prstGeom>
          <a:noFill/>
          <a:ln cap="flat" cmpd="sng" w="19050">
            <a:solidFill>
              <a:srgbClr val="FFD7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1" name="Google Shape;171;p8"/>
          <p:cNvGrpSpPr/>
          <p:nvPr/>
        </p:nvGrpSpPr>
        <p:grpSpPr>
          <a:xfrm>
            <a:off x="573024" y="3429000"/>
            <a:ext cx="5462100" cy="754500"/>
            <a:chOff x="573024" y="3429000"/>
            <a:chExt cx="5462100" cy="754500"/>
          </a:xfrm>
        </p:grpSpPr>
        <p:sp>
          <p:nvSpPr>
            <p:cNvPr id="172" name="Google Shape;172;p8"/>
            <p:cNvSpPr/>
            <p:nvPr/>
          </p:nvSpPr>
          <p:spPr>
            <a:xfrm>
              <a:off x="573024" y="3771900"/>
              <a:ext cx="5462100" cy="4116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19050">
              <a:solidFill>
                <a:srgbClr val="FFD7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Shared SQLite board</a:t>
              </a:r>
              <a:endParaRPr b="1"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one file, six processes, the only coordination channel</a:t>
              </a:r>
              <a:endParaRPr sz="9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1121664" y="3525012"/>
              <a:ext cx="10974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write</a:t>
              </a:r>
              <a:endParaRPr sz="10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cxnSp>
          <p:nvCxnSpPr>
            <p:cNvPr id="174" name="Google Shape;174;p8"/>
            <p:cNvCxnSpPr/>
            <p:nvPr/>
          </p:nvCxnSpPr>
          <p:spPr>
            <a:xfrm>
              <a:off x="1029970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2163826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3297682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431538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5565394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79" name="Google Shape;179;p8"/>
          <p:cNvCxnSpPr/>
          <p:nvPr/>
        </p:nvCxnSpPr>
        <p:spPr>
          <a:xfrm>
            <a:off x="3297682" y="4183380"/>
            <a:ext cx="12600" cy="617100"/>
          </a:xfrm>
          <a:prstGeom prst="straightConnector1">
            <a:avLst/>
          </a:prstGeom>
          <a:noFill/>
          <a:ln cap="flat" cmpd="sng" w="22225">
            <a:solidFill>
              <a:srgbClr val="FFD7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0" name="Google Shape;180;p8"/>
          <p:cNvGrpSpPr/>
          <p:nvPr/>
        </p:nvGrpSpPr>
        <p:grpSpPr>
          <a:xfrm>
            <a:off x="237490" y="1982470"/>
            <a:ext cx="1725350" cy="3098700"/>
            <a:chOff x="237490" y="1982470"/>
            <a:chExt cx="1725350" cy="3098700"/>
          </a:xfrm>
        </p:grpSpPr>
        <p:sp>
          <p:nvSpPr>
            <p:cNvPr id="181" name="Google Shape;181;p8"/>
            <p:cNvSpPr txBox="1"/>
            <p:nvPr/>
          </p:nvSpPr>
          <p:spPr>
            <a:xfrm>
              <a:off x="341376" y="2084832"/>
              <a:ext cx="15240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outer loop</a:t>
              </a:r>
              <a:endParaRPr sz="1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cxnSp>
          <p:nvCxnSpPr>
            <p:cNvPr id="182" name="Google Shape;182;p8"/>
            <p:cNvCxnSpPr/>
            <p:nvPr/>
          </p:nvCxnSpPr>
          <p:spPr>
            <a:xfrm>
              <a:off x="243840" y="5068570"/>
              <a:ext cx="1719000" cy="12600"/>
            </a:xfrm>
            <a:prstGeom prst="straightConnector1">
              <a:avLst/>
            </a:prstGeom>
            <a:noFill/>
            <a:ln cap="flat" cmpd="sng" w="22225">
              <a:solidFill>
                <a:srgbClr val="FFD7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8"/>
            <p:cNvCxnSpPr/>
            <p:nvPr/>
          </p:nvCxnSpPr>
          <p:spPr>
            <a:xfrm>
              <a:off x="237490" y="1988820"/>
              <a:ext cx="12600" cy="3086100"/>
            </a:xfrm>
            <a:prstGeom prst="straightConnector1">
              <a:avLst/>
            </a:prstGeom>
            <a:noFill/>
            <a:ln cap="flat" cmpd="sng" w="22225">
              <a:solidFill>
                <a:srgbClr val="FFD7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8"/>
            <p:cNvCxnSpPr/>
            <p:nvPr/>
          </p:nvCxnSpPr>
          <p:spPr>
            <a:xfrm>
              <a:off x="243840" y="1982470"/>
              <a:ext cx="1719000" cy="12600"/>
            </a:xfrm>
            <a:prstGeom prst="straightConnector1">
              <a:avLst/>
            </a:prstGeom>
            <a:noFill/>
            <a:ln cap="flat" cmpd="sng" w="22225">
              <a:solidFill>
                <a:srgbClr val="FFD7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5" name="Google Shape;185;p8"/>
          <p:cNvSpPr txBox="1"/>
          <p:nvPr/>
        </p:nvSpPr>
        <p:spPr>
          <a:xfrm>
            <a:off x="573024" y="6241438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No need for A2A to communicate between our own Agents</a:t>
            </a:r>
            <a:endParaRPr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Make it your own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Your end-of-week challenge</a:t>
            </a:r>
            <a:endParaRPr sz="1800">
              <a:solidFill>
                <a:srgbClr val="FFD7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3" name="Google Shape;193;p9"/>
          <p:cNvGrpSpPr/>
          <p:nvPr/>
        </p:nvGrpSpPr>
        <p:grpSpPr>
          <a:xfrm>
            <a:off x="896112" y="1851660"/>
            <a:ext cx="5504568" cy="617100"/>
            <a:chOff x="896112" y="1851660"/>
            <a:chExt cx="5504568" cy="617100"/>
          </a:xfrm>
        </p:grpSpPr>
        <p:sp>
          <p:nvSpPr>
            <p:cNvPr id="194" name="Google Shape;194;p9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Reuse the team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keep the ADK orchestrator and the five framework workers on the shared board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5" name="Google Shape;195;p9" title="team_g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92100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9"/>
          <p:cNvGrpSpPr/>
          <p:nvPr/>
        </p:nvGrpSpPr>
        <p:grpSpPr>
          <a:xfrm>
            <a:off x="896112" y="2846070"/>
            <a:ext cx="5504568" cy="617100"/>
            <a:chOff x="896112" y="2846070"/>
            <a:chExt cx="5504568" cy="617100"/>
          </a:xfrm>
        </p:grpSpPr>
        <p:sp>
          <p:nvSpPr>
            <p:cNvPr id="197" name="Google Shape;197;p9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Pick a domain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swap the language-tutor site for a new useful output you care about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8" name="Google Shape;198;p9" title="target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9154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9"/>
          <p:cNvGrpSpPr/>
          <p:nvPr/>
        </p:nvGrpSpPr>
        <p:grpSpPr>
          <a:xfrm>
            <a:off x="896112" y="3840480"/>
            <a:ext cx="5504568" cy="617100"/>
            <a:chOff x="896112" y="3840480"/>
            <a:chExt cx="5504568" cy="617100"/>
          </a:xfrm>
        </p:grpSpPr>
        <p:sp>
          <p:nvSpPr>
            <p:cNvPr id="200" name="Google Shape;200;p9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Specialise each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give every framework-agent a distinct role and a piece to build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1" name="Google Shape;201;p9" title="puzzle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90982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9"/>
          <p:cNvGrpSpPr/>
          <p:nvPr/>
        </p:nvGrpSpPr>
        <p:grpSpPr>
          <a:xfrm>
            <a:off x="896112" y="4834890"/>
            <a:ext cx="5504568" cy="617100"/>
            <a:chOff x="896112" y="4834890"/>
            <a:chExt cx="5504568" cy="617100"/>
          </a:xfrm>
        </p:grpSpPr>
        <p:sp>
          <p:nvSpPr>
            <p:cNvPr id="203" name="Google Shape;203;p9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in parallel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seed tasks on the SQLite board and watch the workers build at once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4" name="Google Shape;204;p9" title="parallel_g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90423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9"/>
          <p:cNvSpPr txBox="1"/>
          <p:nvPr/>
        </p:nvSpPr>
        <p:spPr>
          <a:xfrm>
            <a:off x="896100" y="5889813"/>
            <a:ext cx="5448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…And give a broader, measurable objective and have the Orchestrator keep looping until achieved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63" name="Google Shape;263;p10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67" name="Google Shape;267;p10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69" name="Google Shape;269;p10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" name="Google Shape;271;p10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72" name="Google Shape;272;p10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Mastra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solidFill>
              <a:srgbClr val="FFD700"/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/>
                <a:t>Loop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91" name="Google Shape;291;p11" title="w5d5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