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MontserratSemiBold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1week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1week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s1week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2agen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2agen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s2agen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3steps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3steps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s3steps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s4time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s4time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s4time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s5fea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s5fea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s5fea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s7a2a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s7a2a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s7a2a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1_intr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Strands and Pydantic AI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week ahead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Know one, know them all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1402080" y="1577340"/>
            <a:ext cx="4998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big idea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The framework rarely matters; learn one and you know them all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42704" y="2468880"/>
            <a:ext cx="36000" cy="26061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5"/>
          <p:cNvGrpSpPr/>
          <p:nvPr/>
        </p:nvGrpSpPr>
        <p:grpSpPr>
          <a:xfrm>
            <a:off x="975654" y="2228850"/>
            <a:ext cx="5425026" cy="617100"/>
            <a:chOff x="975654" y="2228850"/>
            <a:chExt cx="5425026" cy="617100"/>
          </a:xfrm>
        </p:grpSpPr>
        <p:sp>
          <p:nvSpPr>
            <p:cNvPr id="107" name="Google Shape;107;p5"/>
            <p:cNvSpPr txBox="1"/>
            <p:nvPr/>
          </p:nvSpPr>
          <p:spPr>
            <a:xfrm>
              <a:off x="1402080" y="22288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1: Google ADK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deepest dive, in Python on Gemini, with a short A2A sidebar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975654" y="238383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5"/>
          <p:cNvGrpSpPr/>
          <p:nvPr/>
        </p:nvGrpSpPr>
        <p:grpSpPr>
          <a:xfrm>
            <a:off x="975654" y="2880360"/>
            <a:ext cx="5425026" cy="617100"/>
            <a:chOff x="975654" y="2880360"/>
            <a:chExt cx="5425026" cy="617100"/>
          </a:xfrm>
        </p:grpSpPr>
        <p:sp>
          <p:nvSpPr>
            <p:cNvPr id="110" name="Google Shape;110;p5"/>
            <p:cNvSpPr txBox="1"/>
            <p:nvPr/>
          </p:nvSpPr>
          <p:spPr>
            <a:xfrm>
              <a:off x="1402080" y="28803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2: Strands and Pydantic AI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five steps in each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975654" y="303534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5"/>
          <p:cNvGrpSpPr/>
          <p:nvPr/>
        </p:nvGrpSpPr>
        <p:grpSpPr>
          <a:xfrm>
            <a:off x="975654" y="3531870"/>
            <a:ext cx="5425026" cy="617100"/>
            <a:chOff x="975654" y="3531870"/>
            <a:chExt cx="5425026" cy="617100"/>
          </a:xfrm>
        </p:grpSpPr>
        <p:sp>
          <p:nvSpPr>
            <p:cNvPr id="113" name="Google Shape;113;p5"/>
            <p:cNvSpPr txBox="1"/>
            <p:nvPr/>
          </p:nvSpPr>
          <p:spPr>
            <a:xfrm>
              <a:off x="1402080" y="35318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3: MS Agent Framework and Agno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Two more in Python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975654" y="368685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975654" y="4183380"/>
            <a:ext cx="5425026" cy="617100"/>
            <a:chOff x="975654" y="4183380"/>
            <a:chExt cx="5425026" cy="617100"/>
          </a:xfrm>
        </p:grpSpPr>
        <p:sp>
          <p:nvSpPr>
            <p:cNvPr id="116" name="Google Shape;116;p5"/>
            <p:cNvSpPr txBox="1"/>
            <p:nvPr/>
          </p:nvSpPr>
          <p:spPr>
            <a:xfrm>
              <a:off x="1402080" y="41833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4: Mastra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agent, now in TypeScript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75654" y="433836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5"/>
          <p:cNvGrpSpPr/>
          <p:nvPr/>
        </p:nvGrpSpPr>
        <p:grpSpPr>
          <a:xfrm>
            <a:off x="975654" y="4834890"/>
            <a:ext cx="5425026" cy="617100"/>
            <a:chOff x="975654" y="4834890"/>
            <a:chExt cx="5425026" cy="617100"/>
          </a:xfrm>
        </p:grpSpPr>
        <p:sp>
          <p:nvSpPr>
            <p:cNvPr id="119" name="Google Shape;119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Day 5: Project 7, 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Five agents build one language-tutor site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975654" y="4989870"/>
              <a:ext cx="170100" cy="1701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What is an agent?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7800"/>
                </a:solidFill>
                <a:latin typeface="Montserrat"/>
                <a:ea typeface="Montserrat"/>
                <a:cs typeface="Montserrat"/>
                <a:sym typeface="Montserrat"/>
              </a:rPr>
              <a:t>A reminder from Week 1</a:t>
            </a:r>
            <a:endParaRPr sz="1800">
              <a:solidFill>
                <a:srgbClr val="FF78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8" name="Google Shape;128;p6"/>
          <p:cNvGrpSpPr/>
          <p:nvPr/>
        </p:nvGrpSpPr>
        <p:grpSpPr>
          <a:xfrm>
            <a:off x="896112" y="1817370"/>
            <a:ext cx="5504568" cy="617100"/>
            <a:chOff x="896112" y="1817370"/>
            <a:chExt cx="5504568" cy="617100"/>
          </a:xfrm>
        </p:grpSpPr>
        <p:sp>
          <p:nvSpPr>
            <p:cNvPr id="129" name="Google Shape;129;p6"/>
            <p:cNvSpPr txBox="1"/>
            <p:nvPr/>
          </p:nvSpPr>
          <p:spPr>
            <a:xfrm>
              <a:off x="1402080" y="18173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definition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An LLM, in a loop, with tools, to achieve a goal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0" name="Google Shape;130;p6" title="w5_def_o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8867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6"/>
          <p:cNvGrpSpPr/>
          <p:nvPr/>
        </p:nvGrpSpPr>
        <p:grpSpPr>
          <a:xfrm>
            <a:off x="896112" y="2606040"/>
            <a:ext cx="5504568" cy="617100"/>
            <a:chOff x="896112" y="2606040"/>
            <a:chExt cx="5504568" cy="617100"/>
          </a:xfrm>
        </p:grpSpPr>
        <p:sp>
          <p:nvSpPr>
            <p:cNvPr id="132" name="Google Shape;132;p6"/>
            <p:cNvSpPr txBox="1"/>
            <p:nvPr/>
          </p:nvSpPr>
          <p:spPr>
            <a:xfrm>
              <a:off x="1402080" y="260604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 LLM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brain that does the reasoning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3" name="Google Shape;133;p6" title="w5_brain_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7538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6"/>
          <p:cNvGrpSpPr/>
          <p:nvPr/>
        </p:nvGrpSpPr>
        <p:grpSpPr>
          <a:xfrm>
            <a:off x="896112" y="4183380"/>
            <a:ext cx="5504568" cy="617100"/>
            <a:chOff x="896112" y="4183380"/>
            <a:chExt cx="5504568" cy="617100"/>
          </a:xfrm>
        </p:grpSpPr>
        <p:sp>
          <p:nvSpPr>
            <p:cNvPr id="135" name="Google Shape;135;p6"/>
            <p:cNvSpPr txBox="1"/>
            <p:nvPr/>
          </p:nvSpPr>
          <p:spPr>
            <a:xfrm>
              <a:off x="1402080" y="41833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It runs tools to act on the world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6" name="Google Shape;136;p6" title="w5_wrench_o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2527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6"/>
          <p:cNvGrpSpPr/>
          <p:nvPr/>
        </p:nvGrpSpPr>
        <p:grpSpPr>
          <a:xfrm>
            <a:off x="896112" y="4972050"/>
            <a:ext cx="5504568" cy="617100"/>
            <a:chOff x="896112" y="4972050"/>
            <a:chExt cx="5504568" cy="617100"/>
          </a:xfrm>
        </p:grpSpPr>
        <p:sp>
          <p:nvSpPr>
            <p:cNvPr id="138" name="Google Shape;138;p6"/>
            <p:cNvSpPr txBox="1"/>
            <p:nvPr/>
          </p:nvSpPr>
          <p:spPr>
            <a:xfrm>
              <a:off x="1402080" y="49720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 achieve a goal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An objective it drives toward until the job is done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9" name="Google Shape;139;p6" title="w5_goal_o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0413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6"/>
          <p:cNvGrpSpPr/>
          <p:nvPr/>
        </p:nvGrpSpPr>
        <p:grpSpPr>
          <a:xfrm>
            <a:off x="896112" y="3394710"/>
            <a:ext cx="5504568" cy="617100"/>
            <a:chOff x="896112" y="3394710"/>
            <a:chExt cx="5504568" cy="617100"/>
          </a:xfrm>
        </p:grpSpPr>
        <p:sp>
          <p:nvSpPr>
            <p:cNvPr id="141" name="Google Shape;141;p6"/>
            <p:cNvSpPr txBox="1"/>
            <p:nvPr/>
          </p:nvSpPr>
          <p:spPr>
            <a:xfrm>
              <a:off x="1402080" y="339471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 a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It keeps going, step after step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2" name="Google Shape;142;p6" title="w5_loop_o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34640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five steps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same path through every framework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0" name="Google Shape;150;p7"/>
          <p:cNvGrpSpPr/>
          <p:nvPr/>
        </p:nvGrpSpPr>
        <p:grpSpPr>
          <a:xfrm>
            <a:off x="896112" y="2606050"/>
            <a:ext cx="6263562" cy="617100"/>
            <a:chOff x="896112" y="2606050"/>
            <a:chExt cx="6263562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74" y="2606050"/>
              <a:ext cx="5757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2. Run 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Send a message, get a reply, still a plain LLM call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2" name="Google Shape;152;p7" title="w5_play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267538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7"/>
          <p:cNvGrpSpPr/>
          <p:nvPr/>
        </p:nvGrpSpPr>
        <p:grpSpPr>
          <a:xfrm>
            <a:off x="896112" y="3394700"/>
            <a:ext cx="6213762" cy="617100"/>
            <a:chOff x="896112" y="3394700"/>
            <a:chExt cx="6213762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74" y="3394700"/>
              <a:ext cx="5707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3. Add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Plain typed functions the agent can call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5" name="Google Shape;155;p7" title="w5_wrench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4640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7"/>
          <p:cNvGrpSpPr/>
          <p:nvPr/>
        </p:nvGrpSpPr>
        <p:grpSpPr>
          <a:xfrm>
            <a:off x="896112" y="4183375"/>
            <a:ext cx="6120762" cy="617100"/>
            <a:chOff x="896112" y="4183375"/>
            <a:chExt cx="6120762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74" y="4183375"/>
              <a:ext cx="5614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4. Add 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Plug in a tool server someone else wrote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8" name="Google Shape;158;p7" title="w5_plug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2527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7"/>
          <p:cNvGrpSpPr/>
          <p:nvPr/>
        </p:nvGrpSpPr>
        <p:grpSpPr>
          <a:xfrm>
            <a:off x="896112" y="4972050"/>
            <a:ext cx="5504568" cy="617100"/>
            <a:chOff x="896112" y="4972050"/>
            <a:chExt cx="5504568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49720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5. Loop with a goal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Hand it a goal and let the framework run until done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61" name="Google Shape;161;p7" title="w5_loop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0413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7"/>
          <p:cNvGrpSpPr/>
          <p:nvPr/>
        </p:nvGrpSpPr>
        <p:grpSpPr>
          <a:xfrm>
            <a:off x="896112" y="1817375"/>
            <a:ext cx="6213762" cy="617100"/>
            <a:chOff x="896112" y="1817375"/>
            <a:chExt cx="6213762" cy="617100"/>
          </a:xfrm>
        </p:grpSpPr>
        <p:sp>
          <p:nvSpPr>
            <p:cNvPr id="163" name="Google Shape;163;p7"/>
            <p:cNvSpPr txBox="1"/>
            <p:nvPr/>
          </p:nvSpPr>
          <p:spPr>
            <a:xfrm>
              <a:off x="1402074" y="1817375"/>
              <a:ext cx="5707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1. Create the agent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Give it a model and a system prompt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64" name="Google Shape;164;p7" title="w5_create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18867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Google ADK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 fast-moving, code-first toolkit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57360" y="1748790"/>
            <a:ext cx="36000" cy="37719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8"/>
          <p:cNvGrpSpPr/>
          <p:nvPr/>
        </p:nvGrpSpPr>
        <p:grpSpPr>
          <a:xfrm>
            <a:off x="890360" y="1508760"/>
            <a:ext cx="5668876" cy="548700"/>
            <a:chOff x="890360" y="1508760"/>
            <a:chExt cx="5668876" cy="548700"/>
          </a:xfrm>
        </p:grpSpPr>
        <p:sp>
          <p:nvSpPr>
            <p:cNvPr id="174" name="Google Shape;174;p8"/>
            <p:cNvSpPr/>
            <p:nvPr/>
          </p:nvSpPr>
          <p:spPr>
            <a:xfrm>
              <a:off x="890360" y="166379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1316736" y="150876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Apr 2025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Open-sourced at Cloud Next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360" y="2263140"/>
            <a:ext cx="5668876" cy="548700"/>
            <a:chOff x="890360" y="2263140"/>
            <a:chExt cx="5668876" cy="548700"/>
          </a:xfrm>
        </p:grpSpPr>
        <p:sp>
          <p:nvSpPr>
            <p:cNvPr id="177" name="Google Shape;177;p8"/>
            <p:cNvSpPr/>
            <p:nvPr/>
          </p:nvSpPr>
          <p:spPr>
            <a:xfrm>
              <a:off x="890360" y="241817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1316736" y="226314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May 2025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Python 1.0.0, Java joins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360" y="3017520"/>
            <a:ext cx="5668876" cy="548700"/>
            <a:chOff x="890360" y="3017520"/>
            <a:chExt cx="5668876" cy="548700"/>
          </a:xfrm>
        </p:grpSpPr>
        <p:sp>
          <p:nvSpPr>
            <p:cNvPr id="180" name="Google Shape;180;p8"/>
            <p:cNvSpPr/>
            <p:nvPr/>
          </p:nvSpPr>
          <p:spPr>
            <a:xfrm>
              <a:off x="890360" y="317255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1316736" y="301752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Dec 2025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TypeScript SDK arrives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2" name="Google Shape;182;p8"/>
          <p:cNvGrpSpPr/>
          <p:nvPr/>
        </p:nvGrpSpPr>
        <p:grpSpPr>
          <a:xfrm>
            <a:off x="890360" y="3771900"/>
            <a:ext cx="5668876" cy="548700"/>
            <a:chOff x="890360" y="3771900"/>
            <a:chExt cx="5668876" cy="548700"/>
          </a:xfrm>
        </p:grpSpPr>
        <p:sp>
          <p:nvSpPr>
            <p:cNvPr id="183" name="Google Shape;183;p8"/>
            <p:cNvSpPr/>
            <p:nvPr/>
          </p:nvSpPr>
          <p:spPr>
            <a:xfrm>
              <a:off x="890360" y="392693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1316736" y="377190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May 2026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2.0.0 graph Workflow Runtime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890360" y="4526280"/>
            <a:ext cx="5668876" cy="548700"/>
            <a:chOff x="890360" y="4526280"/>
            <a:chExt cx="5668876" cy="548700"/>
          </a:xfrm>
        </p:grpSpPr>
        <p:sp>
          <p:nvSpPr>
            <p:cNvPr id="186" name="Google Shape;186;p8"/>
            <p:cNvSpPr/>
            <p:nvPr/>
          </p:nvSpPr>
          <p:spPr>
            <a:xfrm>
              <a:off x="890360" y="468131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1316736" y="452628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Jun 2026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2.2.0 leads the 2.x line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8" name="Google Shape;188;p8"/>
          <p:cNvGrpSpPr/>
          <p:nvPr/>
        </p:nvGrpSpPr>
        <p:grpSpPr>
          <a:xfrm>
            <a:off x="890360" y="5280660"/>
            <a:ext cx="5668876" cy="548700"/>
            <a:chOff x="890360" y="5280660"/>
            <a:chExt cx="5668876" cy="548700"/>
          </a:xfrm>
        </p:grpSpPr>
        <p:sp>
          <p:nvSpPr>
            <p:cNvPr id="189" name="Google Shape;189;p8"/>
            <p:cNvSpPr/>
            <p:nvPr/>
          </p:nvSpPr>
          <p:spPr>
            <a:xfrm>
              <a:off x="890360" y="5435690"/>
              <a:ext cx="170100" cy="1701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1316736" y="5280660"/>
              <a:ext cx="52425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Today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1.x still patched alongside 2.x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ADK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8" name="Google Shape;198;p9"/>
          <p:cNvGrpSpPr/>
          <p:nvPr/>
        </p:nvGrpSpPr>
        <p:grpSpPr>
          <a:xfrm>
            <a:off x="896112" y="1697444"/>
            <a:ext cx="5504568" cy="617100"/>
            <a:chOff x="896112" y="1697444"/>
            <a:chExt cx="5504568" cy="617100"/>
          </a:xfrm>
        </p:grpSpPr>
        <p:sp>
          <p:nvSpPr>
            <p:cNvPr id="199" name="Google Shape;199;p9"/>
            <p:cNvSpPr txBox="1"/>
            <p:nvPr/>
          </p:nvSpPr>
          <p:spPr>
            <a:xfrm>
              <a:off x="1402080" y="1697444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Code-first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Agents and tools 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 plain Python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0" name="Google Shape;200;p9" title="w5_code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66786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9"/>
          <p:cNvGrpSpPr/>
          <p:nvPr/>
        </p:nvGrpSpPr>
        <p:grpSpPr>
          <a:xfrm>
            <a:off x="896112" y="2983230"/>
            <a:ext cx="5504568" cy="617100"/>
            <a:chOff x="896112" y="2983230"/>
            <a:chExt cx="5504568" cy="617100"/>
          </a:xfrm>
        </p:grpSpPr>
        <p:sp>
          <p:nvSpPr>
            <p:cNvPr id="202" name="Google Shape;202;p9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adk web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local playground that renders the full trace live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3" name="Google Shape;203;p9" title="w5_browser_g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0525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9"/>
          <p:cNvGrpSpPr/>
          <p:nvPr/>
        </p:nvGrpSpPr>
        <p:grpSpPr>
          <a:xfrm>
            <a:off x="896112" y="3669030"/>
            <a:ext cx="5504568" cy="617100"/>
            <a:chOff x="896112" y="3669030"/>
            <a:chExt cx="5504568" cy="617100"/>
          </a:xfrm>
        </p:grpSpPr>
        <p:sp>
          <p:nvSpPr>
            <p:cNvPr id="205" name="Google Shape;205;p9"/>
            <p:cNvSpPr txBox="1"/>
            <p:nvPr/>
          </p:nvSpPr>
          <p:spPr>
            <a:xfrm>
              <a:off x="1402080" y="36690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 and A2A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Both first-class, MCP for tools, A2A between agents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6" name="Google Shape;206;p9" title="w5_plug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7383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9"/>
          <p:cNvGrpSpPr/>
          <p:nvPr/>
        </p:nvGrpSpPr>
        <p:grpSpPr>
          <a:xfrm>
            <a:off x="896112" y="4354830"/>
            <a:ext cx="5504568" cy="617100"/>
            <a:chOff x="896112" y="4354830"/>
            <a:chExt cx="5504568" cy="617100"/>
          </a:xfrm>
        </p:grpSpPr>
        <p:sp>
          <p:nvSpPr>
            <p:cNvPr id="208" name="Google Shape;208;p9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Model-flexible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Gemini natively, any OpenAI model via LiteLLM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9" name="Google Shape;209;p9" title="w5_chip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4241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" name="Google Shape;210;p9"/>
          <p:cNvGrpSpPr/>
          <p:nvPr/>
        </p:nvGrpSpPr>
        <p:grpSpPr>
          <a:xfrm>
            <a:off x="896112" y="5040630"/>
            <a:ext cx="5504568" cy="617100"/>
            <a:chOff x="896112" y="5040630"/>
            <a:chExt cx="5504568" cy="617100"/>
          </a:xfrm>
        </p:grpSpPr>
        <p:sp>
          <p:nvSpPr>
            <p:cNvPr id="211" name="Google Shape;211;p9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trade-off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heavier stack and more plumbing than lighter frameworks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12" name="Google Shape;212;p9" title="w5_balance_o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1099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" name="Google Shape;213;p9"/>
          <p:cNvGrpSpPr/>
          <p:nvPr/>
        </p:nvGrpSpPr>
        <p:grpSpPr>
          <a:xfrm>
            <a:off x="896112" y="2297430"/>
            <a:ext cx="5504568" cy="617100"/>
            <a:chOff x="896112" y="2297430"/>
            <a:chExt cx="5504568" cy="617100"/>
          </a:xfrm>
        </p:grpSpPr>
        <p:sp>
          <p:nvSpPr>
            <p:cNvPr id="214" name="Google Shape;214;p9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typed function is a tool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Type hints and a docstring are enough, no decorator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15" name="Google Shape;215;p9" title="w5_wrench_b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96112" y="23667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A2A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Agent-to-agent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3" name="Google Shape;223;p10"/>
          <p:cNvGrpSpPr/>
          <p:nvPr/>
        </p:nvGrpSpPr>
        <p:grpSpPr>
          <a:xfrm>
            <a:off x="896112" y="1817370"/>
            <a:ext cx="5504568" cy="617100"/>
            <a:chOff x="896112" y="1817370"/>
            <a:chExt cx="5504568" cy="617100"/>
          </a:xfrm>
        </p:grpSpPr>
        <p:sp>
          <p:nvSpPr>
            <p:cNvPr id="224" name="Google Shape;224;p10"/>
            <p:cNvSpPr txBox="1"/>
            <p:nvPr/>
          </p:nvSpPr>
          <p:spPr>
            <a:xfrm>
              <a:off x="1402080" y="18173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standard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Linux Foundation way for agents to find and call each other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5" name="Google Shape;225;p10" title="w5_cert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8867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10"/>
          <p:cNvGrpSpPr/>
          <p:nvPr/>
        </p:nvGrpSpPr>
        <p:grpSpPr>
          <a:xfrm>
            <a:off x="896112" y="3394710"/>
            <a:ext cx="5504568" cy="617100"/>
            <a:chOff x="896112" y="3394710"/>
            <a:chExt cx="5504568" cy="617100"/>
          </a:xfrm>
        </p:grpSpPr>
        <p:sp>
          <p:nvSpPr>
            <p:cNvPr id="227" name="Google Shape;227;p10"/>
            <p:cNvSpPr txBox="1"/>
            <p:nvPr/>
          </p:nvSpPr>
          <p:spPr>
            <a:xfrm>
              <a:off x="1402080" y="339471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card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Served at a well-known URL so a client learns who an agent is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8" name="Google Shape;228;p10" title="w5_idcard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4640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" name="Google Shape;229;p10"/>
          <p:cNvGrpSpPr/>
          <p:nvPr/>
        </p:nvGrpSpPr>
        <p:grpSpPr>
          <a:xfrm>
            <a:off x="896112" y="4183380"/>
            <a:ext cx="5504568" cy="617100"/>
            <a:chOff x="896112" y="4183380"/>
            <a:chExt cx="5504568" cy="617100"/>
          </a:xfrm>
        </p:grpSpPr>
        <p:sp>
          <p:nvSpPr>
            <p:cNvPr id="230" name="Google Shape;230;p10"/>
            <p:cNvSpPr txBox="1"/>
            <p:nvPr/>
          </p:nvSpPr>
          <p:spPr>
            <a:xfrm>
              <a:off x="1402080" y="41833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Adoption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spec is real and clean, 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uptake is not there yet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31" name="Google Shape;231;p10" title="w5_growth_o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42527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10"/>
          <p:cNvGrpSpPr/>
          <p:nvPr/>
        </p:nvGrpSpPr>
        <p:grpSpPr>
          <a:xfrm>
            <a:off x="896112" y="4972050"/>
            <a:ext cx="5504568" cy="617100"/>
            <a:chOff x="896112" y="4972050"/>
            <a:chExt cx="5504568" cy="617100"/>
          </a:xfrm>
        </p:grpSpPr>
        <p:sp>
          <p:nvSpPr>
            <p:cNvPr id="233" name="Google Shape;233;p10"/>
            <p:cNvSpPr txBox="1"/>
            <p:nvPr/>
          </p:nvSpPr>
          <p:spPr>
            <a:xfrm>
              <a:off x="1402080" y="49720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MCP overlap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positioned as a complement to MCP, but you can use MCP to call Agents too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34" name="Google Shape;234;p10" title="w5_plug_o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50413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" name="Google Shape;235;p10"/>
          <p:cNvGrpSpPr/>
          <p:nvPr/>
        </p:nvGrpSpPr>
        <p:grpSpPr>
          <a:xfrm>
            <a:off x="896112" y="2606040"/>
            <a:ext cx="5504568" cy="617100"/>
            <a:chOff x="896112" y="2606040"/>
            <a:chExt cx="5504568" cy="617100"/>
          </a:xfrm>
        </p:grpSpPr>
        <p:sp>
          <p:nvSpPr>
            <p:cNvPr id="236" name="Google Shape;236;p10"/>
            <p:cNvSpPr txBox="1"/>
            <p:nvPr/>
          </p:nvSpPr>
          <p:spPr>
            <a:xfrm>
              <a:off x="1402080" y="260604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Two calls in ADK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to_a2a exposes an agent, RemoteA2aAgent consumes 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37" name="Google Shape;237;p10" title="w5_terminal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267538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95" name="Google Shape;295;p11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99" name="Google Shape;299;p11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301" name="Google Shape;301;p11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1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04" name="Google Shape;304;p11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Strands and Pydantic AI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23" name="Google Shape;323;p12" title="w5d1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